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76" r:id="rId2"/>
    <p:sldId id="340" r:id="rId3"/>
    <p:sldId id="360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68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90" r:id="rId30"/>
    <p:sldId id="386" r:id="rId31"/>
    <p:sldId id="391" r:id="rId32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FF66"/>
    <a:srgbClr val="6699FF"/>
    <a:srgbClr val="D60093"/>
    <a:srgbClr val="EAB85E"/>
    <a:srgbClr val="352973"/>
    <a:srgbClr val="006699"/>
    <a:srgbClr val="808080"/>
    <a:srgbClr val="9182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15" autoAdjust="0"/>
    <p:restoredTop sz="96357" autoAdjust="0"/>
  </p:normalViewPr>
  <p:slideViewPr>
    <p:cSldViewPr>
      <p:cViewPr varScale="1">
        <p:scale>
          <a:sx n="82" d="100"/>
          <a:sy n="82" d="100"/>
        </p:scale>
        <p:origin x="78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1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8F54F192-248C-4A58-B9DD-6D4854AD626C}" type="datetimeFigureOut">
              <a:rPr lang="zh-CN" altLang="en-US" smtClean="0"/>
              <a:pPr/>
              <a:t>2017/12/12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8AED747-2EF4-49D3-A1F0-4B6CD604324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6345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zh-CN" alt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endParaRPr lang="en-US" altLang="zh-CN"/>
          </a:p>
        </p:txBody>
      </p:sp>
      <p:sp>
        <p:nvSpPr>
          <p:cNvPr id="142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42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2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en-US" altLang="zh-CN"/>
          </a:p>
        </p:txBody>
      </p:sp>
      <p:sp>
        <p:nvSpPr>
          <p:cNvPr id="142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fld id="{C0BAB51E-542F-4309-B8DF-41BB7F180D0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3567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AB51E-542F-4309-B8DF-41BB7F180D00}" type="slidenum">
              <a:rPr lang="zh-CN" altLang="en-US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54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457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5930900" y="6384925"/>
            <a:ext cx="2895600" cy="244475"/>
          </a:xfrm>
        </p:spPr>
        <p:txBody>
          <a:bodyPr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lvl1pPr>
          </a:lstStyle>
          <a:p>
            <a:r>
              <a:rPr lang="en-US" altLang="zh-CN" smtClean="0"/>
              <a:t>www.themegallery.com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3124200" y="6477000"/>
            <a:ext cx="1828800" cy="244475"/>
          </a:xfrm>
        </p:spPr>
        <p:txBody>
          <a:bodyPr/>
          <a:lstStyle>
            <a:lvl1pPr>
              <a:defRPr/>
            </a:lvl1pPr>
          </a:lstStyle>
          <a:p>
            <a:fld id="{EB199F51-19EA-4878-9F53-2990CFB631B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873375" y="4038600"/>
            <a:ext cx="5584825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2819400" y="3276600"/>
            <a:ext cx="5791200" cy="68262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20" name="Text Box 48"/>
          <p:cNvSpPr txBox="1">
            <a:spLocks noChangeArrowheads="1"/>
          </p:cNvSpPr>
          <p:nvPr/>
        </p:nvSpPr>
        <p:spPr bwMode="gray">
          <a:xfrm>
            <a:off x="6019800" y="5934075"/>
            <a:ext cx="2832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800" i="1">
                <a:solidFill>
                  <a:schemeClr val="accent1"/>
                </a:solidFill>
                <a:ea typeface="宋体" pitchFamily="2" charset="-122"/>
              </a:rPr>
              <a:t>LOGO</a:t>
            </a:r>
          </a:p>
        </p:txBody>
      </p:sp>
    </p:spTree>
  </p:cSld>
  <p:clrMapOvr>
    <a:masterClrMapping/>
  </p:clrMapOvr>
  <p:transition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0A1FF-8927-450B-A360-23049E3230E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1CD88-84E4-4F4C-A1B8-DFF43B59CA8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295400"/>
            <a:ext cx="4076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93F786-5748-403A-B65D-2D58BA76C53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0DA2BD-64A8-475B-8174-9DB53006163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13E073-51B2-409C-9CC6-2676692609A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F34BE-B442-4F67-B04E-086D010E6D8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EDA81-DDCE-406C-B24A-15D5956109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B21C80-05A1-44E3-B6D0-233F1D1BBAE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9CCDD-42E8-43F9-AF82-EE697B321F7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2750" y="457200"/>
            <a:ext cx="207645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9195A1-1D12-4407-9C83-1405FB60D50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3A9918A6-FB9D-4345-84D7-C631E1A5083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650D3909-0FDA-4EAF-87C6-835B97781AD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33400" y="457200"/>
            <a:ext cx="8305800" cy="5562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C6A1BD1A-F58C-43C7-85A7-8B00F5A8513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334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625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DD45B94A-8FB4-4F06-8AC9-465CA2EEC8F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305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3048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5943600" y="63246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29718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fld id="{4D9FABDE-4B4D-46A8-B385-35D6A85939D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1828800" y="457200"/>
            <a:ext cx="69342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69" name="Text Box 45"/>
          <p:cNvSpPr txBox="1">
            <a:spLocks noChangeArrowheads="1"/>
          </p:cNvSpPr>
          <p:nvPr/>
        </p:nvSpPr>
        <p:spPr bwMode="black">
          <a:xfrm>
            <a:off x="7196138" y="5943600"/>
            <a:ext cx="1643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800" i="1">
                <a:solidFill>
                  <a:schemeClr val="accent1"/>
                </a:solidFill>
                <a:ea typeface="宋体" pitchFamily="2" charset="-122"/>
              </a:rPr>
              <a:t>LOGO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split dir="in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2438400"/>
            <a:ext cx="7086600" cy="1292225"/>
          </a:xfrm>
        </p:spPr>
        <p:txBody>
          <a:bodyPr/>
          <a:lstStyle/>
          <a:p>
            <a:pPr algn="ctr"/>
            <a:r>
              <a:rPr lang="en-US" altLang="zh-CN" sz="6000" spc="3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6000" spc="3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软件设计与开发</a:t>
            </a:r>
            <a:endParaRPr lang="en-US" altLang="zh-CN" sz="6000" spc="30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514600" y="4114800"/>
            <a:ext cx="4114800" cy="1447800"/>
          </a:xfrm>
        </p:spPr>
        <p:txBody>
          <a:bodyPr/>
          <a:lstStyle/>
          <a:p>
            <a:pPr algn="ctr"/>
            <a:r>
              <a:rPr lang="zh-CN" altLang="en-US" sz="3200" dirty="0">
                <a:solidFill>
                  <a:schemeClr val="tx2"/>
                </a:solidFill>
                <a:ea typeface="华文仿宋" pitchFamily="2" charset="-122"/>
              </a:rPr>
              <a:t>城市与环境科学学院</a:t>
            </a:r>
            <a:endParaRPr lang="en-US" altLang="zh-CN" sz="3200" dirty="0">
              <a:solidFill>
                <a:schemeClr val="tx2"/>
              </a:solidFill>
              <a:ea typeface="华文仿宋" pitchFamily="2" charset="-122"/>
            </a:endParaRPr>
          </a:p>
          <a:p>
            <a:pPr algn="ctr"/>
            <a:r>
              <a:rPr lang="en-US" altLang="zh-CN" sz="3200" dirty="0">
                <a:solidFill>
                  <a:schemeClr val="tx2"/>
                </a:solidFill>
                <a:ea typeface="华文仿宋" pitchFamily="2" charset="-122"/>
              </a:rPr>
              <a:t>GIS</a:t>
            </a:r>
            <a:r>
              <a:rPr lang="zh-CN" altLang="en-US" sz="3200">
                <a:solidFill>
                  <a:schemeClr val="tx2"/>
                </a:solidFill>
                <a:ea typeface="华文仿宋" pitchFamily="2" charset="-122"/>
              </a:rPr>
              <a:t>教研室</a:t>
            </a:r>
            <a:endParaRPr lang="zh-CN" altLang="en-US" sz="3200" dirty="0">
              <a:solidFill>
                <a:schemeClr val="tx2"/>
              </a:solidFill>
              <a:ea typeface="华文仿宋" pitchFamily="2" charset="-122"/>
            </a:endParaRPr>
          </a:p>
        </p:txBody>
      </p:sp>
      <p:sp>
        <p:nvSpPr>
          <p:cNvPr id="9" name="Line 95"/>
          <p:cNvSpPr>
            <a:spLocks noChangeShapeType="1"/>
          </p:cNvSpPr>
          <p:nvPr/>
        </p:nvSpPr>
        <p:spPr bwMode="auto">
          <a:xfrm>
            <a:off x="468000" y="1219200"/>
            <a:ext cx="8676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5" name="图片 14" descr="学校图标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9144000" cy="86143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199F51-19EA-4878-9F53-2990CFB631B3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2743200" cy="563563"/>
          </a:xfrm>
        </p:spPr>
        <p:txBody>
          <a:bodyPr/>
          <a:lstStyle/>
          <a:p>
            <a:r>
              <a:rPr lang="zh-CN" altLang="en-US" sz="4800" dirty="0" smtClean="0">
                <a:ea typeface="黑体" pitchFamily="2" charset="-122"/>
              </a:rPr>
              <a:t>授课内容</a:t>
            </a:r>
            <a:endParaRPr lang="en-US" altLang="zh-CN" sz="4800" dirty="0">
              <a:solidFill>
                <a:schemeClr val="accent1"/>
              </a:solidFill>
              <a:ea typeface="黑体" pitchFamily="2" charset="-122"/>
            </a:endParaRPr>
          </a:p>
        </p:txBody>
      </p:sp>
      <p:sp>
        <p:nvSpPr>
          <p:cNvPr id="72707" name="Line 3"/>
          <p:cNvSpPr>
            <a:spLocks noChangeShapeType="1"/>
          </p:cNvSpPr>
          <p:nvPr/>
        </p:nvSpPr>
        <p:spPr bwMode="auto">
          <a:xfrm>
            <a:off x="2286000" y="214947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2525713" y="1676400"/>
            <a:ext cx="334168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概述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81200" y="1682750"/>
            <a:ext cx="468313" cy="468313"/>
            <a:chOff x="662" y="1574"/>
            <a:chExt cx="480" cy="476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12" name="Oval 8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3" name="Oval 9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4" name="Oval 10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5" name="Oval 11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17" name="Oval 13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19" name="Oval 15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0" name="Oval 16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1" name="Oval 17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2" name="Oval 18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23" name="Text Box 19"/>
          <p:cNvSpPr txBox="1">
            <a:spLocks noChangeArrowheads="1"/>
          </p:cNvSpPr>
          <p:nvPr/>
        </p:nvSpPr>
        <p:spPr bwMode="gray">
          <a:xfrm>
            <a:off x="2057400" y="16922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>
            <a:off x="2286000" y="2648247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5" name="Text Box 21"/>
          <p:cNvSpPr txBox="1">
            <a:spLocks noChangeArrowheads="1"/>
          </p:cNvSpPr>
          <p:nvPr/>
        </p:nvSpPr>
        <p:spPr bwMode="auto">
          <a:xfrm>
            <a:off x="2514600" y="2205335"/>
            <a:ext cx="3581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用户界面定制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72726" name="Line 22"/>
          <p:cNvSpPr>
            <a:spLocks noChangeShapeType="1"/>
          </p:cNvSpPr>
          <p:nvPr/>
        </p:nvSpPr>
        <p:spPr bwMode="auto">
          <a:xfrm>
            <a:off x="2286000" y="3124200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7" name="Text Box 23"/>
          <p:cNvSpPr txBox="1">
            <a:spLocks noChangeArrowheads="1"/>
          </p:cNvSpPr>
          <p:nvPr/>
        </p:nvSpPr>
        <p:spPr bwMode="auto">
          <a:xfrm>
            <a:off x="2514600" y="2693988"/>
            <a:ext cx="4724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地图的组成与显示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72728" name="Line 24"/>
          <p:cNvSpPr>
            <a:spLocks noChangeShapeType="1"/>
          </p:cNvSpPr>
          <p:nvPr/>
        </p:nvSpPr>
        <p:spPr bwMode="auto">
          <a:xfrm>
            <a:off x="2286000" y="404306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9" name="Text Box 25"/>
          <p:cNvSpPr txBox="1">
            <a:spLocks noChangeArrowheads="1"/>
          </p:cNvSpPr>
          <p:nvPr/>
        </p:nvSpPr>
        <p:spPr bwMode="auto">
          <a:xfrm>
            <a:off x="2514600" y="3207048"/>
            <a:ext cx="5181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 smtClean="0">
                <a:ea typeface="宋体" pitchFamily="2" charset="-122"/>
              </a:rPr>
              <a:t>AO</a:t>
            </a:r>
            <a:r>
              <a:rPr lang="zh-CN" altLang="en-US" sz="2400" dirty="0" smtClean="0">
                <a:ea typeface="宋体" pitchFamily="2" charset="-122"/>
              </a:rPr>
              <a:t>的控件</a:t>
            </a:r>
            <a:endParaRPr lang="en-US" altLang="zh-CN" sz="2400" dirty="0">
              <a:ea typeface="宋体" pitchFamily="2" charset="-122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992313" y="2191047"/>
            <a:ext cx="468312" cy="468313"/>
            <a:chOff x="816" y="2400"/>
            <a:chExt cx="480" cy="476"/>
          </a:xfrm>
        </p:grpSpPr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733" name="Oval 29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4" name="Oval 30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5" name="Oval 31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6" name="Oval 32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738" name="Oval 34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9" name="Group 35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40" name="Oval 36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1" name="Oval 37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2" name="Oval 38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3" name="Oval 39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" name="Group 42"/>
          <p:cNvGrpSpPr>
            <a:grpSpLocks/>
          </p:cNvGrpSpPr>
          <p:nvPr/>
        </p:nvGrpSpPr>
        <p:grpSpPr bwMode="auto">
          <a:xfrm>
            <a:off x="1981200" y="2667000"/>
            <a:ext cx="468313" cy="468313"/>
            <a:chOff x="662" y="1574"/>
            <a:chExt cx="480" cy="476"/>
          </a:xfrm>
        </p:grpSpPr>
        <p:grpSp>
          <p:nvGrpSpPr>
            <p:cNvPr id="11" name="Group 43"/>
            <p:cNvGrpSpPr>
              <a:grpSpLocks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48" name="Oval 44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49" name="Oval 45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50" name="Oval 46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51" name="Oval 47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" name="Group 48"/>
            <p:cNvGrpSpPr>
              <a:grpSpLocks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53" name="Oval 49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3" name="Group 50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55" name="Oval 51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6" name="Oval 52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7" name="Oval 53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8" name="Oval 54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59" name="Text Box 55"/>
          <p:cNvSpPr txBox="1">
            <a:spLocks noChangeAspect="1" noChangeArrowheads="1"/>
          </p:cNvSpPr>
          <p:nvPr/>
        </p:nvSpPr>
        <p:spPr bwMode="gray">
          <a:xfrm>
            <a:off x="2057400" y="2727325"/>
            <a:ext cx="304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3</a:t>
            </a:r>
          </a:p>
        </p:txBody>
      </p:sp>
      <p:grpSp>
        <p:nvGrpSpPr>
          <p:cNvPr id="14" name="Group 57"/>
          <p:cNvGrpSpPr>
            <a:grpSpLocks noChangeAspect="1"/>
          </p:cNvGrpSpPr>
          <p:nvPr/>
        </p:nvGrpSpPr>
        <p:grpSpPr bwMode="auto">
          <a:xfrm>
            <a:off x="1981200" y="3200400"/>
            <a:ext cx="468313" cy="468313"/>
            <a:chOff x="816" y="2400"/>
            <a:chExt cx="480" cy="476"/>
          </a:xfrm>
        </p:grpSpPr>
        <p:grpSp>
          <p:nvGrpSpPr>
            <p:cNvPr id="15" name="Group 58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763" name="Oval 59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4" name="Oval 6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5" name="Oval 61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6" name="Oval 62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" name="Group 63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768" name="Oval 64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7" name="Group 65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70" name="Oval 66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1" name="Oval 67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2" name="Oval 68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3" name="Oval 69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74" name="Text Box 70"/>
          <p:cNvSpPr txBox="1">
            <a:spLocks noChangeArrowheads="1"/>
          </p:cNvSpPr>
          <p:nvPr/>
        </p:nvSpPr>
        <p:spPr bwMode="gray">
          <a:xfrm>
            <a:off x="2036763" y="32607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2778" name="Line 74"/>
          <p:cNvSpPr>
            <a:spLocks noChangeShapeType="1"/>
          </p:cNvSpPr>
          <p:nvPr/>
        </p:nvSpPr>
        <p:spPr bwMode="auto">
          <a:xfrm>
            <a:off x="2286000" y="3592513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79" name="Text Box 75"/>
          <p:cNvSpPr txBox="1">
            <a:spLocks noChangeArrowheads="1"/>
          </p:cNvSpPr>
          <p:nvPr/>
        </p:nvSpPr>
        <p:spPr bwMode="auto">
          <a:xfrm>
            <a:off x="2514600" y="3653135"/>
            <a:ext cx="4495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 err="1" smtClean="0">
                <a:ea typeface="宋体" pitchFamily="2" charset="-122"/>
              </a:rPr>
              <a:t>Geodatabase</a:t>
            </a:r>
            <a:r>
              <a:rPr lang="zh-CN" altLang="en-US" sz="2400" dirty="0" smtClean="0">
                <a:ea typeface="宋体" pitchFamily="2" charset="-122"/>
              </a:rPr>
              <a:t>模型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18" name="Group 77"/>
          <p:cNvGrpSpPr>
            <a:grpSpLocks noChangeAspect="1"/>
          </p:cNvGrpSpPr>
          <p:nvPr/>
        </p:nvGrpSpPr>
        <p:grpSpPr bwMode="auto">
          <a:xfrm>
            <a:off x="1981200" y="3655715"/>
            <a:ext cx="468313" cy="463550"/>
            <a:chOff x="662" y="1574"/>
            <a:chExt cx="480" cy="476"/>
          </a:xfrm>
        </p:grpSpPr>
        <p:grpSp>
          <p:nvGrpSpPr>
            <p:cNvPr id="19" name="Group 78"/>
            <p:cNvGrpSpPr>
              <a:grpSpLocks noChangeAspect="1"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83" name="Oval 79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4" name="Oval 8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5" name="Oval 81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6" name="Oval 82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" name="Group 83"/>
            <p:cNvGrpSpPr>
              <a:grpSpLocks noChangeAspect="1"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88" name="Oval 84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1" name="Group 85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90" name="Oval 86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1" name="Oval 87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2" name="Oval 88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3" name="Oval 89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94" name="Text Box 90"/>
          <p:cNvSpPr txBox="1">
            <a:spLocks noChangeAspect="1" noChangeArrowheads="1"/>
          </p:cNvSpPr>
          <p:nvPr/>
        </p:nvSpPr>
        <p:spPr bwMode="gray">
          <a:xfrm>
            <a:off x="2057400" y="3704927"/>
            <a:ext cx="304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5</a:t>
            </a:r>
          </a:p>
        </p:txBody>
      </p:sp>
      <p:sp>
        <p:nvSpPr>
          <p:cNvPr id="72797" name="Text Box 93"/>
          <p:cNvSpPr txBox="1">
            <a:spLocks noChangeArrowheads="1"/>
          </p:cNvSpPr>
          <p:nvPr/>
        </p:nvSpPr>
        <p:spPr bwMode="gray">
          <a:xfrm>
            <a:off x="2057400" y="2211685"/>
            <a:ext cx="284163" cy="360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72799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0" name="Line 96"/>
          <p:cNvSpPr>
            <a:spLocks noChangeShapeType="1"/>
          </p:cNvSpPr>
          <p:nvPr/>
        </p:nvSpPr>
        <p:spPr bwMode="auto">
          <a:xfrm>
            <a:off x="2286000" y="451167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1" name="Text Box 97"/>
          <p:cNvSpPr txBox="1">
            <a:spLocks noChangeArrowheads="1"/>
          </p:cNvSpPr>
          <p:nvPr/>
        </p:nvSpPr>
        <p:spPr bwMode="auto">
          <a:xfrm>
            <a:off x="2514600" y="4110335"/>
            <a:ext cx="4648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dirty="0" smtClean="0">
                <a:ea typeface="宋体" pitchFamily="2" charset="-122"/>
              </a:rPr>
              <a:t>Geometry—</a:t>
            </a:r>
            <a:r>
              <a:rPr lang="zh-CN" altLang="en-US" sz="2400" dirty="0" smtClean="0">
                <a:ea typeface="宋体" pitchFamily="2" charset="-122"/>
              </a:rPr>
              <a:t>几何形体对象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22" name="Group 98"/>
          <p:cNvGrpSpPr>
            <a:grpSpLocks noChangeAspect="1"/>
          </p:cNvGrpSpPr>
          <p:nvPr/>
        </p:nvGrpSpPr>
        <p:grpSpPr bwMode="auto">
          <a:xfrm>
            <a:off x="1992313" y="4081463"/>
            <a:ext cx="468312" cy="468312"/>
            <a:chOff x="816" y="2400"/>
            <a:chExt cx="480" cy="476"/>
          </a:xfrm>
        </p:grpSpPr>
        <p:grpSp>
          <p:nvGrpSpPr>
            <p:cNvPr id="23" name="Group 99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804" name="Oval 10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5" name="Oval 101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6" name="Oval 102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7" name="Oval 103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" name="Group 104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809" name="Oval 105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5" name="Group 106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811" name="Oval 107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2" name="Oval 108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3" name="Oval 109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4" name="Oval 110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815" name="Text Box 111"/>
          <p:cNvSpPr txBox="1">
            <a:spLocks noChangeArrowheads="1"/>
          </p:cNvSpPr>
          <p:nvPr/>
        </p:nvSpPr>
        <p:spPr bwMode="gray">
          <a:xfrm>
            <a:off x="2057400" y="41306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6</a:t>
            </a:r>
          </a:p>
        </p:txBody>
      </p:sp>
      <p:pic>
        <p:nvPicPr>
          <p:cNvPr id="135" name="内容占位符 6" descr="师大图标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43000"/>
            <a:ext cx="800000" cy="800000"/>
          </a:xfrm>
        </p:spPr>
      </p:pic>
      <p:sp>
        <p:nvSpPr>
          <p:cNvPr id="136" name="圆角矩形 135"/>
          <p:cNvSpPr/>
          <p:nvPr/>
        </p:nvSpPr>
        <p:spPr bwMode="auto">
          <a:xfrm>
            <a:off x="2438400" y="4114800"/>
            <a:ext cx="3886200" cy="457200"/>
          </a:xfrm>
          <a:prstGeom prst="roundRect">
            <a:avLst/>
          </a:prstGeom>
          <a:solidFill>
            <a:schemeClr val="accent5">
              <a:lumMod val="90000"/>
              <a:alpha val="58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内容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altLang="zh-CN" dirty="0" smtClean="0">
                <a:latin typeface="+mj-lt"/>
                <a:ea typeface="黑体" pitchFamily="2" charset="-122"/>
              </a:rPr>
              <a:t>Geometry</a:t>
            </a:r>
            <a:r>
              <a:rPr lang="zh-CN" altLang="en-US" dirty="0" smtClean="0">
                <a:latin typeface="+mj-lt"/>
                <a:ea typeface="黑体" pitchFamily="2" charset="-122"/>
              </a:rPr>
              <a:t>结构介绍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ITopologicalOperation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接口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latin typeface="+mj-lt"/>
                <a:ea typeface="黑体" pitchFamily="2" charset="-122"/>
              </a:rPr>
              <a:t>IRelationOperation</a:t>
            </a:r>
            <a:r>
              <a:rPr lang="zh-CN" altLang="en-US" dirty="0" smtClean="0">
                <a:latin typeface="+mj-lt"/>
                <a:ea typeface="黑体" pitchFamily="2" charset="-122"/>
              </a:rPr>
              <a:t>接口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latin typeface="+mj-lt"/>
                <a:ea typeface="黑体" pitchFamily="2" charset="-122"/>
              </a:rPr>
              <a:t>Iproximity</a:t>
            </a:r>
            <a:r>
              <a:rPr lang="zh-CN" altLang="en-US" dirty="0" smtClean="0">
                <a:latin typeface="+mj-lt"/>
                <a:ea typeface="黑体" pitchFamily="2" charset="-122"/>
              </a:rPr>
              <a:t>接口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Geometry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结构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 algn="just"/>
            <a:r>
              <a:rPr lang="zh-CN" altLang="en-US" dirty="0" smtClean="0">
                <a:latin typeface="+mj-lt"/>
                <a:ea typeface="黑体" pitchFamily="2" charset="-122"/>
              </a:rPr>
              <a:t>“</a:t>
            </a:r>
            <a:r>
              <a:rPr lang="en-US" altLang="zh-CN" dirty="0" smtClean="0">
                <a:latin typeface="+mj-lt"/>
                <a:ea typeface="黑体" pitchFamily="2" charset="-122"/>
              </a:rPr>
              <a:t>Shape</a:t>
            </a:r>
            <a:r>
              <a:rPr lang="zh-CN" altLang="en-US" dirty="0" smtClean="0">
                <a:latin typeface="+mj-lt"/>
                <a:ea typeface="黑体" pitchFamily="2" charset="-122"/>
              </a:rPr>
              <a:t>”字段</a:t>
            </a:r>
            <a:r>
              <a:rPr lang="en-US" altLang="zh-CN" dirty="0" smtClean="0">
                <a:latin typeface="+mj-lt"/>
                <a:ea typeface="黑体" pitchFamily="2" charset="-122"/>
              </a:rPr>
              <a:t>—</a:t>
            </a:r>
            <a:r>
              <a:rPr lang="zh-CN" altLang="en-US" dirty="0" smtClean="0">
                <a:latin typeface="+mj-lt"/>
                <a:ea typeface="黑体" pitchFamily="2" charset="-122"/>
              </a:rPr>
              <a:t>保存几何形体对象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+mj-lt"/>
                <a:ea typeface="黑体" pitchFamily="2" charset="-122"/>
              </a:rPr>
              <a:t>“</a:t>
            </a:r>
            <a:r>
              <a:rPr lang="en-US" altLang="zh-CN" dirty="0" smtClean="0">
                <a:latin typeface="+mj-lt"/>
                <a:ea typeface="黑体" pitchFamily="2" charset="-122"/>
              </a:rPr>
              <a:t>Shape</a:t>
            </a:r>
            <a:r>
              <a:rPr lang="zh-CN" altLang="en-US" dirty="0" smtClean="0">
                <a:latin typeface="+mj-lt"/>
                <a:ea typeface="黑体" pitchFamily="2" charset="-122"/>
              </a:rPr>
              <a:t>”字段</a:t>
            </a:r>
            <a:r>
              <a:rPr lang="en-US" altLang="zh-CN" dirty="0" smtClean="0">
                <a:latin typeface="+mj-lt"/>
                <a:ea typeface="黑体" pitchFamily="2" charset="-122"/>
              </a:rPr>
              <a:t>—</a:t>
            </a:r>
            <a:r>
              <a:rPr lang="zh-CN" altLang="en-US" dirty="0" smtClean="0">
                <a:latin typeface="+mj-lt"/>
                <a:ea typeface="黑体" pitchFamily="2" charset="-122"/>
              </a:rPr>
              <a:t>精确描述具有离散特征的要素在地球上的具体位置和形状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+mj-lt"/>
                <a:ea typeface="黑体" pitchFamily="2" charset="-122"/>
              </a:rPr>
              <a:t>两个层次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2"/>
            <a:r>
              <a:rPr lang="zh-CN" altLang="en-US" dirty="0" smtClean="0">
                <a:latin typeface="+mj-lt"/>
                <a:ea typeface="黑体" pitchFamily="2" charset="-122"/>
              </a:rPr>
              <a:t>构成要素形状的几何图形（高级几何对象）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3"/>
            <a:r>
              <a:rPr lang="en-US" altLang="zh-CN" dirty="0" err="1" smtClean="0">
                <a:latin typeface="+mj-lt"/>
                <a:ea typeface="黑体" pitchFamily="2" charset="-122"/>
              </a:rPr>
              <a:t>MultiPoint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smtClean="0">
                <a:latin typeface="+mj-lt"/>
                <a:ea typeface="黑体" pitchFamily="2" charset="-122"/>
              </a:rPr>
              <a:t>Envelop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err="1" smtClean="0">
                <a:latin typeface="+mj-lt"/>
                <a:ea typeface="黑体" pitchFamily="2" charset="-122"/>
              </a:rPr>
              <a:t>Polyline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smtClean="0">
                <a:latin typeface="+mj-lt"/>
                <a:ea typeface="黑体" pitchFamily="2" charset="-122"/>
              </a:rPr>
              <a:t>Polygon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err="1" smtClean="0">
                <a:latin typeface="+mj-lt"/>
                <a:ea typeface="黑体" pitchFamily="2" charset="-122"/>
              </a:rPr>
              <a:t>Multipatch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smtClean="0">
                <a:latin typeface="+mj-lt"/>
                <a:ea typeface="黑体" pitchFamily="2" charset="-122"/>
              </a:rPr>
              <a:t>…</a:t>
            </a:r>
          </a:p>
          <a:p>
            <a:pPr lvl="2"/>
            <a:r>
              <a:rPr lang="zh-CN" altLang="en-US" dirty="0" smtClean="0">
                <a:latin typeface="+mj-lt"/>
                <a:ea typeface="黑体" pitchFamily="2" charset="-122"/>
              </a:rPr>
              <a:t>组成这些形状的组成部分</a:t>
            </a:r>
            <a:endParaRPr lang="en-US" altLang="zh-CN" dirty="0" smtClean="0">
              <a:latin typeface="+mj-lt"/>
              <a:ea typeface="黑体" pitchFamily="2" charset="-122"/>
            </a:endParaRPr>
          </a:p>
          <a:p>
            <a:pPr lvl="3"/>
            <a:r>
              <a:rPr lang="en-US" altLang="zh-CN" dirty="0" smtClean="0">
                <a:latin typeface="+mj-lt"/>
                <a:ea typeface="黑体" pitchFamily="2" charset="-122"/>
              </a:rPr>
              <a:t>Point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smtClean="0">
                <a:latin typeface="+mj-lt"/>
                <a:ea typeface="黑体" pitchFamily="2" charset="-122"/>
              </a:rPr>
              <a:t>Segment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smtClean="0">
                <a:latin typeface="+mj-lt"/>
                <a:ea typeface="黑体" pitchFamily="2" charset="-122"/>
              </a:rPr>
              <a:t>Path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smtClean="0">
                <a:latin typeface="+mj-lt"/>
                <a:ea typeface="黑体" pitchFamily="2" charset="-122"/>
              </a:rPr>
              <a:t>Ring</a:t>
            </a:r>
            <a:r>
              <a:rPr lang="zh-CN" altLang="en-US" dirty="0" smtClean="0">
                <a:latin typeface="+mj-lt"/>
                <a:ea typeface="黑体" pitchFamily="2" charset="-122"/>
              </a:rPr>
              <a:t>、</a:t>
            </a:r>
            <a:r>
              <a:rPr lang="en-US" altLang="zh-CN" dirty="0" smtClean="0">
                <a:latin typeface="+mj-lt"/>
                <a:ea typeface="黑体" pitchFamily="2" charset="-122"/>
              </a:rPr>
              <a:t>…</a:t>
            </a:r>
          </a:p>
          <a:p>
            <a:pPr lvl="1"/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5325" y="1152525"/>
            <a:ext cx="7458075" cy="570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5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Geometry</a:t>
            </a:r>
            <a:r>
              <a:rPr lang="zh-CN" altLang="en-US" dirty="0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对象模型图</a:t>
            </a:r>
            <a:endParaRPr lang="en-US" altLang="zh-CN" dirty="0" smtClean="0">
              <a:solidFill>
                <a:schemeClr val="bg1">
                  <a:lumMod val="60000"/>
                  <a:lumOff val="40000"/>
                </a:schemeClr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Geometry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对象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6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905000"/>
            <a:ext cx="836064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" y="3733800"/>
            <a:ext cx="830460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7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295400"/>
            <a:ext cx="905013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Geometry</a:t>
            </a: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8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828800"/>
            <a:ext cx="8694357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1993" y="3276600"/>
            <a:ext cx="8852007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09800" y="4953000"/>
            <a:ext cx="4849586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IGeometry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9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4126" y="1828800"/>
            <a:ext cx="9017074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7657" y="5029201"/>
            <a:ext cx="742634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Point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和</a:t>
            </a:r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MultiPoint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对象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10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9197" y="1752600"/>
            <a:ext cx="7851403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1" y="5334000"/>
            <a:ext cx="777239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Point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对象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11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752600"/>
            <a:ext cx="3649894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19600" y="1295400"/>
            <a:ext cx="4419600" cy="474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" y="5981700"/>
            <a:ext cx="74390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Point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和</a:t>
            </a:r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MultiPoint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对象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12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819400"/>
            <a:ext cx="5123486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14800" y="1752600"/>
            <a:ext cx="477202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IConstructPoint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13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905000"/>
            <a:ext cx="7487216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8200" y="0"/>
            <a:ext cx="3810000" cy="684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MultiPoint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对象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14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981200"/>
            <a:ext cx="856973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819400"/>
            <a:ext cx="887852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71600" y="4114800"/>
            <a:ext cx="603504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71600" y="4572000"/>
            <a:ext cx="626533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371600" y="5105400"/>
            <a:ext cx="6885709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Envelope—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包络线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包络线对象是一个矩形区域，每个</a:t>
            </a:r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Geometry</a:t>
            </a:r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对象都有一个包络线对象，甚至其本身也有。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15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810000"/>
            <a:ext cx="47815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72100" y="3857625"/>
            <a:ext cx="37719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" y="26670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ea typeface="黑体" pitchFamily="2" charset="-122"/>
              </a:rPr>
              <a:t>Envelope—</a:t>
            </a:r>
            <a:r>
              <a:rPr lang="zh-CN" altLang="en-US" dirty="0" smtClean="0">
                <a:solidFill>
                  <a:schemeClr val="tx1"/>
                </a:solidFill>
                <a:ea typeface="黑体" pitchFamily="2" charset="-122"/>
              </a:rPr>
              <a:t>包络线</a:t>
            </a:r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16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905000"/>
            <a:ext cx="3491179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0"/>
            <a:ext cx="3048000" cy="6673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819400"/>
            <a:ext cx="297646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ea typeface="黑体" pitchFamily="2" charset="-122"/>
              </a:rPr>
              <a:t>Envelope—</a:t>
            </a:r>
            <a:r>
              <a:rPr lang="zh-CN" altLang="en-US" dirty="0" smtClean="0">
                <a:solidFill>
                  <a:schemeClr val="tx1"/>
                </a:solidFill>
                <a:ea typeface="黑体" pitchFamily="2" charset="-122"/>
              </a:rPr>
              <a:t>包络线</a:t>
            </a:r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17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3179" y="1828800"/>
            <a:ext cx="8840821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47800" y="2895600"/>
            <a:ext cx="265339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曲线</a:t>
            </a:r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--Curve</a:t>
            </a: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18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3352800"/>
            <a:ext cx="32385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1905000"/>
            <a:ext cx="875800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62601" y="496703"/>
            <a:ext cx="3581400" cy="6361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曲线</a:t>
            </a:r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--Curve</a:t>
            </a: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19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981200"/>
            <a:ext cx="7772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组合 11"/>
          <p:cNvGrpSpPr/>
          <p:nvPr/>
        </p:nvGrpSpPr>
        <p:grpSpPr>
          <a:xfrm>
            <a:off x="1219200" y="4114800"/>
            <a:ext cx="7239002" cy="2401645"/>
            <a:chOff x="228598" y="4114800"/>
            <a:chExt cx="8614800" cy="2401645"/>
          </a:xfrm>
        </p:grpSpPr>
        <p:pic>
          <p:nvPicPr>
            <p:cNvPr id="15363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8600" y="4114800"/>
              <a:ext cx="8613006" cy="1066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364" name="Picture 4"/>
            <p:cNvPicPr>
              <a:picLocks noChangeAspect="1" noChangeArrowheads="1"/>
            </p:cNvPicPr>
            <p:nvPr/>
          </p:nvPicPr>
          <p:blipFill>
            <a:blip r:embed="rId5"/>
            <a:stretch>
              <a:fillRect/>
            </a:stretch>
          </p:blipFill>
          <p:spPr bwMode="auto">
            <a:xfrm>
              <a:off x="228598" y="5181600"/>
              <a:ext cx="8614800" cy="1334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38200" y="1752600"/>
            <a:ext cx="45815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曲线</a:t>
            </a:r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--Curve</a:t>
            </a: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20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981200"/>
            <a:ext cx="4191000" cy="440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6300" y="1447800"/>
            <a:ext cx="4457700" cy="513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2438401"/>
            <a:ext cx="4648200" cy="291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2590800"/>
            <a:ext cx="497205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2819400"/>
            <a:ext cx="4724400" cy="333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Segment</a:t>
            </a: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21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1752600"/>
            <a:ext cx="7239000" cy="1432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3200400"/>
            <a:ext cx="6550702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Line</a:t>
            </a: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22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157" y="1828800"/>
            <a:ext cx="8951843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3048000"/>
            <a:ext cx="30670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91000" y="3048000"/>
            <a:ext cx="4354033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0" y="1295400"/>
            <a:ext cx="8305800" cy="4724400"/>
          </a:xfrm>
        </p:spPr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Polyline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23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828800"/>
            <a:ext cx="8848299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505200"/>
            <a:ext cx="4724400" cy="281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0" y="3657600"/>
            <a:ext cx="662940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81600" y="228600"/>
            <a:ext cx="392680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Polygon</a:t>
            </a: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24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4105329"/>
            <a:ext cx="3505200" cy="2752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4" name="组合 13"/>
          <p:cNvGrpSpPr/>
          <p:nvPr/>
        </p:nvGrpSpPr>
        <p:grpSpPr>
          <a:xfrm>
            <a:off x="304800" y="1752600"/>
            <a:ext cx="8530683" cy="1752600"/>
            <a:chOff x="304800" y="1752600"/>
            <a:chExt cx="8530683" cy="1752600"/>
          </a:xfrm>
        </p:grpSpPr>
        <p:pic>
          <p:nvPicPr>
            <p:cNvPr id="20483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04800" y="1752600"/>
              <a:ext cx="8530683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484" name="Picture 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04800" y="3124200"/>
              <a:ext cx="276225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1999" y="3962400"/>
            <a:ext cx="357982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ITopologicalOperation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25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905000"/>
            <a:ext cx="7010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ITopologicalOperation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26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0"/>
            <a:ext cx="3505200" cy="676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1752600"/>
            <a:ext cx="2219325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00" y="1752600"/>
            <a:ext cx="201930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85800" y="3733799"/>
            <a:ext cx="2209800" cy="197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048000" y="3736593"/>
            <a:ext cx="2057400" cy="1981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ITopologicalOperation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27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828800"/>
            <a:ext cx="265698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76600" y="1828800"/>
            <a:ext cx="2590800" cy="219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62600" y="1828800"/>
            <a:ext cx="261937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" y="4191000"/>
            <a:ext cx="2895600" cy="2043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05200" y="4114800"/>
            <a:ext cx="2819400" cy="2086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715000" y="4114800"/>
            <a:ext cx="2971800" cy="243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IRelationalOperation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28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1752600"/>
            <a:ext cx="60198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4419600"/>
            <a:ext cx="3346203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29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95400"/>
            <a:ext cx="469582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4743450" y="3276600"/>
            <a:ext cx="4400550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62400" y="1371600"/>
            <a:ext cx="47910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" y="3352800"/>
            <a:ext cx="5114925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47800" y="1143000"/>
            <a:ext cx="497205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038600" y="2514600"/>
            <a:ext cx="425767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8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267200" y="1371600"/>
            <a:ext cx="4486275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IProximityOperation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30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2057400"/>
            <a:ext cx="6781799" cy="3535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几何形体对象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tx1"/>
                </a:solidFill>
                <a:latin typeface="+mj-lt"/>
                <a:ea typeface="黑体" pitchFamily="2" charset="-122"/>
              </a:rPr>
              <a:t>IProximityOperation</a:t>
            </a:r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+mj-lt"/>
              <a:ea typeface="黑体" pitchFamily="2" charset="-122"/>
            </a:endParaRPr>
          </a:p>
          <a:p>
            <a:pPr lvl="1"/>
            <a:endParaRPr lang="en-US" altLang="zh-CN" dirty="0" smtClean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31</a:t>
            </a:fld>
            <a:endParaRPr lang="en-US" altLang="zh-CN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819400"/>
            <a:ext cx="4675909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1295400"/>
            <a:ext cx="4191000" cy="240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29200" y="4648200"/>
            <a:ext cx="3874364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91tgp_global_light">
  <a:themeElements>
    <a:clrScheme name="191tgp_global_light 1">
      <a:dk1>
        <a:srgbClr val="808080"/>
      </a:dk1>
      <a:lt1>
        <a:srgbClr val="FFFFFF"/>
      </a:lt1>
      <a:dk2>
        <a:srgbClr val="0E237E"/>
      </a:dk2>
      <a:lt2>
        <a:srgbClr val="CCECFF"/>
      </a:lt2>
      <a:accent1>
        <a:srgbClr val="709EE2"/>
      </a:accent1>
      <a:accent2>
        <a:srgbClr val="9874F2"/>
      </a:accent2>
      <a:accent3>
        <a:srgbClr val="AAACC0"/>
      </a:accent3>
      <a:accent4>
        <a:srgbClr val="DADADA"/>
      </a:accent4>
      <a:accent5>
        <a:srgbClr val="BBCCEE"/>
      </a:accent5>
      <a:accent6>
        <a:srgbClr val="8968DB"/>
      </a:accent6>
      <a:hlink>
        <a:srgbClr val="3B9D81"/>
      </a:hlink>
      <a:folHlink>
        <a:srgbClr val="80C040"/>
      </a:folHlink>
    </a:clrScheme>
    <a:fontScheme name="191tgp_global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91tgp_global_light 1">
        <a:dk1>
          <a:srgbClr val="808080"/>
        </a:dk1>
        <a:lt1>
          <a:srgbClr val="FFFFFF"/>
        </a:lt1>
        <a:dk2>
          <a:srgbClr val="0E237E"/>
        </a:dk2>
        <a:lt2>
          <a:srgbClr val="CCECFF"/>
        </a:lt2>
        <a:accent1>
          <a:srgbClr val="709EE2"/>
        </a:accent1>
        <a:accent2>
          <a:srgbClr val="9874F2"/>
        </a:accent2>
        <a:accent3>
          <a:srgbClr val="AAACC0"/>
        </a:accent3>
        <a:accent4>
          <a:srgbClr val="DADADA"/>
        </a:accent4>
        <a:accent5>
          <a:srgbClr val="BBCCEE"/>
        </a:accent5>
        <a:accent6>
          <a:srgbClr val="8968DB"/>
        </a:accent6>
        <a:hlink>
          <a:srgbClr val="3B9D81"/>
        </a:hlink>
        <a:folHlink>
          <a:srgbClr val="80C0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1tgp_global_light 2">
        <a:dk1>
          <a:srgbClr val="808080"/>
        </a:dk1>
        <a:lt1>
          <a:srgbClr val="FFFFFF"/>
        </a:lt1>
        <a:dk2>
          <a:srgbClr val="6C2042"/>
        </a:dk2>
        <a:lt2>
          <a:srgbClr val="CCECFF"/>
        </a:lt2>
        <a:accent1>
          <a:srgbClr val="ED9C65"/>
        </a:accent1>
        <a:accent2>
          <a:srgbClr val="5D7CDF"/>
        </a:accent2>
        <a:accent3>
          <a:srgbClr val="BAABB0"/>
        </a:accent3>
        <a:accent4>
          <a:srgbClr val="DADADA"/>
        </a:accent4>
        <a:accent5>
          <a:srgbClr val="F4CBB8"/>
        </a:accent5>
        <a:accent6>
          <a:srgbClr val="5370CA"/>
        </a:accent6>
        <a:hlink>
          <a:srgbClr val="93AB2D"/>
        </a:hlink>
        <a:folHlink>
          <a:srgbClr val="5097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1tgp_global_light 3">
        <a:dk1>
          <a:srgbClr val="808080"/>
        </a:dk1>
        <a:lt1>
          <a:srgbClr val="FFFFFF"/>
        </a:lt1>
        <a:dk2>
          <a:srgbClr val="004E4C"/>
        </a:dk2>
        <a:lt2>
          <a:srgbClr val="FFFFCC"/>
        </a:lt2>
        <a:accent1>
          <a:srgbClr val="6FB4E3"/>
        </a:accent1>
        <a:accent2>
          <a:srgbClr val="2B976E"/>
        </a:accent2>
        <a:accent3>
          <a:srgbClr val="AAB2B2"/>
        </a:accent3>
        <a:accent4>
          <a:srgbClr val="DADADA"/>
        </a:accent4>
        <a:accent5>
          <a:srgbClr val="BBD6EF"/>
        </a:accent5>
        <a:accent6>
          <a:srgbClr val="268863"/>
        </a:accent6>
        <a:hlink>
          <a:srgbClr val="879543"/>
        </a:hlink>
        <a:folHlink>
          <a:srgbClr val="E3981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4240406</TotalTime>
  <Words>371</Words>
  <Application>Microsoft Office PowerPoint</Application>
  <PresentationFormat>全屏显示(4:3)</PresentationFormat>
  <Paragraphs>117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黑体</vt:lpstr>
      <vt:lpstr>华文仿宋</vt:lpstr>
      <vt:lpstr>宋体</vt:lpstr>
      <vt:lpstr>Arial</vt:lpstr>
      <vt:lpstr>Wingdings</vt:lpstr>
      <vt:lpstr>191tgp_global_light</vt:lpstr>
      <vt:lpstr>GIS软件设计与开发</vt:lpstr>
      <vt:lpstr>授课内容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  <vt:lpstr>6、几何形体对象</vt:lpstr>
    </vt:vector>
  </TitlesOfParts>
  <Company>Guilddesign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goose</cp:lastModifiedBy>
  <cp:revision>1035</cp:revision>
  <dcterms:created xsi:type="dcterms:W3CDTF">2004-08-02T10:25:19Z</dcterms:created>
  <dcterms:modified xsi:type="dcterms:W3CDTF">2017-12-12T05:31:53Z</dcterms:modified>
</cp:coreProperties>
</file>