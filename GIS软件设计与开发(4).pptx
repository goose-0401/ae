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6" r:id="rId2"/>
    <p:sldId id="340" r:id="rId3"/>
    <p:sldId id="342" r:id="rId4"/>
    <p:sldId id="343" r:id="rId5"/>
    <p:sldId id="346" r:id="rId6"/>
    <p:sldId id="347" r:id="rId7"/>
    <p:sldId id="348" r:id="rId8"/>
    <p:sldId id="349" r:id="rId9"/>
    <p:sldId id="350" r:id="rId10"/>
    <p:sldId id="352" r:id="rId11"/>
    <p:sldId id="353" r:id="rId12"/>
    <p:sldId id="344" r:id="rId13"/>
    <p:sldId id="345" r:id="rId14"/>
    <p:sldId id="354" r:id="rId15"/>
    <p:sldId id="356" r:id="rId16"/>
    <p:sldId id="357" r:id="rId17"/>
    <p:sldId id="355" r:id="rId18"/>
    <p:sldId id="358" r:id="rId19"/>
    <p:sldId id="359" r:id="rId20"/>
    <p:sldId id="360" r:id="rId21"/>
    <p:sldId id="361" r:id="rId22"/>
    <p:sldId id="341" r:id="rId2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FF66"/>
    <a:srgbClr val="6699FF"/>
    <a:srgbClr val="D60093"/>
    <a:srgbClr val="EAB85E"/>
    <a:srgbClr val="352973"/>
    <a:srgbClr val="006699"/>
    <a:srgbClr val="808080"/>
    <a:srgbClr val="9182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429" autoAdjust="0"/>
    <p:restoredTop sz="96350" autoAdjust="0"/>
  </p:normalViewPr>
  <p:slideViewPr>
    <p:cSldViewPr>
      <p:cViewPr varScale="1">
        <p:scale>
          <a:sx n="82" d="100"/>
          <a:sy n="82" d="100"/>
        </p:scale>
        <p:origin x="3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1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8F54F192-248C-4A58-B9DD-6D4854AD626C}" type="datetimeFigureOut">
              <a:rPr lang="zh-CN" altLang="en-US" smtClean="0"/>
              <a:pPr/>
              <a:t>2017/12/12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8AED747-2EF4-49D3-A1F0-4B6CD604324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251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zh-CN" alt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endParaRPr lang="en-US" altLang="zh-CN"/>
          </a:p>
        </p:txBody>
      </p:sp>
      <p:sp>
        <p:nvSpPr>
          <p:cNvPr id="142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42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2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en-US" altLang="zh-CN"/>
          </a:p>
        </p:txBody>
      </p:sp>
      <p:sp>
        <p:nvSpPr>
          <p:cNvPr id="142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fld id="{C0BAB51E-542F-4309-B8DF-41BB7F180D0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95935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AB51E-542F-4309-B8DF-41BB7F180D00}" type="slidenum">
              <a:rPr lang="zh-CN" altLang="en-US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1080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457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5930900" y="6384925"/>
            <a:ext cx="2895600" cy="244475"/>
          </a:xfrm>
        </p:spPr>
        <p:txBody>
          <a:bodyPr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lvl1pPr>
          </a:lstStyle>
          <a:p>
            <a:r>
              <a:rPr lang="en-US" altLang="zh-CN" smtClean="0"/>
              <a:t>www.themegallery.com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3124200" y="6477000"/>
            <a:ext cx="1828800" cy="244475"/>
          </a:xfrm>
        </p:spPr>
        <p:txBody>
          <a:bodyPr/>
          <a:lstStyle>
            <a:lvl1pPr>
              <a:defRPr/>
            </a:lvl1pPr>
          </a:lstStyle>
          <a:p>
            <a:fld id="{EB199F51-19EA-4878-9F53-2990CFB631B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873375" y="4038600"/>
            <a:ext cx="5584825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2819400" y="3276600"/>
            <a:ext cx="5791200" cy="68262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20" name="Text Box 48"/>
          <p:cNvSpPr txBox="1">
            <a:spLocks noChangeArrowheads="1"/>
          </p:cNvSpPr>
          <p:nvPr/>
        </p:nvSpPr>
        <p:spPr bwMode="gray">
          <a:xfrm>
            <a:off x="6019800" y="5934075"/>
            <a:ext cx="2832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800" i="1">
                <a:solidFill>
                  <a:schemeClr val="accent1"/>
                </a:solidFill>
                <a:ea typeface="宋体" pitchFamily="2" charset="-122"/>
              </a:rPr>
              <a:t>LOGO</a:t>
            </a:r>
          </a:p>
        </p:txBody>
      </p:sp>
    </p:spTree>
  </p:cSld>
  <p:clrMapOvr>
    <a:masterClrMapping/>
  </p:clrMapOvr>
  <p:transition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0A1FF-8927-450B-A360-23049E3230E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1CD88-84E4-4F4C-A1B8-DFF43B59CA8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295400"/>
            <a:ext cx="4076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93F786-5748-403A-B65D-2D58BA76C53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0DA2BD-64A8-475B-8174-9DB53006163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13E073-51B2-409C-9CC6-2676692609A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4F34BE-B442-4F67-B04E-086D010E6D8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EDA81-DDCE-406C-B24A-15D5956109F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B21C80-05A1-44E3-B6D0-233F1D1BBAE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9CCDD-42E8-43F9-AF82-EE697B321F7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2750" y="457200"/>
            <a:ext cx="207645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9195A1-1D12-4407-9C83-1405FB60D50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2954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62500" y="37338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3A9918A6-FB9D-4345-84D7-C631E1A5083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295400"/>
            <a:ext cx="40767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650D3909-0FDA-4EAF-87C6-835B97781AD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33400" y="457200"/>
            <a:ext cx="8305800" cy="5562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C6A1BD1A-F58C-43C7-85A7-8B00F5A8513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2954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33400" y="37338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62500" y="37338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DD45B94A-8FB4-4F06-8AC9-465CA2EEC8F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305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3048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5943600" y="63246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29718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fld id="{4D9FABDE-4B4D-46A8-B385-35D6A85939D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1828800" y="457200"/>
            <a:ext cx="69342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69" name="Text Box 45"/>
          <p:cNvSpPr txBox="1">
            <a:spLocks noChangeArrowheads="1"/>
          </p:cNvSpPr>
          <p:nvPr/>
        </p:nvSpPr>
        <p:spPr bwMode="black">
          <a:xfrm>
            <a:off x="7196138" y="5943600"/>
            <a:ext cx="1643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800" i="1">
                <a:solidFill>
                  <a:schemeClr val="accent1"/>
                </a:solidFill>
                <a:ea typeface="宋体" pitchFamily="2" charset="-122"/>
              </a:rPr>
              <a:t>LOGO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split dir="in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2438400"/>
            <a:ext cx="7086600" cy="1292225"/>
          </a:xfrm>
        </p:spPr>
        <p:txBody>
          <a:bodyPr/>
          <a:lstStyle/>
          <a:p>
            <a:pPr algn="ctr"/>
            <a:r>
              <a:rPr lang="en-US" altLang="zh-CN" sz="6000" spc="3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6000" spc="3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软件设计与开发</a:t>
            </a:r>
            <a:endParaRPr lang="en-US" altLang="zh-CN" sz="6000" spc="30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514600" y="4114800"/>
            <a:ext cx="4114800" cy="1447800"/>
          </a:xfrm>
        </p:spPr>
        <p:txBody>
          <a:bodyPr/>
          <a:lstStyle/>
          <a:p>
            <a:pPr algn="ctr"/>
            <a:r>
              <a:rPr lang="zh-CN" altLang="en-US" sz="3200" dirty="0">
                <a:solidFill>
                  <a:schemeClr val="tx2"/>
                </a:solidFill>
                <a:ea typeface="华文仿宋" pitchFamily="2" charset="-122"/>
              </a:rPr>
              <a:t>城市与环境科学学院</a:t>
            </a:r>
            <a:endParaRPr lang="en-US" altLang="zh-CN" sz="3200" dirty="0">
              <a:solidFill>
                <a:schemeClr val="tx2"/>
              </a:solidFill>
              <a:ea typeface="华文仿宋" pitchFamily="2" charset="-122"/>
            </a:endParaRPr>
          </a:p>
          <a:p>
            <a:pPr algn="ctr"/>
            <a:r>
              <a:rPr lang="en-US" altLang="zh-CN" sz="3200" dirty="0">
                <a:solidFill>
                  <a:schemeClr val="tx2"/>
                </a:solidFill>
                <a:ea typeface="华文仿宋" pitchFamily="2" charset="-122"/>
              </a:rPr>
              <a:t>GIS</a:t>
            </a:r>
            <a:r>
              <a:rPr lang="zh-CN" altLang="en-US" sz="3200">
                <a:solidFill>
                  <a:schemeClr val="tx2"/>
                </a:solidFill>
                <a:ea typeface="华文仿宋" pitchFamily="2" charset="-122"/>
              </a:rPr>
              <a:t>教研室</a:t>
            </a:r>
          </a:p>
          <a:p>
            <a:pPr algn="ctr"/>
            <a:endParaRPr lang="zh-CN" altLang="en-US" sz="3200" dirty="0">
              <a:solidFill>
                <a:schemeClr val="tx2"/>
              </a:solidFill>
              <a:ea typeface="华文仿宋" pitchFamily="2" charset="-122"/>
            </a:endParaRPr>
          </a:p>
        </p:txBody>
      </p:sp>
      <p:sp>
        <p:nvSpPr>
          <p:cNvPr id="9" name="Line 95"/>
          <p:cNvSpPr>
            <a:spLocks noChangeShapeType="1"/>
          </p:cNvSpPr>
          <p:nvPr/>
        </p:nvSpPr>
        <p:spPr bwMode="auto">
          <a:xfrm>
            <a:off x="468000" y="1219200"/>
            <a:ext cx="8676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5" name="图片 14" descr="学校图标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"/>
            <a:ext cx="9144000" cy="86143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199F51-19EA-4878-9F53-2990CFB631B3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457200"/>
            <a:ext cx="2743200" cy="563563"/>
          </a:xfrm>
        </p:spPr>
        <p:txBody>
          <a:bodyPr/>
          <a:lstStyle/>
          <a:p>
            <a:r>
              <a:rPr lang="zh-CN" altLang="en-US" sz="4800" dirty="0" smtClean="0">
                <a:ea typeface="黑体" pitchFamily="2" charset="-122"/>
              </a:rPr>
              <a:t>授课内容</a:t>
            </a:r>
            <a:endParaRPr lang="en-US" altLang="zh-CN" sz="4800" dirty="0">
              <a:solidFill>
                <a:schemeClr val="accent1"/>
              </a:solidFill>
              <a:ea typeface="黑体" pitchFamily="2" charset="-122"/>
            </a:endParaRPr>
          </a:p>
        </p:txBody>
      </p:sp>
      <p:sp>
        <p:nvSpPr>
          <p:cNvPr id="72707" name="Line 3"/>
          <p:cNvSpPr>
            <a:spLocks noChangeShapeType="1"/>
          </p:cNvSpPr>
          <p:nvPr/>
        </p:nvSpPr>
        <p:spPr bwMode="auto">
          <a:xfrm>
            <a:off x="2286000" y="214947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2525713" y="1676400"/>
            <a:ext cx="334168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概述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81200" y="1682750"/>
            <a:ext cx="468313" cy="468313"/>
            <a:chOff x="662" y="1574"/>
            <a:chExt cx="480" cy="476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12" name="Oval 8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3" name="Oval 9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4" name="Oval 10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5" name="Oval 11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17" name="Oval 13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" name="Group 14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19" name="Oval 15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0" name="Oval 16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1" name="Oval 17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2" name="Oval 18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23" name="Text Box 19"/>
          <p:cNvSpPr txBox="1">
            <a:spLocks noChangeArrowheads="1"/>
          </p:cNvSpPr>
          <p:nvPr/>
        </p:nvSpPr>
        <p:spPr bwMode="gray">
          <a:xfrm>
            <a:off x="2057400" y="16922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>
            <a:off x="2286000" y="2648247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5" name="Text Box 21"/>
          <p:cNvSpPr txBox="1">
            <a:spLocks noChangeArrowheads="1"/>
          </p:cNvSpPr>
          <p:nvPr/>
        </p:nvSpPr>
        <p:spPr bwMode="auto">
          <a:xfrm>
            <a:off x="2514600" y="2205335"/>
            <a:ext cx="3581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用户界面定制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72726" name="Line 22"/>
          <p:cNvSpPr>
            <a:spLocks noChangeShapeType="1"/>
          </p:cNvSpPr>
          <p:nvPr/>
        </p:nvSpPr>
        <p:spPr bwMode="auto">
          <a:xfrm>
            <a:off x="2286000" y="3124200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7" name="Text Box 23"/>
          <p:cNvSpPr txBox="1">
            <a:spLocks noChangeArrowheads="1"/>
          </p:cNvSpPr>
          <p:nvPr/>
        </p:nvSpPr>
        <p:spPr bwMode="auto">
          <a:xfrm>
            <a:off x="2514600" y="2693988"/>
            <a:ext cx="4724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地图的组成与显示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72728" name="Line 24"/>
          <p:cNvSpPr>
            <a:spLocks noChangeShapeType="1"/>
          </p:cNvSpPr>
          <p:nvPr/>
        </p:nvSpPr>
        <p:spPr bwMode="auto">
          <a:xfrm>
            <a:off x="2286000" y="404306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9" name="Text Box 25"/>
          <p:cNvSpPr txBox="1">
            <a:spLocks noChangeArrowheads="1"/>
          </p:cNvSpPr>
          <p:nvPr/>
        </p:nvSpPr>
        <p:spPr bwMode="auto">
          <a:xfrm>
            <a:off x="2514600" y="3207048"/>
            <a:ext cx="51816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 smtClean="0">
                <a:ea typeface="宋体" pitchFamily="2" charset="-122"/>
              </a:rPr>
              <a:t>AO</a:t>
            </a:r>
            <a:r>
              <a:rPr lang="zh-CN" altLang="en-US" sz="2400" dirty="0" smtClean="0">
                <a:ea typeface="宋体" pitchFamily="2" charset="-122"/>
              </a:rPr>
              <a:t>的控件</a:t>
            </a:r>
            <a:endParaRPr lang="en-US" altLang="zh-CN" sz="2400" dirty="0">
              <a:ea typeface="宋体" pitchFamily="2" charset="-122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992313" y="2191047"/>
            <a:ext cx="468312" cy="468313"/>
            <a:chOff x="816" y="2400"/>
            <a:chExt cx="480" cy="476"/>
          </a:xfrm>
        </p:grpSpPr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72733" name="Oval 29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34" name="Oval 30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35" name="Oval 31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36" name="Oval 32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33"/>
            <p:cNvGrpSpPr>
              <a:grpSpLocks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72738" name="Oval 34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9" name="Group 35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40" name="Oval 36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41" name="Oval 37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42" name="Oval 38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43" name="Oval 39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" name="Group 42"/>
          <p:cNvGrpSpPr>
            <a:grpSpLocks/>
          </p:cNvGrpSpPr>
          <p:nvPr/>
        </p:nvGrpSpPr>
        <p:grpSpPr bwMode="auto">
          <a:xfrm>
            <a:off x="1981200" y="2667000"/>
            <a:ext cx="468313" cy="468313"/>
            <a:chOff x="662" y="1574"/>
            <a:chExt cx="480" cy="476"/>
          </a:xfrm>
        </p:grpSpPr>
        <p:grpSp>
          <p:nvGrpSpPr>
            <p:cNvPr id="11" name="Group 43"/>
            <p:cNvGrpSpPr>
              <a:grpSpLocks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48" name="Oval 44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49" name="Oval 45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50" name="Oval 46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51" name="Oval 47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" name="Group 48"/>
            <p:cNvGrpSpPr>
              <a:grpSpLocks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53" name="Oval 49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3" name="Group 50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55" name="Oval 51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6" name="Oval 52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7" name="Oval 53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8" name="Oval 54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59" name="Text Box 55"/>
          <p:cNvSpPr txBox="1">
            <a:spLocks noChangeAspect="1" noChangeArrowheads="1"/>
          </p:cNvSpPr>
          <p:nvPr/>
        </p:nvSpPr>
        <p:spPr bwMode="gray">
          <a:xfrm>
            <a:off x="2057400" y="2727325"/>
            <a:ext cx="304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3</a:t>
            </a:r>
          </a:p>
        </p:txBody>
      </p:sp>
      <p:grpSp>
        <p:nvGrpSpPr>
          <p:cNvPr id="14" name="Group 57"/>
          <p:cNvGrpSpPr>
            <a:grpSpLocks noChangeAspect="1"/>
          </p:cNvGrpSpPr>
          <p:nvPr/>
        </p:nvGrpSpPr>
        <p:grpSpPr bwMode="auto">
          <a:xfrm>
            <a:off x="1981200" y="3200400"/>
            <a:ext cx="468313" cy="468313"/>
            <a:chOff x="816" y="2400"/>
            <a:chExt cx="480" cy="476"/>
          </a:xfrm>
        </p:grpSpPr>
        <p:grpSp>
          <p:nvGrpSpPr>
            <p:cNvPr id="15" name="Group 58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72763" name="Oval 59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64" name="Oval 6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65" name="Oval 61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66" name="Oval 62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" name="Group 63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72768" name="Oval 64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7" name="Group 65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70" name="Oval 66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71" name="Oval 67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72" name="Oval 68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73" name="Oval 69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74" name="Text Box 70"/>
          <p:cNvSpPr txBox="1">
            <a:spLocks noChangeArrowheads="1"/>
          </p:cNvSpPr>
          <p:nvPr/>
        </p:nvSpPr>
        <p:spPr bwMode="gray">
          <a:xfrm>
            <a:off x="2036763" y="32607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2778" name="Line 74"/>
          <p:cNvSpPr>
            <a:spLocks noChangeShapeType="1"/>
          </p:cNvSpPr>
          <p:nvPr/>
        </p:nvSpPr>
        <p:spPr bwMode="auto">
          <a:xfrm>
            <a:off x="2286000" y="3592513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79" name="Text Box 75"/>
          <p:cNvSpPr txBox="1">
            <a:spLocks noChangeArrowheads="1"/>
          </p:cNvSpPr>
          <p:nvPr/>
        </p:nvSpPr>
        <p:spPr bwMode="auto">
          <a:xfrm>
            <a:off x="2514600" y="3653135"/>
            <a:ext cx="4495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 err="1" smtClean="0">
                <a:ea typeface="宋体" pitchFamily="2" charset="-122"/>
              </a:rPr>
              <a:t>Geodatabase</a:t>
            </a:r>
            <a:r>
              <a:rPr lang="zh-CN" altLang="en-US" sz="2400" dirty="0" smtClean="0">
                <a:ea typeface="宋体" pitchFamily="2" charset="-122"/>
              </a:rPr>
              <a:t>模型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18" name="Group 77"/>
          <p:cNvGrpSpPr>
            <a:grpSpLocks noChangeAspect="1"/>
          </p:cNvGrpSpPr>
          <p:nvPr/>
        </p:nvGrpSpPr>
        <p:grpSpPr bwMode="auto">
          <a:xfrm>
            <a:off x="1981200" y="3655715"/>
            <a:ext cx="468313" cy="463550"/>
            <a:chOff x="662" y="1574"/>
            <a:chExt cx="480" cy="476"/>
          </a:xfrm>
        </p:grpSpPr>
        <p:grpSp>
          <p:nvGrpSpPr>
            <p:cNvPr id="19" name="Group 78"/>
            <p:cNvGrpSpPr>
              <a:grpSpLocks noChangeAspect="1"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83" name="Oval 79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4" name="Oval 8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5" name="Oval 81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6" name="Oval 82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" name="Group 83"/>
            <p:cNvGrpSpPr>
              <a:grpSpLocks noChangeAspect="1"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88" name="Oval 84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1" name="Group 85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90" name="Oval 86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91" name="Oval 87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92" name="Oval 88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93" name="Oval 89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94" name="Text Box 90"/>
          <p:cNvSpPr txBox="1">
            <a:spLocks noChangeAspect="1" noChangeArrowheads="1"/>
          </p:cNvSpPr>
          <p:nvPr/>
        </p:nvSpPr>
        <p:spPr bwMode="gray">
          <a:xfrm>
            <a:off x="2057400" y="3704927"/>
            <a:ext cx="304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5</a:t>
            </a:r>
          </a:p>
        </p:txBody>
      </p:sp>
      <p:sp>
        <p:nvSpPr>
          <p:cNvPr id="72797" name="Text Box 93"/>
          <p:cNvSpPr txBox="1">
            <a:spLocks noChangeArrowheads="1"/>
          </p:cNvSpPr>
          <p:nvPr/>
        </p:nvSpPr>
        <p:spPr bwMode="gray">
          <a:xfrm>
            <a:off x="2057400" y="2211685"/>
            <a:ext cx="284163" cy="360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72799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00" name="Line 96"/>
          <p:cNvSpPr>
            <a:spLocks noChangeShapeType="1"/>
          </p:cNvSpPr>
          <p:nvPr/>
        </p:nvSpPr>
        <p:spPr bwMode="auto">
          <a:xfrm>
            <a:off x="2286000" y="451167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01" name="Text Box 97"/>
          <p:cNvSpPr txBox="1">
            <a:spLocks noChangeArrowheads="1"/>
          </p:cNvSpPr>
          <p:nvPr/>
        </p:nvSpPr>
        <p:spPr bwMode="auto">
          <a:xfrm>
            <a:off x="2514600" y="4110335"/>
            <a:ext cx="46482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dirty="0" smtClean="0">
                <a:ea typeface="宋体" pitchFamily="2" charset="-122"/>
              </a:rPr>
              <a:t>Geometry—</a:t>
            </a:r>
            <a:r>
              <a:rPr lang="zh-CN" altLang="en-US" sz="2400" dirty="0" smtClean="0">
                <a:ea typeface="宋体" pitchFamily="2" charset="-122"/>
              </a:rPr>
              <a:t>几何形体对象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22" name="Group 98"/>
          <p:cNvGrpSpPr>
            <a:grpSpLocks noChangeAspect="1"/>
          </p:cNvGrpSpPr>
          <p:nvPr/>
        </p:nvGrpSpPr>
        <p:grpSpPr bwMode="auto">
          <a:xfrm>
            <a:off x="1992313" y="4081463"/>
            <a:ext cx="468312" cy="468312"/>
            <a:chOff x="816" y="2400"/>
            <a:chExt cx="480" cy="476"/>
          </a:xfrm>
        </p:grpSpPr>
        <p:grpSp>
          <p:nvGrpSpPr>
            <p:cNvPr id="23" name="Group 99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72804" name="Oval 10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05" name="Oval 101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06" name="Oval 102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07" name="Oval 103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" name="Group 104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72809" name="Oval 105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5" name="Group 106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811" name="Oval 107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812" name="Oval 108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813" name="Oval 109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814" name="Oval 110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815" name="Text Box 111"/>
          <p:cNvSpPr txBox="1">
            <a:spLocks noChangeArrowheads="1"/>
          </p:cNvSpPr>
          <p:nvPr/>
        </p:nvSpPr>
        <p:spPr bwMode="gray">
          <a:xfrm>
            <a:off x="2057400" y="41306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6</a:t>
            </a:r>
          </a:p>
        </p:txBody>
      </p:sp>
      <p:sp>
        <p:nvSpPr>
          <p:cNvPr id="101" name="Line 96"/>
          <p:cNvSpPr>
            <a:spLocks noChangeShapeType="1"/>
          </p:cNvSpPr>
          <p:nvPr/>
        </p:nvSpPr>
        <p:spPr bwMode="auto">
          <a:xfrm>
            <a:off x="2274887" y="5029200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Text Box 97"/>
          <p:cNvSpPr txBox="1">
            <a:spLocks noChangeArrowheads="1"/>
          </p:cNvSpPr>
          <p:nvPr/>
        </p:nvSpPr>
        <p:spPr bwMode="auto">
          <a:xfrm>
            <a:off x="2514600" y="4643735"/>
            <a:ext cx="23622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 smtClean="0">
                <a:ea typeface="宋体" pitchFamily="2" charset="-122"/>
              </a:rPr>
              <a:t>Raster</a:t>
            </a:r>
            <a:r>
              <a:rPr lang="zh-CN" altLang="en-US" sz="2400" dirty="0" smtClean="0">
                <a:ea typeface="宋体" pitchFamily="2" charset="-122"/>
              </a:rPr>
              <a:t>数据介绍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103" name="Group 98"/>
          <p:cNvGrpSpPr>
            <a:grpSpLocks noChangeAspect="1"/>
          </p:cNvGrpSpPr>
          <p:nvPr/>
        </p:nvGrpSpPr>
        <p:grpSpPr bwMode="auto">
          <a:xfrm>
            <a:off x="1981200" y="4560888"/>
            <a:ext cx="468312" cy="468312"/>
            <a:chOff x="816" y="2400"/>
            <a:chExt cx="480" cy="476"/>
          </a:xfrm>
        </p:grpSpPr>
        <p:grpSp>
          <p:nvGrpSpPr>
            <p:cNvPr id="104" name="Group 99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112" name="Oval 10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" name="Oval 101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4" name="Oval 102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5" name="Oval 103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05" name="Group 104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106" name="Oval 105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07" name="Group 106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108" name="Oval 107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" name="Oval 108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Oval 109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" name="Oval 110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16" name="Text Box 111"/>
          <p:cNvSpPr txBox="1">
            <a:spLocks noChangeArrowheads="1"/>
          </p:cNvSpPr>
          <p:nvPr/>
        </p:nvSpPr>
        <p:spPr bwMode="gray">
          <a:xfrm>
            <a:off x="2046287" y="4610100"/>
            <a:ext cx="32733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 smtClean="0">
                <a:solidFill>
                  <a:schemeClr val="bg1"/>
                </a:solidFill>
                <a:ea typeface="宋体" pitchFamily="2" charset="-122"/>
              </a:rPr>
              <a:t>7</a:t>
            </a:r>
            <a:endParaRPr lang="en-US" altLang="zh-CN" sz="2000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19" name="Line 96"/>
          <p:cNvSpPr>
            <a:spLocks noChangeShapeType="1"/>
          </p:cNvSpPr>
          <p:nvPr/>
        </p:nvSpPr>
        <p:spPr bwMode="auto">
          <a:xfrm>
            <a:off x="2274887" y="5497512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" name="Text Box 97"/>
          <p:cNvSpPr txBox="1">
            <a:spLocks noChangeArrowheads="1"/>
          </p:cNvSpPr>
          <p:nvPr/>
        </p:nvSpPr>
        <p:spPr bwMode="auto">
          <a:xfrm>
            <a:off x="2514600" y="5112047"/>
            <a:ext cx="23622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实例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121" name="Group 98"/>
          <p:cNvGrpSpPr>
            <a:grpSpLocks noChangeAspect="1"/>
          </p:cNvGrpSpPr>
          <p:nvPr/>
        </p:nvGrpSpPr>
        <p:grpSpPr bwMode="auto">
          <a:xfrm>
            <a:off x="1981200" y="5029200"/>
            <a:ext cx="468312" cy="468312"/>
            <a:chOff x="816" y="2400"/>
            <a:chExt cx="480" cy="476"/>
          </a:xfrm>
        </p:grpSpPr>
        <p:grpSp>
          <p:nvGrpSpPr>
            <p:cNvPr id="122" name="Group 99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130" name="Oval 10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1" name="Oval 101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2" name="Oval 102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" name="Oval 103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3" name="Group 104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124" name="Oval 105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25" name="Group 106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126" name="Oval 107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7" name="Oval 108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8" name="Oval 109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9" name="Oval 110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34" name="Text Box 111"/>
          <p:cNvSpPr txBox="1">
            <a:spLocks noChangeArrowheads="1"/>
          </p:cNvSpPr>
          <p:nvPr/>
        </p:nvSpPr>
        <p:spPr bwMode="gray">
          <a:xfrm>
            <a:off x="2046287" y="5078412"/>
            <a:ext cx="32733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 smtClean="0">
                <a:solidFill>
                  <a:schemeClr val="bg1"/>
                </a:solidFill>
                <a:ea typeface="宋体" pitchFamily="2" charset="-122"/>
              </a:rPr>
              <a:t>8</a:t>
            </a:r>
            <a:endParaRPr lang="en-US" altLang="zh-CN" sz="2000" dirty="0">
              <a:solidFill>
                <a:schemeClr val="bg1"/>
              </a:solidFill>
              <a:ea typeface="宋体" pitchFamily="2" charset="-122"/>
            </a:endParaRPr>
          </a:p>
        </p:txBody>
      </p:sp>
      <p:pic>
        <p:nvPicPr>
          <p:cNvPr id="135" name="内容占位符 6" descr="师大图标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43000"/>
            <a:ext cx="800000" cy="800000"/>
          </a:xfrm>
        </p:spPr>
      </p:pic>
      <p:sp>
        <p:nvSpPr>
          <p:cNvPr id="136" name="圆角矩形 135"/>
          <p:cNvSpPr/>
          <p:nvPr/>
        </p:nvSpPr>
        <p:spPr bwMode="auto">
          <a:xfrm>
            <a:off x="2438400" y="3124200"/>
            <a:ext cx="3200400" cy="457200"/>
          </a:xfrm>
          <a:prstGeom prst="roundRect">
            <a:avLst/>
          </a:prstGeom>
          <a:solidFill>
            <a:schemeClr val="accent5">
              <a:lumMod val="90000"/>
              <a:alpha val="58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AO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控件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latin typeface="+mj-lt"/>
                <a:ea typeface="黑体" pitchFamily="2" charset="-122"/>
              </a:rPr>
              <a:t>快速开发独立</a:t>
            </a:r>
            <a:r>
              <a:rPr lang="en-US" altLang="zh-CN" dirty="0" smtClean="0">
                <a:latin typeface="+mj-lt"/>
                <a:ea typeface="黑体" pitchFamily="2" charset="-122"/>
              </a:rPr>
              <a:t>GIS</a:t>
            </a:r>
            <a:r>
              <a:rPr lang="zh-CN" altLang="en-US" dirty="0" smtClean="0">
                <a:latin typeface="+mj-lt"/>
                <a:ea typeface="黑体" pitchFamily="2" charset="-122"/>
              </a:rPr>
              <a:t>应用程序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5" name="组合 14"/>
          <p:cNvGrpSpPr/>
          <p:nvPr/>
        </p:nvGrpSpPr>
        <p:grpSpPr>
          <a:xfrm>
            <a:off x="5410200" y="2133600"/>
            <a:ext cx="3124200" cy="4202907"/>
            <a:chOff x="5410200" y="2133600"/>
            <a:chExt cx="3124200" cy="4202907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/>
            <a:srcRect l="1563" t="48609" r="81064" b="19138"/>
            <a:stretch>
              <a:fillRect/>
            </a:stretch>
          </p:blipFill>
          <p:spPr bwMode="auto">
            <a:xfrm>
              <a:off x="5410200" y="2133600"/>
              <a:ext cx="3124200" cy="42029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" name="圆角矩形 10"/>
            <p:cNvSpPr/>
            <p:nvPr/>
          </p:nvSpPr>
          <p:spPr bwMode="auto">
            <a:xfrm>
              <a:off x="5486400" y="2590800"/>
              <a:ext cx="2819400" cy="1524000"/>
            </a:xfrm>
            <a:prstGeom prst="roundRect">
              <a:avLst/>
            </a:prstGeom>
            <a:solidFill>
              <a:srgbClr val="FFC000">
                <a:alpha val="3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2" name="圆角矩形 11"/>
            <p:cNvSpPr/>
            <p:nvPr/>
          </p:nvSpPr>
          <p:spPr bwMode="auto">
            <a:xfrm>
              <a:off x="5486400" y="5181600"/>
              <a:ext cx="2819400" cy="304800"/>
            </a:xfrm>
            <a:prstGeom prst="roundRect">
              <a:avLst/>
            </a:prstGeom>
            <a:solidFill>
              <a:srgbClr val="FFC000">
                <a:alpha val="3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4" name="圆角矩形 13"/>
            <p:cNvSpPr/>
            <p:nvPr/>
          </p:nvSpPr>
          <p:spPr bwMode="auto">
            <a:xfrm>
              <a:off x="5486400" y="4876800"/>
              <a:ext cx="2819400" cy="304800"/>
            </a:xfrm>
            <a:prstGeom prst="roundRect">
              <a:avLst/>
            </a:prstGeom>
            <a:solidFill>
              <a:srgbClr val="FF0000">
                <a:alpha val="3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MapControl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ea typeface="黑体" pitchFamily="2" charset="-122"/>
              </a:rPr>
              <a:t>地理数据的显示和分析，相当于</a:t>
            </a:r>
            <a:r>
              <a:rPr lang="en-US" altLang="zh-CN" dirty="0" err="1" smtClean="0">
                <a:ea typeface="黑体" pitchFamily="2" charset="-122"/>
              </a:rPr>
              <a:t>ArcMap</a:t>
            </a:r>
            <a:r>
              <a:rPr lang="zh-CN" altLang="en-US" dirty="0" smtClean="0">
                <a:ea typeface="黑体" pitchFamily="2" charset="-122"/>
              </a:rPr>
              <a:t>中的数据视图</a:t>
            </a:r>
            <a:endParaRPr lang="en-US" altLang="zh-CN" dirty="0" smtClean="0"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solidFill>
                  <a:schemeClr val="tx1"/>
                </a:solidFill>
                <a:ea typeface="黑体" pitchFamily="2" charset="-122"/>
              </a:rPr>
              <a:t>IMapControl</a:t>
            </a:r>
            <a:r>
              <a:rPr lang="zh-CN" altLang="en-US" dirty="0" smtClean="0">
                <a:solidFill>
                  <a:schemeClr val="tx1"/>
                </a:solidFill>
                <a:ea typeface="黑体" pitchFamily="2" charset="-122"/>
              </a:rPr>
              <a:t>接口</a:t>
            </a:r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组合 11"/>
          <p:cNvGrpSpPr/>
          <p:nvPr/>
        </p:nvGrpSpPr>
        <p:grpSpPr>
          <a:xfrm>
            <a:off x="1752600" y="2667000"/>
            <a:ext cx="7105650" cy="3886200"/>
            <a:chOff x="1752600" y="2667000"/>
            <a:chExt cx="7105650" cy="3886200"/>
          </a:xfrm>
        </p:grpSpPr>
        <p:sp>
          <p:nvSpPr>
            <p:cNvPr id="9" name="圆角右箭头 8"/>
            <p:cNvSpPr/>
            <p:nvPr/>
          </p:nvSpPr>
          <p:spPr bwMode="auto">
            <a:xfrm>
              <a:off x="3124200" y="5257800"/>
              <a:ext cx="990600" cy="381000"/>
            </a:xfrm>
            <a:prstGeom prst="bentArrow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5400000" lon="0" rev="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752600" y="2667000"/>
              <a:ext cx="7105650" cy="3886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" name="矩形 10"/>
            <p:cNvSpPr/>
            <p:nvPr/>
          </p:nvSpPr>
          <p:spPr bwMode="auto">
            <a:xfrm>
              <a:off x="3657600" y="3276600"/>
              <a:ext cx="5029200" cy="3124200"/>
            </a:xfrm>
            <a:prstGeom prst="rect">
              <a:avLst/>
            </a:prstGeom>
            <a:solidFill>
              <a:srgbClr val="FF0000">
                <a:alpha val="32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CN" dirty="0" smtClean="0"/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CN" dirty="0" smtClean="0"/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600" b="1" i="0" u="none" strike="noStrike" cap="none" normalizeH="0" baseline="0" dirty="0" err="1" smtClean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/>
                  <a:latin typeface="Arial" pitchFamily="34" charset="0"/>
                </a:rPr>
                <a:t>MapControl</a:t>
              </a:r>
              <a:endParaRPr kumimoji="0" lang="zh-CN" altLang="en-US" sz="3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Arial" pitchFamily="34" charset="0"/>
              </a:endParaRPr>
            </a:p>
          </p:txBody>
        </p:sp>
      </p:grp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MapControl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altLang="zh-CN" dirty="0" smtClean="0">
                <a:solidFill>
                  <a:schemeClr val="tx1"/>
                </a:solidFill>
                <a:ea typeface="黑体" pitchFamily="2" charset="-122"/>
              </a:rPr>
              <a:t>IMapControl4</a:t>
            </a:r>
            <a:r>
              <a:rPr lang="zh-CN" altLang="en-US" dirty="0" smtClean="0">
                <a:solidFill>
                  <a:schemeClr val="tx1"/>
                </a:solidFill>
                <a:ea typeface="黑体" pitchFamily="2" charset="-122"/>
              </a:rPr>
              <a:t>接口</a:t>
            </a:r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  <a:p>
            <a:pPr lvl="2"/>
            <a:r>
              <a:rPr lang="zh-CN" altLang="en-US" dirty="0" smtClean="0">
                <a:ea typeface="黑体" pitchFamily="2" charset="-122"/>
              </a:rPr>
              <a:t>任何与</a:t>
            </a:r>
            <a:r>
              <a:rPr lang="en-US" altLang="zh-CN" dirty="0" err="1" smtClean="0">
                <a:ea typeface="黑体" pitchFamily="2" charset="-122"/>
              </a:rPr>
              <a:t>MapControl</a:t>
            </a:r>
            <a:r>
              <a:rPr lang="zh-CN" altLang="en-US" dirty="0" smtClean="0">
                <a:ea typeface="黑体" pitchFamily="2" charset="-122"/>
              </a:rPr>
              <a:t>相关的任务的起点，如外观、设置</a:t>
            </a:r>
            <a:r>
              <a:rPr lang="en-US" altLang="zh-CN" dirty="0" smtClean="0">
                <a:ea typeface="黑体" pitchFamily="2" charset="-122"/>
              </a:rPr>
              <a:t>Map</a:t>
            </a:r>
            <a:r>
              <a:rPr lang="zh-CN" altLang="en-US" dirty="0" smtClean="0">
                <a:ea typeface="黑体" pitchFamily="2" charset="-122"/>
              </a:rPr>
              <a:t>对象或控件的显示属性，添加或管理数据图层、地图文档，绘制图形和返回</a:t>
            </a:r>
            <a:r>
              <a:rPr lang="en-US" altLang="zh-CN" dirty="0" smtClean="0">
                <a:ea typeface="黑体" pitchFamily="2" charset="-122"/>
              </a:rPr>
              <a:t>Geometry</a:t>
            </a:r>
            <a:r>
              <a:rPr lang="zh-CN" altLang="en-US" dirty="0" smtClean="0">
                <a:ea typeface="黑体" pitchFamily="2" charset="-122"/>
              </a:rPr>
              <a:t>等</a:t>
            </a:r>
            <a:endParaRPr lang="en-US" altLang="zh-CN" dirty="0" smtClean="0"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5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 l="25781" t="30189" r="3906" b="29919"/>
          <a:stretch>
            <a:fillRect/>
          </a:stretch>
        </p:blipFill>
        <p:spPr bwMode="auto">
          <a:xfrm>
            <a:off x="304800" y="3352800"/>
            <a:ext cx="8526162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MapControl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altLang="zh-CN" dirty="0" smtClean="0">
                <a:solidFill>
                  <a:schemeClr val="tx1"/>
                </a:solidFill>
                <a:ea typeface="黑体" pitchFamily="2" charset="-122"/>
              </a:rPr>
              <a:t>IMapControlEvent2</a:t>
            </a:r>
            <a:r>
              <a:rPr lang="zh-CN" altLang="en-US" dirty="0" smtClean="0">
                <a:ea typeface="黑体" pitchFamily="2" charset="-122"/>
              </a:rPr>
              <a:t>接口</a:t>
            </a:r>
            <a:endParaRPr lang="en-US" altLang="zh-CN" dirty="0" smtClean="0">
              <a:ea typeface="黑体" pitchFamily="2" charset="-122"/>
            </a:endParaRPr>
          </a:p>
          <a:p>
            <a:pPr lvl="2"/>
            <a:r>
              <a:rPr lang="zh-CN" altLang="en-US" dirty="0" smtClean="0">
                <a:ea typeface="黑体" pitchFamily="2" charset="-122"/>
              </a:rPr>
              <a:t>事件接口，定义了</a:t>
            </a:r>
            <a:r>
              <a:rPr lang="en-US" altLang="zh-CN" dirty="0" err="1" smtClean="0">
                <a:ea typeface="黑体" pitchFamily="2" charset="-122"/>
              </a:rPr>
              <a:t>MapControl</a:t>
            </a:r>
            <a:r>
              <a:rPr lang="zh-CN" altLang="en-US" dirty="0" smtClean="0">
                <a:ea typeface="黑体" pitchFamily="2" charset="-122"/>
              </a:rPr>
              <a:t>能够处理的全部事件，如</a:t>
            </a:r>
            <a:r>
              <a:rPr lang="en-US" altLang="zh-CN" dirty="0" err="1" smtClean="0">
                <a:ea typeface="黑体" pitchFamily="2" charset="-122"/>
              </a:rPr>
              <a:t>OnMouseDown</a:t>
            </a:r>
            <a:r>
              <a:rPr lang="en-US" altLang="zh-CN" dirty="0" smtClean="0">
                <a:ea typeface="黑体" pitchFamily="2" charset="-122"/>
              </a:rPr>
              <a:t>, </a:t>
            </a:r>
            <a:r>
              <a:rPr lang="en-US" altLang="zh-CN" dirty="0" err="1" smtClean="0">
                <a:ea typeface="黑体" pitchFamily="2" charset="-122"/>
              </a:rPr>
              <a:t>OnMouseMove</a:t>
            </a:r>
            <a:r>
              <a:rPr lang="en-US" altLang="zh-CN" dirty="0" smtClean="0">
                <a:ea typeface="黑体" pitchFamily="2" charset="-122"/>
              </a:rPr>
              <a:t>, </a:t>
            </a:r>
            <a:r>
              <a:rPr lang="en-US" altLang="zh-CN" dirty="0" err="1" smtClean="0">
                <a:ea typeface="黑体" pitchFamily="2" charset="-122"/>
              </a:rPr>
              <a:t>OnMouseUp</a:t>
            </a:r>
            <a:r>
              <a:rPr lang="zh-CN" altLang="en-US" dirty="0" smtClean="0">
                <a:ea typeface="黑体" pitchFamily="2" charset="-122"/>
              </a:rPr>
              <a:t>，</a:t>
            </a:r>
            <a:r>
              <a:rPr lang="en-US" altLang="zh-CN" dirty="0" smtClean="0">
                <a:ea typeface="黑体" pitchFamily="2" charset="-122"/>
              </a:rPr>
              <a:t> </a:t>
            </a:r>
            <a:r>
              <a:rPr lang="en-US" altLang="zh-CN" dirty="0" err="1" smtClean="0">
                <a:ea typeface="黑体" pitchFamily="2" charset="-122"/>
              </a:rPr>
              <a:t>OnMouseDraw</a:t>
            </a:r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6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 l="26563" t="20485" r="4687" b="48248"/>
          <a:stretch>
            <a:fillRect/>
          </a:stretch>
        </p:blipFill>
        <p:spPr bwMode="auto">
          <a:xfrm>
            <a:off x="381000" y="3200400"/>
            <a:ext cx="7861738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 l="26563" t="50883" r="4687" b="18059"/>
          <a:stretch>
            <a:fillRect/>
          </a:stretch>
        </p:blipFill>
        <p:spPr bwMode="auto">
          <a:xfrm>
            <a:off x="1295400" y="4288848"/>
            <a:ext cx="7848600" cy="2569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MapControl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ea typeface="黑体" pitchFamily="2" charset="-122"/>
              </a:rPr>
              <a:t>与</a:t>
            </a:r>
            <a:r>
              <a:rPr lang="en-US" altLang="zh-CN" dirty="0" smtClean="0">
                <a:ea typeface="黑体" pitchFamily="2" charset="-122"/>
              </a:rPr>
              <a:t>MXD</a:t>
            </a:r>
            <a:r>
              <a:rPr lang="zh-CN" altLang="en-US" dirty="0" smtClean="0">
                <a:ea typeface="黑体" pitchFamily="2" charset="-122"/>
              </a:rPr>
              <a:t>文件</a:t>
            </a:r>
            <a:endParaRPr lang="en-US" altLang="zh-CN" dirty="0" smtClean="0">
              <a:ea typeface="黑体" pitchFamily="2" charset="-122"/>
            </a:endParaRPr>
          </a:p>
          <a:p>
            <a:pPr lvl="2"/>
            <a:r>
              <a:rPr lang="zh-CN" altLang="en-US" dirty="0" smtClean="0">
                <a:ea typeface="黑体" pitchFamily="2" charset="-122"/>
              </a:rPr>
              <a:t>是</a:t>
            </a:r>
            <a:r>
              <a:rPr lang="en-US" altLang="zh-CN" dirty="0" err="1" smtClean="0">
                <a:ea typeface="黑体" pitchFamily="2" charset="-122"/>
              </a:rPr>
              <a:t>MapControl</a:t>
            </a:r>
            <a:r>
              <a:rPr lang="zh-CN" altLang="en-US" dirty="0" smtClean="0">
                <a:ea typeface="黑体" pitchFamily="2" charset="-122"/>
              </a:rPr>
              <a:t>的一个属性，可以直接用</a:t>
            </a:r>
            <a:r>
              <a:rPr lang="en-US" altLang="zh-CN" dirty="0" err="1" smtClean="0">
                <a:ea typeface="黑体" pitchFamily="2" charset="-122"/>
              </a:rPr>
              <a:t>LoadMxFile</a:t>
            </a:r>
            <a:r>
              <a:rPr lang="zh-CN" altLang="en-US" dirty="0" smtClean="0">
                <a:ea typeface="黑体" pitchFamily="2" charset="-122"/>
              </a:rPr>
              <a:t>方法载入</a:t>
            </a:r>
            <a:endParaRPr lang="en-US" altLang="zh-CN" dirty="0" smtClean="0">
              <a:ea typeface="黑体" pitchFamily="2" charset="-122"/>
            </a:endParaRPr>
          </a:p>
          <a:p>
            <a:pPr lvl="1"/>
            <a:endParaRPr lang="en-US" altLang="zh-CN" dirty="0" smtClean="0"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7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 l="14843" t="21875" r="17188" b="27084"/>
          <a:stretch>
            <a:fillRect/>
          </a:stretch>
        </p:blipFill>
        <p:spPr bwMode="auto">
          <a:xfrm>
            <a:off x="381000" y="2895600"/>
            <a:ext cx="6629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79372" y="2895600"/>
            <a:ext cx="4959827" cy="3638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右箭头 10"/>
          <p:cNvSpPr/>
          <p:nvPr/>
        </p:nvSpPr>
        <p:spPr bwMode="auto">
          <a:xfrm>
            <a:off x="2971800" y="3581400"/>
            <a:ext cx="990600" cy="304800"/>
          </a:xfrm>
          <a:prstGeom prst="rightArrow">
            <a:avLst/>
          </a:prstGeom>
          <a:solidFill>
            <a:srgbClr val="6699FF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鼠标与</a:t>
            </a:r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MapControl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的交互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ea typeface="黑体" pitchFamily="2" charset="-122"/>
              </a:rPr>
              <a:t>拖拽显示范围（放大操作）</a:t>
            </a:r>
            <a:endParaRPr lang="en-US" altLang="zh-CN" dirty="0" smtClean="0">
              <a:ea typeface="黑体" pitchFamily="2" charset="-122"/>
            </a:endParaRPr>
          </a:p>
          <a:p>
            <a:pPr lvl="2"/>
            <a:r>
              <a:rPr lang="en-US" altLang="zh-CN" dirty="0" err="1" smtClean="0">
                <a:ea typeface="黑体" pitchFamily="2" charset="-122"/>
              </a:rPr>
              <a:t>MainMapControl.Extent</a:t>
            </a:r>
            <a:r>
              <a:rPr lang="en-US" altLang="zh-CN" dirty="0" smtClean="0">
                <a:ea typeface="黑体" pitchFamily="2" charset="-122"/>
              </a:rPr>
              <a:t> = </a:t>
            </a:r>
            <a:r>
              <a:rPr lang="en-US" altLang="zh-CN" dirty="0" err="1" smtClean="0">
                <a:ea typeface="黑体" pitchFamily="2" charset="-122"/>
              </a:rPr>
              <a:t>MainMapControl.TrackRectangle</a:t>
            </a:r>
            <a:endParaRPr lang="en-US" altLang="zh-CN" dirty="0" smtClean="0">
              <a:ea typeface="黑体" pitchFamily="2" charset="-122"/>
            </a:endParaRPr>
          </a:p>
          <a:p>
            <a:pPr lvl="1"/>
            <a:r>
              <a:rPr lang="zh-CN" altLang="en-US" dirty="0" smtClean="0">
                <a:ea typeface="黑体" pitchFamily="2" charset="-122"/>
              </a:rPr>
              <a:t>移动地图</a:t>
            </a:r>
            <a:endParaRPr lang="en-US" altLang="zh-CN" dirty="0" smtClean="0">
              <a:ea typeface="黑体" pitchFamily="2" charset="-122"/>
            </a:endParaRPr>
          </a:p>
          <a:p>
            <a:pPr lvl="2"/>
            <a:r>
              <a:rPr lang="en-US" altLang="zh-CN" dirty="0" err="1" smtClean="0">
                <a:ea typeface="黑体" pitchFamily="2" charset="-122"/>
              </a:rPr>
              <a:t>MainMapControl.Pan</a:t>
            </a:r>
            <a:r>
              <a:rPr lang="zh-CN" altLang="en-US" dirty="0" smtClean="0">
                <a:ea typeface="黑体" pitchFamily="2" charset="-122"/>
              </a:rPr>
              <a:t>（）</a:t>
            </a:r>
          </a:p>
          <a:p>
            <a:pPr lvl="1"/>
            <a:r>
              <a:rPr lang="zh-CN" altLang="en-US" dirty="0" smtClean="0">
                <a:ea typeface="黑体" pitchFamily="2" charset="-122"/>
              </a:rPr>
              <a:t>绘制图形</a:t>
            </a:r>
            <a:endParaRPr lang="en-US" altLang="zh-CN" dirty="0" smtClean="0">
              <a:ea typeface="黑体" pitchFamily="2" charset="-122"/>
            </a:endParaRPr>
          </a:p>
          <a:p>
            <a:pPr lvl="1"/>
            <a:endParaRPr lang="en-US" altLang="zh-CN" dirty="0" smtClean="0">
              <a:ea typeface="黑体" pitchFamily="2" charset="-122"/>
            </a:endParaRPr>
          </a:p>
          <a:p>
            <a:pPr lvl="1"/>
            <a:endParaRPr lang="en-US" altLang="zh-CN" dirty="0" smtClean="0">
              <a:ea typeface="黑体" pitchFamily="2" charset="-122"/>
            </a:endParaRPr>
          </a:p>
          <a:p>
            <a:pPr lvl="1"/>
            <a:r>
              <a:rPr lang="zh-CN" altLang="en-US" dirty="0" smtClean="0">
                <a:ea typeface="黑体" pitchFamily="2" charset="-122"/>
              </a:rPr>
              <a:t>数据选择</a:t>
            </a:r>
            <a:endParaRPr lang="en-US" altLang="zh-CN" dirty="0" smtClean="0">
              <a:ea typeface="黑体" pitchFamily="2" charset="-122"/>
            </a:endParaRPr>
          </a:p>
          <a:p>
            <a:pPr lvl="2"/>
            <a:r>
              <a:rPr lang="en-US" altLang="zh-CN" dirty="0" err="1" smtClean="0"/>
              <a:t>pMap.SelectByShape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pEnv</a:t>
            </a:r>
            <a:r>
              <a:rPr lang="en-US" altLang="zh-CN" dirty="0" smtClean="0"/>
              <a:t>, Nothing, False)</a:t>
            </a:r>
            <a:endParaRPr lang="en-US" altLang="zh-CN" dirty="0" smtClean="0"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8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1447800" y="3886200"/>
            <a:ext cx="6901248" cy="714248"/>
          </a:xfrm>
          <a:prstGeom prst="rect">
            <a:avLst/>
          </a:prstGeom>
          <a:solidFill>
            <a:srgbClr val="CCCCCC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79350" rIns="9144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Public Sub DrawShape 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(ByVal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Courier New" pitchFamily="49" charset="0"/>
              </a:rPr>
              <a:t> </a:t>
            </a:r>
            <a:r>
              <a:rPr kumimoji="0" lang="zh-CN" altLang="zh-CN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Shape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Courier New" pitchFamily="49" charset="0"/>
              </a:rPr>
              <a:t> 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As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Courier New" pitchFamily="49" charset="0"/>
              </a:rPr>
              <a:t> 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IGeometry,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Courier New" pitchFamily="49" charset="0"/>
              </a:rPr>
              <a:t> 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[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ByRef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Courier New" pitchFamily="49" charset="0"/>
              </a:rPr>
              <a:t> </a:t>
            </a:r>
            <a:r>
              <a:rPr kumimoji="0" lang="zh-CN" altLang="zh-CN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symbol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Courier New" pitchFamily="49" charset="0"/>
              </a:rPr>
              <a:t> 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As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Courier New" pitchFamily="49" charset="0"/>
              </a:rPr>
              <a:t> 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Object]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鹰眼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ea typeface="黑体" pitchFamily="2" charset="-122"/>
              </a:rPr>
              <a:t>同步两个</a:t>
            </a:r>
            <a:r>
              <a:rPr lang="en-US" altLang="zh-CN" dirty="0" err="1" smtClean="0">
                <a:ea typeface="黑体" pitchFamily="2" charset="-122"/>
              </a:rPr>
              <a:t>MapControl</a:t>
            </a:r>
            <a:r>
              <a:rPr lang="zh-CN" altLang="en-US" dirty="0" smtClean="0">
                <a:ea typeface="黑体" pitchFamily="2" charset="-122"/>
              </a:rPr>
              <a:t>的图层数据</a:t>
            </a:r>
            <a:endParaRPr lang="en-US" altLang="zh-CN" dirty="0" smtClean="0">
              <a:ea typeface="黑体" pitchFamily="2" charset="-122"/>
            </a:endParaRPr>
          </a:p>
          <a:p>
            <a:pPr lvl="2"/>
            <a:r>
              <a:rPr lang="zh-CN" altLang="en-US" dirty="0" smtClean="0">
                <a:ea typeface="黑体" pitchFamily="2" charset="-122"/>
              </a:rPr>
              <a:t>在数据增减的时候对两个控件进行同步</a:t>
            </a:r>
            <a:endParaRPr lang="en-US" altLang="zh-CN" dirty="0" smtClean="0">
              <a:ea typeface="黑体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solidFill>
                  <a:srgbClr val="FFFF00"/>
                </a:solidFill>
              </a:rPr>
              <a:t>       Dim </a:t>
            </a:r>
            <a:r>
              <a:rPr lang="en-US" altLang="zh-CN" sz="1800" dirty="0" err="1" smtClean="0">
                <a:solidFill>
                  <a:srgbClr val="FFFF00"/>
                </a:solidFill>
              </a:rPr>
              <a:t>i</a:t>
            </a:r>
            <a:r>
              <a:rPr lang="en-US" altLang="zh-CN" sz="1800" dirty="0" smtClean="0">
                <a:solidFill>
                  <a:srgbClr val="FFFF00"/>
                </a:solidFill>
              </a:rPr>
              <a:t> As Integer</a:t>
            </a:r>
          </a:p>
          <a:p>
            <a:pPr lvl="1">
              <a:buNone/>
            </a:pPr>
            <a:r>
              <a:rPr lang="en-US" altLang="zh-CN" sz="1800" dirty="0" smtClean="0">
                <a:solidFill>
                  <a:srgbClr val="FFFF00"/>
                </a:solidFill>
              </a:rPr>
              <a:t>        For </a:t>
            </a:r>
            <a:r>
              <a:rPr lang="en-US" altLang="zh-CN" sz="1800" dirty="0" err="1" smtClean="0">
                <a:solidFill>
                  <a:srgbClr val="FFFF00"/>
                </a:solidFill>
              </a:rPr>
              <a:t>i</a:t>
            </a:r>
            <a:r>
              <a:rPr lang="en-US" altLang="zh-CN" sz="1800" dirty="0" smtClean="0">
                <a:solidFill>
                  <a:srgbClr val="FFFF00"/>
                </a:solidFill>
              </a:rPr>
              <a:t> = 0 To </a:t>
            </a:r>
            <a:r>
              <a:rPr lang="en-US" altLang="zh-CN" sz="1800" dirty="0" err="1" smtClean="0">
                <a:solidFill>
                  <a:srgbClr val="FFFF00"/>
                </a:solidFill>
              </a:rPr>
              <a:t>MainMapControl.Map.LayerCount</a:t>
            </a:r>
            <a:r>
              <a:rPr lang="en-US" altLang="zh-CN" sz="1800" dirty="0" smtClean="0">
                <a:solidFill>
                  <a:srgbClr val="FFFF00"/>
                </a:solidFill>
              </a:rPr>
              <a:t> - 1</a:t>
            </a:r>
          </a:p>
          <a:p>
            <a:pPr lvl="1">
              <a:buNone/>
            </a:pPr>
            <a:r>
              <a:rPr lang="en-US" altLang="zh-CN" sz="1800" dirty="0" smtClean="0">
                <a:solidFill>
                  <a:srgbClr val="FFFF00"/>
                </a:solidFill>
              </a:rPr>
              <a:t>            </a:t>
            </a:r>
            <a:r>
              <a:rPr lang="en-US" altLang="zh-CN" sz="1800" dirty="0" err="1" smtClean="0">
                <a:solidFill>
                  <a:srgbClr val="FFFF00"/>
                </a:solidFill>
              </a:rPr>
              <a:t>OverMapControl.AddLayer</a:t>
            </a:r>
            <a:r>
              <a:rPr lang="en-US" altLang="zh-CN" sz="1800" dirty="0" smtClean="0">
                <a:solidFill>
                  <a:srgbClr val="FFFF00"/>
                </a:solidFill>
              </a:rPr>
              <a:t>(</a:t>
            </a:r>
            <a:r>
              <a:rPr lang="en-US" altLang="zh-CN" sz="1800" dirty="0" err="1" smtClean="0">
                <a:solidFill>
                  <a:srgbClr val="FFFF00"/>
                </a:solidFill>
              </a:rPr>
              <a:t>MainMapControl.get_Layer</a:t>
            </a:r>
            <a:r>
              <a:rPr lang="en-US" altLang="zh-CN" sz="1800" dirty="0" smtClean="0">
                <a:solidFill>
                  <a:srgbClr val="FFFF00"/>
                </a:solidFill>
              </a:rPr>
              <a:t>(</a:t>
            </a:r>
            <a:r>
              <a:rPr lang="en-US" altLang="zh-CN" sz="1800" dirty="0" err="1" smtClean="0">
                <a:solidFill>
                  <a:srgbClr val="FFFF00"/>
                </a:solidFill>
              </a:rPr>
              <a:t>i</a:t>
            </a:r>
            <a:r>
              <a:rPr lang="en-US" altLang="zh-CN" sz="1800" dirty="0" smtClean="0">
                <a:solidFill>
                  <a:srgbClr val="FFFF00"/>
                </a:solidFill>
              </a:rPr>
              <a:t>))</a:t>
            </a:r>
          </a:p>
          <a:p>
            <a:pPr lvl="1">
              <a:buNone/>
            </a:pPr>
            <a:r>
              <a:rPr lang="en-US" altLang="zh-CN" sz="1800" dirty="0" smtClean="0">
                <a:solidFill>
                  <a:srgbClr val="FFFF00"/>
                </a:solidFill>
              </a:rPr>
              <a:t>        Next</a:t>
            </a:r>
            <a:endParaRPr lang="en-US" altLang="zh-CN" sz="1800" dirty="0" smtClean="0">
              <a:solidFill>
                <a:srgbClr val="FFFF00"/>
              </a:solidFill>
              <a:ea typeface="黑体" pitchFamily="2" charset="-122"/>
            </a:endParaRPr>
          </a:p>
          <a:p>
            <a:pPr lvl="1"/>
            <a:r>
              <a:rPr lang="zh-CN" altLang="en-US" dirty="0" smtClean="0">
                <a:ea typeface="黑体" pitchFamily="2" charset="-122"/>
              </a:rPr>
              <a:t>在鹰眼中用矩形框显示当前视图显示的数据范围</a:t>
            </a:r>
            <a:endParaRPr lang="en-US" altLang="zh-CN" dirty="0" smtClean="0">
              <a:ea typeface="黑体" pitchFamily="2" charset="-122"/>
            </a:endParaRPr>
          </a:p>
          <a:p>
            <a:pPr lvl="2"/>
            <a:r>
              <a:rPr lang="en-US" altLang="zh-CN" dirty="0" err="1" smtClean="0">
                <a:solidFill>
                  <a:srgbClr val="FFFF00"/>
                </a:solidFill>
                <a:ea typeface="黑体" pitchFamily="2" charset="-122"/>
              </a:rPr>
              <a:t>OnExtentUpdated</a:t>
            </a:r>
            <a:r>
              <a:rPr lang="en-US" altLang="zh-CN" dirty="0" smtClean="0">
                <a:solidFill>
                  <a:srgbClr val="FFFF00"/>
                </a:solidFill>
                <a:ea typeface="黑体" pitchFamily="2" charset="-122"/>
              </a:rPr>
              <a:t>()</a:t>
            </a:r>
            <a:r>
              <a:rPr lang="zh-CN" altLang="en-US" dirty="0" smtClean="0">
                <a:solidFill>
                  <a:srgbClr val="FFFF00"/>
                </a:solidFill>
                <a:ea typeface="黑体" pitchFamily="2" charset="-122"/>
              </a:rPr>
              <a:t>事件</a:t>
            </a:r>
            <a:endParaRPr lang="en-US" altLang="zh-CN" dirty="0" smtClean="0">
              <a:solidFill>
                <a:srgbClr val="FFFF00"/>
              </a:solidFill>
              <a:ea typeface="黑体" pitchFamily="2" charset="-122"/>
            </a:endParaRPr>
          </a:p>
          <a:p>
            <a:pPr lvl="2"/>
            <a:r>
              <a:rPr lang="zh-CN" altLang="en-US" dirty="0" smtClean="0">
                <a:ea typeface="黑体" pitchFamily="2" charset="-122"/>
              </a:rPr>
              <a:t>视图窗口的显示范围变化时触发该事件，绘制矩形框就在该事件中进行</a:t>
            </a:r>
            <a:endParaRPr lang="en-US" altLang="zh-CN" dirty="0" smtClean="0"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9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10</a:t>
            </a:fld>
            <a:endParaRPr lang="en-US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080935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标题 1"/>
          <p:cNvSpPr txBox="1">
            <a:spLocks/>
          </p:cNvSpPr>
          <p:nvPr/>
        </p:nvSpPr>
        <p:spPr bwMode="black">
          <a:xfrm>
            <a:off x="1828800" y="457200"/>
            <a:ext cx="69342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AO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的控件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鹰眼实现思路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latin typeface="+mj-lt"/>
                <a:ea typeface="黑体" pitchFamily="2" charset="-122"/>
              </a:rPr>
              <a:t>同步两个图层的数据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latin typeface="+mj-lt"/>
                <a:ea typeface="黑体" pitchFamily="2" charset="-122"/>
              </a:rPr>
              <a:t>根据主</a:t>
            </a:r>
            <a:r>
              <a:rPr lang="en-US" altLang="zh-CN" dirty="0" smtClean="0">
                <a:latin typeface="+mj-lt"/>
                <a:ea typeface="黑体" pitchFamily="2" charset="-122"/>
              </a:rPr>
              <a:t>Map</a:t>
            </a:r>
            <a:r>
              <a:rPr lang="zh-CN" altLang="en-US" dirty="0" smtClean="0">
                <a:latin typeface="+mj-lt"/>
                <a:ea typeface="黑体" pitchFamily="2" charset="-122"/>
              </a:rPr>
              <a:t>上数据显示范围在鹰眼中绘制矩形框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</a:t>
            </a:r>
            <a:r>
              <a:rPr lang="en-US" altLang="zh-CN" sz="2000" dirty="0" smtClean="0"/>
              <a:t>Private Sub </a:t>
            </a:r>
            <a:r>
              <a:rPr lang="en-US" altLang="zh-CN" sz="2000" dirty="0" err="1" smtClean="0"/>
              <a:t>MainMapControl_OnExtentUpdated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…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{</a:t>
            </a:r>
          </a:p>
          <a:p>
            <a:pPr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         Dim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pEnv</a:t>
            </a:r>
            <a:r>
              <a:rPr lang="en-US" altLang="zh-CN" sz="2000" dirty="0" smtClean="0">
                <a:solidFill>
                  <a:schemeClr val="tx1"/>
                </a:solidFill>
              </a:rPr>
              <a:t> As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IEnvelope</a:t>
            </a:r>
            <a:r>
              <a:rPr lang="en-US" altLang="zh-CN" sz="2000" dirty="0" smtClean="0">
                <a:solidFill>
                  <a:schemeClr val="tx1"/>
                </a:solidFill>
              </a:rPr>
              <a:t> =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e.newEnvelope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lvl="2">
              <a:buNone/>
            </a:pPr>
            <a:r>
              <a:rPr lang="en-US" altLang="zh-CN" dirty="0" smtClean="0"/>
              <a:t>Dim </a:t>
            </a:r>
            <a:r>
              <a:rPr lang="en-US" altLang="zh-CN" dirty="0" err="1" smtClean="0"/>
              <a:t>pRectEle</a:t>
            </a:r>
            <a:r>
              <a:rPr lang="en-US" altLang="zh-CN" dirty="0" smtClean="0"/>
              <a:t> As </a:t>
            </a:r>
            <a:r>
              <a:rPr lang="en-US" altLang="zh-CN" dirty="0" err="1" smtClean="0"/>
              <a:t>IRectangleElement</a:t>
            </a:r>
            <a:r>
              <a:rPr lang="en-US" altLang="zh-CN" dirty="0" smtClean="0"/>
              <a:t> = New </a:t>
            </a:r>
            <a:r>
              <a:rPr lang="en-US" altLang="zh-CN" dirty="0" err="1" smtClean="0"/>
              <a:t>RectangleElement</a:t>
            </a:r>
            <a:endParaRPr lang="en-US" altLang="zh-CN" dirty="0" smtClean="0"/>
          </a:p>
          <a:p>
            <a:pPr lvl="2">
              <a:buNone/>
            </a:pPr>
            <a:r>
              <a:rPr lang="en-US" altLang="zh-CN" dirty="0" smtClean="0"/>
              <a:t>Dim </a:t>
            </a:r>
            <a:r>
              <a:rPr lang="en-US" altLang="zh-CN" dirty="0" err="1" smtClean="0"/>
              <a:t>pEle</a:t>
            </a:r>
            <a:r>
              <a:rPr lang="en-US" altLang="zh-CN" dirty="0" smtClean="0"/>
              <a:t> As </a:t>
            </a:r>
            <a:r>
              <a:rPr lang="en-US" altLang="zh-CN" dirty="0" err="1" smtClean="0"/>
              <a:t>IElement</a:t>
            </a:r>
            <a:endParaRPr lang="en-US" altLang="zh-CN" dirty="0" smtClean="0"/>
          </a:p>
          <a:p>
            <a:pPr lvl="2">
              <a:buNone/>
            </a:pPr>
            <a:r>
              <a:rPr lang="en-US" altLang="zh-CN" dirty="0" err="1" smtClean="0"/>
              <a:t>pEle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pRectEle</a:t>
            </a:r>
            <a:endParaRPr lang="en-US" altLang="zh-CN" dirty="0" smtClean="0"/>
          </a:p>
          <a:p>
            <a:pPr lvl="2">
              <a:buNone/>
            </a:pPr>
            <a:r>
              <a:rPr lang="en-US" altLang="zh-CN" dirty="0" err="1" smtClean="0"/>
              <a:t>pEle.Geometry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pEnv</a:t>
            </a:r>
            <a:endParaRPr lang="en-US" altLang="zh-CN" dirty="0" smtClean="0"/>
          </a:p>
          <a:p>
            <a:pPr lvl="2">
              <a:buNone/>
            </a:pPr>
            <a:r>
              <a:rPr lang="zh-CN" altLang="en-US" dirty="0" smtClean="0"/>
              <a:t>‘符号设置</a:t>
            </a:r>
            <a:endParaRPr lang="en-US" altLang="zh-CN" dirty="0" smtClean="0"/>
          </a:p>
          <a:p>
            <a:pPr lvl="2"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‘</a:t>
            </a:r>
            <a:r>
              <a:rPr lang="zh-CN" altLang="en-US" sz="2000" dirty="0" smtClean="0">
                <a:solidFill>
                  <a:schemeClr val="tx1"/>
                </a:solidFill>
              </a:rPr>
              <a:t>添加元素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 }</a:t>
            </a:r>
          </a:p>
          <a:p>
            <a:pPr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		</a:t>
            </a:r>
            <a:endParaRPr lang="en-US" altLang="zh-CN" dirty="0" smtClean="0">
              <a:latin typeface="+mj-lt"/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11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PageLayoutControl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solidFill>
                  <a:schemeClr val="tx1"/>
                </a:solidFill>
                <a:ea typeface="黑体" pitchFamily="2" charset="-122"/>
              </a:rPr>
              <a:t>用于制图，可操作各种元素</a:t>
            </a:r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12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2362200"/>
            <a:ext cx="71056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矩形 10"/>
          <p:cNvSpPr/>
          <p:nvPr/>
        </p:nvSpPr>
        <p:spPr bwMode="auto">
          <a:xfrm>
            <a:off x="2895600" y="2971800"/>
            <a:ext cx="5029200" cy="3124200"/>
          </a:xfrm>
          <a:prstGeom prst="rect">
            <a:avLst/>
          </a:prstGeom>
          <a:solidFill>
            <a:srgbClr val="FF0000">
              <a:alpha val="3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3600" dirty="0" err="1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PageLayout</a:t>
            </a:r>
            <a:r>
              <a:rPr kumimoji="0" lang="en-US" altLang="zh-CN" sz="3600" b="1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Arial" pitchFamily="34" charset="0"/>
              </a:rPr>
              <a:t>Control</a:t>
            </a:r>
            <a:endParaRPr kumimoji="0" lang="zh-CN" altLang="en-US" sz="3600" b="1" i="0" u="none" strike="noStrike" cap="none" normalizeH="0" baseline="0" dirty="0" smtClean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PageLayoutControl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solidFill>
                  <a:schemeClr val="tx1"/>
                </a:solidFill>
                <a:ea typeface="黑体" pitchFamily="2" charset="-122"/>
              </a:rPr>
              <a:t>封装了</a:t>
            </a:r>
            <a:r>
              <a:rPr lang="en-US" altLang="zh-CN" dirty="0" err="1" smtClean="0">
                <a:solidFill>
                  <a:schemeClr val="tx1"/>
                </a:solidFill>
                <a:ea typeface="黑体" pitchFamily="2" charset="-122"/>
              </a:rPr>
              <a:t>PageLayout</a:t>
            </a:r>
            <a:r>
              <a:rPr lang="zh-CN" altLang="en-US" dirty="0" smtClean="0">
                <a:solidFill>
                  <a:schemeClr val="tx1"/>
                </a:solidFill>
                <a:ea typeface="黑体" pitchFamily="2" charset="-122"/>
              </a:rPr>
              <a:t>组件类</a:t>
            </a:r>
            <a:r>
              <a:rPr lang="en-US" altLang="zh-CN" dirty="0" smtClean="0">
                <a:solidFill>
                  <a:schemeClr val="tx1"/>
                </a:solidFill>
                <a:ea typeface="黑体" pitchFamily="2" charset="-122"/>
              </a:rPr>
              <a:t>---</a:t>
            </a:r>
            <a:r>
              <a:rPr lang="zh-CN" altLang="en-US" dirty="0" smtClean="0">
                <a:solidFill>
                  <a:schemeClr val="tx1"/>
                </a:solidFill>
                <a:ea typeface="黑体" pitchFamily="2" charset="-122"/>
              </a:rPr>
              <a:t>提供了在布局视图中控制元素的属性和方法。</a:t>
            </a:r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  <a:p>
            <a:pPr lvl="1"/>
            <a:r>
              <a:rPr lang="zh-CN" altLang="en-US" dirty="0" smtClean="0">
                <a:ea typeface="黑体" pitchFamily="2" charset="-122"/>
              </a:rPr>
              <a:t>拥有一些其他的事件、属性和方法</a:t>
            </a:r>
            <a:endParaRPr lang="en-US" altLang="zh-CN" dirty="0" smtClean="0"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13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38600" y="3048000"/>
            <a:ext cx="4572000" cy="363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PageLayoutControl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b="1" dirty="0" err="1" smtClean="0"/>
              <a:t>IPageLayout</a:t>
            </a:r>
            <a:r>
              <a:rPr lang="en-US" altLang="zh-CN" b="1" dirty="0" err="1" smtClean="0"/>
              <a:t>Control</a:t>
            </a:r>
            <a:endParaRPr lang="en-US" b="1" dirty="0" smtClean="0"/>
          </a:p>
          <a:p>
            <a:pPr lvl="1"/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14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 l="26563" t="20833" r="10156" b="17708"/>
          <a:stretch>
            <a:fillRect/>
          </a:stretch>
        </p:blipFill>
        <p:spPr bwMode="auto">
          <a:xfrm>
            <a:off x="990600" y="2251193"/>
            <a:ext cx="6324600" cy="4606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圆角矩形 10"/>
          <p:cNvSpPr/>
          <p:nvPr/>
        </p:nvSpPr>
        <p:spPr bwMode="auto">
          <a:xfrm>
            <a:off x="1219200" y="4419600"/>
            <a:ext cx="2514600" cy="381000"/>
          </a:xfrm>
          <a:prstGeom prst="roundRect">
            <a:avLst/>
          </a:prstGeom>
          <a:solidFill>
            <a:srgbClr val="FF0000">
              <a:alpha val="4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1219200" y="6324600"/>
            <a:ext cx="2514600" cy="533400"/>
          </a:xfrm>
          <a:prstGeom prst="roundRect">
            <a:avLst/>
          </a:prstGeom>
          <a:solidFill>
            <a:srgbClr val="FF0000">
              <a:alpha val="4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PageLayoutControl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b="1" dirty="0" err="1" smtClean="0"/>
              <a:t>IPageLayout</a:t>
            </a:r>
            <a:r>
              <a:rPr lang="en-US" altLang="zh-CN" b="1" dirty="0" err="1" smtClean="0"/>
              <a:t>Control</a:t>
            </a:r>
            <a:endParaRPr lang="en-US" b="1" dirty="0" smtClean="0"/>
          </a:p>
          <a:p>
            <a:pPr lvl="1"/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15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 l="26563" t="17708" r="7031" b="22917"/>
          <a:stretch>
            <a:fillRect/>
          </a:stretch>
        </p:blipFill>
        <p:spPr bwMode="auto">
          <a:xfrm>
            <a:off x="990600" y="2209800"/>
            <a:ext cx="681789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圆角矩形 10"/>
          <p:cNvSpPr/>
          <p:nvPr/>
        </p:nvSpPr>
        <p:spPr bwMode="auto">
          <a:xfrm>
            <a:off x="1219200" y="5029200"/>
            <a:ext cx="2667000" cy="1066800"/>
          </a:xfrm>
          <a:prstGeom prst="roundRect">
            <a:avLst/>
          </a:prstGeom>
          <a:solidFill>
            <a:srgbClr val="FF0000">
              <a:alpha val="4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1219200" y="3276600"/>
            <a:ext cx="2667000" cy="381000"/>
          </a:xfrm>
          <a:prstGeom prst="roundRect">
            <a:avLst/>
          </a:prstGeom>
          <a:solidFill>
            <a:srgbClr val="FF0000">
              <a:alpha val="4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PageLayoutControl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b="1" dirty="0" err="1" smtClean="0"/>
              <a:t>IPageLayout</a:t>
            </a:r>
            <a:r>
              <a:rPr lang="en-US" altLang="zh-CN" b="1" dirty="0" err="1" smtClean="0"/>
              <a:t>Control</a:t>
            </a:r>
            <a:endParaRPr lang="en-US" b="1" dirty="0" smtClean="0"/>
          </a:p>
          <a:p>
            <a:pPr lvl="1"/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16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 l="26563" t="16667" r="3125" b="11458"/>
          <a:stretch>
            <a:fillRect/>
          </a:stretch>
        </p:blipFill>
        <p:spPr bwMode="auto">
          <a:xfrm>
            <a:off x="1219200" y="2166621"/>
            <a:ext cx="6400800" cy="4615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圆角矩形 10"/>
          <p:cNvSpPr/>
          <p:nvPr/>
        </p:nvSpPr>
        <p:spPr bwMode="auto">
          <a:xfrm>
            <a:off x="1219200" y="4267200"/>
            <a:ext cx="2590800" cy="381000"/>
          </a:xfrm>
          <a:prstGeom prst="roundRect">
            <a:avLst/>
          </a:prstGeom>
          <a:solidFill>
            <a:srgbClr val="FF0000">
              <a:alpha val="4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1219200" y="5029200"/>
            <a:ext cx="2590800" cy="381000"/>
          </a:xfrm>
          <a:prstGeom prst="roundRect">
            <a:avLst/>
          </a:prstGeom>
          <a:solidFill>
            <a:srgbClr val="FF0000">
              <a:alpha val="4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" name="圆角矩形 13"/>
          <p:cNvSpPr/>
          <p:nvPr/>
        </p:nvSpPr>
        <p:spPr bwMode="auto">
          <a:xfrm>
            <a:off x="1219200" y="2819400"/>
            <a:ext cx="2590800" cy="381000"/>
          </a:xfrm>
          <a:prstGeom prst="roundRect">
            <a:avLst/>
          </a:prstGeom>
          <a:solidFill>
            <a:srgbClr val="FF0000">
              <a:alpha val="4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IPageLayout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>
              <a:buNone/>
            </a:pP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17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26563" t="17708" r="3125" b="15625"/>
          <a:stretch>
            <a:fillRect/>
          </a:stretch>
        </p:blipFill>
        <p:spPr bwMode="auto">
          <a:xfrm>
            <a:off x="1066800" y="1752600"/>
            <a:ext cx="675084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圆角矩形 10"/>
          <p:cNvSpPr/>
          <p:nvPr/>
        </p:nvSpPr>
        <p:spPr bwMode="auto">
          <a:xfrm>
            <a:off x="1219200" y="3352800"/>
            <a:ext cx="2590800" cy="304800"/>
          </a:xfrm>
          <a:prstGeom prst="roundRect">
            <a:avLst/>
          </a:prstGeom>
          <a:solidFill>
            <a:srgbClr val="FF0000">
              <a:alpha val="4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1295400" y="4343400"/>
            <a:ext cx="2590800" cy="304800"/>
          </a:xfrm>
          <a:prstGeom prst="roundRect">
            <a:avLst/>
          </a:prstGeom>
          <a:solidFill>
            <a:srgbClr val="FF0000">
              <a:alpha val="4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IPageLayoutControlEvents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j-lt"/>
                <a:ea typeface="黑体" pitchFamily="2" charset="-122"/>
              </a:rPr>
              <a:t>同</a:t>
            </a:r>
            <a:r>
              <a:rPr lang="en-US" altLang="zh-CN" dirty="0" err="1" smtClean="0">
                <a:latin typeface="+mj-lt"/>
                <a:ea typeface="黑体" pitchFamily="2" charset="-122"/>
              </a:rPr>
              <a:t>IMapControlEvents</a:t>
            </a:r>
            <a:r>
              <a:rPr lang="zh-CN" altLang="en-US" dirty="0" smtClean="0">
                <a:latin typeface="+mj-lt"/>
                <a:ea typeface="黑体" pitchFamily="2" charset="-122"/>
              </a:rPr>
              <a:t>一样，该接口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定义了一系列事件，</a:t>
            </a:r>
            <a:r>
              <a:rPr lang="zh-CN" altLang="en-US" dirty="0" smtClean="0">
                <a:ea typeface="黑体" pitchFamily="2" charset="-122"/>
              </a:rPr>
              <a:t>定义了</a:t>
            </a:r>
            <a:r>
              <a:rPr lang="en-US" altLang="zh-CN" dirty="0" err="1" smtClean="0">
                <a:ea typeface="黑体" pitchFamily="2" charset="-122"/>
              </a:rPr>
              <a:t>PageLayoutControl</a:t>
            </a:r>
            <a:r>
              <a:rPr lang="zh-CN" altLang="en-US" dirty="0" smtClean="0">
                <a:ea typeface="黑体" pitchFamily="2" charset="-122"/>
              </a:rPr>
              <a:t>能够处理的全部事件，如</a:t>
            </a:r>
            <a:r>
              <a:rPr lang="en-US" altLang="zh-CN" dirty="0" err="1" smtClean="0">
                <a:ea typeface="黑体" pitchFamily="2" charset="-122"/>
              </a:rPr>
              <a:t>OnMouseDown</a:t>
            </a:r>
            <a:r>
              <a:rPr lang="en-US" altLang="zh-CN" dirty="0" smtClean="0">
                <a:ea typeface="黑体" pitchFamily="2" charset="-122"/>
              </a:rPr>
              <a:t>, </a:t>
            </a:r>
            <a:r>
              <a:rPr lang="en-US" altLang="zh-CN" dirty="0" err="1" smtClean="0">
                <a:ea typeface="黑体" pitchFamily="2" charset="-122"/>
              </a:rPr>
              <a:t>OnMouseMove</a:t>
            </a:r>
            <a:r>
              <a:rPr lang="en-US" altLang="zh-CN" dirty="0" smtClean="0">
                <a:ea typeface="黑体" pitchFamily="2" charset="-122"/>
              </a:rPr>
              <a:t>, </a:t>
            </a:r>
            <a:r>
              <a:rPr lang="en-US" altLang="zh-CN" dirty="0" err="1" smtClean="0">
                <a:ea typeface="黑体" pitchFamily="2" charset="-122"/>
              </a:rPr>
              <a:t>OnMouseUp</a:t>
            </a:r>
            <a:r>
              <a:rPr lang="zh-CN" altLang="en-US" dirty="0" smtClean="0">
                <a:ea typeface="黑体" pitchFamily="2" charset="-122"/>
              </a:rPr>
              <a:t>，</a:t>
            </a:r>
            <a:r>
              <a:rPr lang="en-US" altLang="zh-CN" dirty="0" smtClean="0">
                <a:ea typeface="黑体" pitchFamily="2" charset="-122"/>
              </a:rPr>
              <a:t> </a:t>
            </a:r>
            <a:r>
              <a:rPr lang="en-US" altLang="zh-CN" dirty="0" err="1" smtClean="0">
                <a:ea typeface="黑体" pitchFamily="2" charset="-122"/>
              </a:rPr>
              <a:t>OnMouseDraw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>
              <a:buNone/>
            </a:pP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18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 l="26563" t="16667" r="3906" b="15625"/>
          <a:stretch>
            <a:fillRect/>
          </a:stretch>
        </p:blipFill>
        <p:spPr bwMode="auto">
          <a:xfrm>
            <a:off x="3505200" y="2906730"/>
            <a:ext cx="5638800" cy="3951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PageLayoutControl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与</a:t>
            </a:r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MapControl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联动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latin typeface="+mj-lt"/>
                <a:ea typeface="黑体" pitchFamily="2" charset="-122"/>
              </a:rPr>
              <a:t>利用</a:t>
            </a:r>
            <a:r>
              <a:rPr lang="en-US" altLang="zh-CN" dirty="0" err="1" smtClean="0">
                <a:latin typeface="+mj-lt"/>
                <a:ea typeface="黑体" pitchFamily="2" charset="-122"/>
              </a:rPr>
              <a:t>Object</a:t>
            </a:r>
            <a:r>
              <a:rPr lang="en-US" altLang="zh-CN" sz="2000" dirty="0" err="1" smtClean="0">
                <a:ea typeface="黑体" pitchFamily="2" charset="-122"/>
              </a:rPr>
              <a:t>Copy</a:t>
            </a:r>
            <a:r>
              <a:rPr lang="zh-CN" altLang="en-US" dirty="0" smtClean="0">
                <a:latin typeface="+mj-lt"/>
                <a:ea typeface="黑体" pitchFamily="2" charset="-122"/>
              </a:rPr>
              <a:t>对象实现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唯一接口</a:t>
            </a:r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IObjectCopy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2"/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Copy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（）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2"/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2"/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2"/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2"/>
            <a:r>
              <a:rPr lang="en-US" altLang="zh-CN" dirty="0" smtClean="0">
                <a:latin typeface="+mj-lt"/>
                <a:ea typeface="黑体" pitchFamily="2" charset="-122"/>
              </a:rPr>
              <a:t>Overwrite</a:t>
            </a:r>
            <a:r>
              <a:rPr lang="zh-CN" altLang="en-US" dirty="0" smtClean="0">
                <a:latin typeface="+mj-lt"/>
                <a:ea typeface="黑体" pitchFamily="2" charset="-122"/>
              </a:rPr>
              <a:t>（）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>
              <a:buNone/>
            </a:pP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19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 l="32857" t="45580" r="29285" b="31437"/>
          <a:stretch>
            <a:fillRect/>
          </a:stretch>
        </p:blipFill>
        <p:spPr bwMode="auto">
          <a:xfrm>
            <a:off x="3048000" y="2743200"/>
            <a:ext cx="5281246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 l="32143" t="45580" r="29464" b="25691"/>
          <a:stretch>
            <a:fillRect/>
          </a:stretch>
        </p:blipFill>
        <p:spPr bwMode="auto">
          <a:xfrm>
            <a:off x="3012831" y="4495800"/>
            <a:ext cx="5292969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PageLayoutControl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改变</a:t>
            </a:r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PageLayoutControl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的外观</a:t>
            </a:r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(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利用</a:t>
            </a:r>
            <a:r>
              <a:rPr lang="en-US" altLang="zh-CN" dirty="0" err="1" smtClean="0">
                <a:latin typeface="+mj-lt"/>
                <a:ea typeface="黑体" pitchFamily="2" charset="-122"/>
              </a:rPr>
              <a:t>SymbologyControl</a:t>
            </a:r>
            <a:r>
              <a:rPr lang="en-US" altLang="zh-CN" dirty="0" smtClean="0">
                <a:latin typeface="+mj-lt"/>
                <a:ea typeface="黑体" pitchFamily="2" charset="-122"/>
              </a:rPr>
              <a:t>)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2"/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边框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2"/>
            <a:r>
              <a:rPr lang="zh-CN" altLang="en-US" dirty="0" smtClean="0">
                <a:latin typeface="+mj-lt"/>
                <a:ea typeface="黑体" pitchFamily="2" charset="-122"/>
              </a:rPr>
              <a:t>颜色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2"/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背景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2"/>
            <a:r>
              <a:rPr lang="zh-CN" altLang="en-US" dirty="0" smtClean="0">
                <a:latin typeface="+mj-lt"/>
                <a:ea typeface="黑体" pitchFamily="2" charset="-122"/>
              </a:rPr>
              <a:t>阴影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>
              <a:buNone/>
            </a:pP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20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AO</a:t>
            </a:r>
            <a:r>
              <a:rPr lang="zh-CN" altLang="en-US" dirty="0" smtClean="0"/>
              <a:t>的控件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ToolBarControl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>
              <a:buNone/>
            </a:pP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圆角右箭头 8"/>
          <p:cNvSpPr/>
          <p:nvPr/>
        </p:nvSpPr>
        <p:spPr bwMode="auto">
          <a:xfrm>
            <a:off x="3124200" y="5257800"/>
            <a:ext cx="990600" cy="38100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21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组合 11"/>
          <p:cNvGrpSpPr/>
          <p:nvPr/>
        </p:nvGrpSpPr>
        <p:grpSpPr>
          <a:xfrm>
            <a:off x="304800" y="1981200"/>
            <a:ext cx="5638800" cy="2971800"/>
            <a:chOff x="838200" y="2438400"/>
            <a:chExt cx="7105650" cy="3886200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38200" y="2438400"/>
              <a:ext cx="7105650" cy="3886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" name="矩形 10"/>
            <p:cNvSpPr/>
            <p:nvPr/>
          </p:nvSpPr>
          <p:spPr bwMode="auto">
            <a:xfrm>
              <a:off x="6400800" y="2819400"/>
              <a:ext cx="1524000" cy="381000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67200" y="3886200"/>
            <a:ext cx="430530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WordArt 3"/>
          <p:cNvSpPr>
            <a:spLocks noChangeArrowheads="1" noChangeShapeType="1" noTextEdit="1"/>
          </p:cNvSpPr>
          <p:nvPr/>
        </p:nvSpPr>
        <p:spPr bwMode="gray">
          <a:xfrm>
            <a:off x="2114550" y="3505200"/>
            <a:ext cx="5048250" cy="923925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6000" kern="10">
                <a:ln w="28575">
                  <a:solidFill>
                    <a:schemeClr val="tx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</a:rPr>
              <a:t>Thank You !</a:t>
            </a:r>
            <a:endParaRPr lang="zh-CN" altLang="en-US" sz="6000" kern="10">
              <a:ln w="28575">
                <a:solidFill>
                  <a:schemeClr val="tx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</a:endParaRPr>
          </a:p>
        </p:txBody>
      </p:sp>
      <p:sp>
        <p:nvSpPr>
          <p:cNvPr id="6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199F51-19EA-4878-9F53-2990CFB631B3}" type="slidenum">
              <a:rPr lang="zh-CN" altLang="en-US" smtClean="0"/>
              <a:pPr/>
              <a:t>22</a:t>
            </a:fld>
            <a:endParaRPr lang="en-US" altLang="zh-CN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91tgp_global_light">
  <a:themeElements>
    <a:clrScheme name="191tgp_global_light 1">
      <a:dk1>
        <a:srgbClr val="808080"/>
      </a:dk1>
      <a:lt1>
        <a:srgbClr val="FFFFFF"/>
      </a:lt1>
      <a:dk2>
        <a:srgbClr val="0E237E"/>
      </a:dk2>
      <a:lt2>
        <a:srgbClr val="CCECFF"/>
      </a:lt2>
      <a:accent1>
        <a:srgbClr val="709EE2"/>
      </a:accent1>
      <a:accent2>
        <a:srgbClr val="9874F2"/>
      </a:accent2>
      <a:accent3>
        <a:srgbClr val="AAACC0"/>
      </a:accent3>
      <a:accent4>
        <a:srgbClr val="DADADA"/>
      </a:accent4>
      <a:accent5>
        <a:srgbClr val="BBCCEE"/>
      </a:accent5>
      <a:accent6>
        <a:srgbClr val="8968DB"/>
      </a:accent6>
      <a:hlink>
        <a:srgbClr val="3B9D81"/>
      </a:hlink>
      <a:folHlink>
        <a:srgbClr val="80C040"/>
      </a:folHlink>
    </a:clrScheme>
    <a:fontScheme name="191tgp_global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91tgp_global_light 1">
        <a:dk1>
          <a:srgbClr val="808080"/>
        </a:dk1>
        <a:lt1>
          <a:srgbClr val="FFFFFF"/>
        </a:lt1>
        <a:dk2>
          <a:srgbClr val="0E237E"/>
        </a:dk2>
        <a:lt2>
          <a:srgbClr val="CCECFF"/>
        </a:lt2>
        <a:accent1>
          <a:srgbClr val="709EE2"/>
        </a:accent1>
        <a:accent2>
          <a:srgbClr val="9874F2"/>
        </a:accent2>
        <a:accent3>
          <a:srgbClr val="AAACC0"/>
        </a:accent3>
        <a:accent4>
          <a:srgbClr val="DADADA"/>
        </a:accent4>
        <a:accent5>
          <a:srgbClr val="BBCCEE"/>
        </a:accent5>
        <a:accent6>
          <a:srgbClr val="8968DB"/>
        </a:accent6>
        <a:hlink>
          <a:srgbClr val="3B9D81"/>
        </a:hlink>
        <a:folHlink>
          <a:srgbClr val="80C0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1tgp_global_light 2">
        <a:dk1>
          <a:srgbClr val="808080"/>
        </a:dk1>
        <a:lt1>
          <a:srgbClr val="FFFFFF"/>
        </a:lt1>
        <a:dk2>
          <a:srgbClr val="6C2042"/>
        </a:dk2>
        <a:lt2>
          <a:srgbClr val="CCECFF"/>
        </a:lt2>
        <a:accent1>
          <a:srgbClr val="ED9C65"/>
        </a:accent1>
        <a:accent2>
          <a:srgbClr val="5D7CDF"/>
        </a:accent2>
        <a:accent3>
          <a:srgbClr val="BAABB0"/>
        </a:accent3>
        <a:accent4>
          <a:srgbClr val="DADADA"/>
        </a:accent4>
        <a:accent5>
          <a:srgbClr val="F4CBB8"/>
        </a:accent5>
        <a:accent6>
          <a:srgbClr val="5370CA"/>
        </a:accent6>
        <a:hlink>
          <a:srgbClr val="93AB2D"/>
        </a:hlink>
        <a:folHlink>
          <a:srgbClr val="5097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1tgp_global_light 3">
        <a:dk1>
          <a:srgbClr val="808080"/>
        </a:dk1>
        <a:lt1>
          <a:srgbClr val="FFFFFF"/>
        </a:lt1>
        <a:dk2>
          <a:srgbClr val="004E4C"/>
        </a:dk2>
        <a:lt2>
          <a:srgbClr val="FFFFCC"/>
        </a:lt2>
        <a:accent1>
          <a:srgbClr val="6FB4E3"/>
        </a:accent1>
        <a:accent2>
          <a:srgbClr val="2B976E"/>
        </a:accent2>
        <a:accent3>
          <a:srgbClr val="AAB2B2"/>
        </a:accent3>
        <a:accent4>
          <a:srgbClr val="DADADA"/>
        </a:accent4>
        <a:accent5>
          <a:srgbClr val="BBD6EF"/>
        </a:accent5>
        <a:accent6>
          <a:srgbClr val="268863"/>
        </a:accent6>
        <a:hlink>
          <a:srgbClr val="879543"/>
        </a:hlink>
        <a:folHlink>
          <a:srgbClr val="E3981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4239539</TotalTime>
  <Words>546</Words>
  <Application>Microsoft Office PowerPoint</Application>
  <PresentationFormat>全屏显示(4:3)</PresentationFormat>
  <Paragraphs>162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黑体</vt:lpstr>
      <vt:lpstr>华文仿宋</vt:lpstr>
      <vt:lpstr>宋体</vt:lpstr>
      <vt:lpstr>Arial</vt:lpstr>
      <vt:lpstr>Courier New</vt:lpstr>
      <vt:lpstr>Verdana</vt:lpstr>
      <vt:lpstr>Wingdings</vt:lpstr>
      <vt:lpstr>191tgp_global_light</vt:lpstr>
      <vt:lpstr>GIS软件设计与开发</vt:lpstr>
      <vt:lpstr>授课内容</vt:lpstr>
      <vt:lpstr>4、AO的控件</vt:lpstr>
      <vt:lpstr>4、AO的控件</vt:lpstr>
      <vt:lpstr>4、AO的控件</vt:lpstr>
      <vt:lpstr>4、AO的控件</vt:lpstr>
      <vt:lpstr>4、AO的控件</vt:lpstr>
      <vt:lpstr>4、AO的控件</vt:lpstr>
      <vt:lpstr>4、AO的控件</vt:lpstr>
      <vt:lpstr>PowerPoint 演示文稿</vt:lpstr>
      <vt:lpstr>4、AO的控件</vt:lpstr>
      <vt:lpstr>4、AO的控件</vt:lpstr>
      <vt:lpstr>4、AO的控件</vt:lpstr>
      <vt:lpstr>4、AO的控件</vt:lpstr>
      <vt:lpstr>4、AO的控件</vt:lpstr>
      <vt:lpstr>4、AO的控件</vt:lpstr>
      <vt:lpstr>4、AO的控件</vt:lpstr>
      <vt:lpstr>4、AO的控件</vt:lpstr>
      <vt:lpstr>4、AO的控件</vt:lpstr>
      <vt:lpstr>4、AO的控件</vt:lpstr>
      <vt:lpstr>4、AO的控件</vt:lpstr>
      <vt:lpstr>PowerPoint 演示文稿</vt:lpstr>
    </vt:vector>
  </TitlesOfParts>
  <Company>Guilddesign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goose</cp:lastModifiedBy>
  <cp:revision>956</cp:revision>
  <dcterms:created xsi:type="dcterms:W3CDTF">2004-08-02T10:25:19Z</dcterms:created>
  <dcterms:modified xsi:type="dcterms:W3CDTF">2017-12-12T05:31:34Z</dcterms:modified>
</cp:coreProperties>
</file>