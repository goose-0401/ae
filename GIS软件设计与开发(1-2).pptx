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handoutMasterIdLst>
    <p:handoutMasterId r:id="rId51"/>
  </p:handoutMasterIdLst>
  <p:sldIdLst>
    <p:sldId id="276" r:id="rId2"/>
    <p:sldId id="339" r:id="rId3"/>
    <p:sldId id="340" r:id="rId4"/>
    <p:sldId id="342" r:id="rId5"/>
    <p:sldId id="341" r:id="rId6"/>
    <p:sldId id="361" r:id="rId7"/>
    <p:sldId id="343" r:id="rId8"/>
    <p:sldId id="344" r:id="rId9"/>
    <p:sldId id="345" r:id="rId10"/>
    <p:sldId id="346" r:id="rId11"/>
    <p:sldId id="347" r:id="rId12"/>
    <p:sldId id="348" r:id="rId13"/>
    <p:sldId id="364" r:id="rId14"/>
    <p:sldId id="365" r:id="rId15"/>
    <p:sldId id="366" r:id="rId16"/>
    <p:sldId id="378" r:id="rId17"/>
    <p:sldId id="367" r:id="rId18"/>
    <p:sldId id="368" r:id="rId19"/>
    <p:sldId id="349" r:id="rId20"/>
    <p:sldId id="379" r:id="rId21"/>
    <p:sldId id="377" r:id="rId22"/>
    <p:sldId id="350" r:id="rId23"/>
    <p:sldId id="354" r:id="rId24"/>
    <p:sldId id="355" r:id="rId25"/>
    <p:sldId id="351" r:id="rId26"/>
    <p:sldId id="352" r:id="rId27"/>
    <p:sldId id="356" r:id="rId28"/>
    <p:sldId id="357" r:id="rId29"/>
    <p:sldId id="358" r:id="rId30"/>
    <p:sldId id="359" r:id="rId31"/>
    <p:sldId id="360" r:id="rId32"/>
    <p:sldId id="362" r:id="rId33"/>
    <p:sldId id="382" r:id="rId34"/>
    <p:sldId id="363" r:id="rId35"/>
    <p:sldId id="380" r:id="rId36"/>
    <p:sldId id="381" r:id="rId37"/>
    <p:sldId id="369" r:id="rId38"/>
    <p:sldId id="370" r:id="rId39"/>
    <p:sldId id="383" r:id="rId40"/>
    <p:sldId id="384" r:id="rId41"/>
    <p:sldId id="371" r:id="rId42"/>
    <p:sldId id="372" r:id="rId43"/>
    <p:sldId id="373" r:id="rId44"/>
    <p:sldId id="374" r:id="rId45"/>
    <p:sldId id="385" r:id="rId46"/>
    <p:sldId id="375" r:id="rId47"/>
    <p:sldId id="386" r:id="rId48"/>
    <p:sldId id="387" r:id="rId49"/>
  </p:sldIdLst>
  <p:sldSz cx="9144000" cy="6858000" type="screen4x3"/>
  <p:notesSz cx="7099300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  <a:srgbClr val="6699FF"/>
    <a:srgbClr val="000066"/>
    <a:srgbClr val="EAB85E"/>
    <a:srgbClr val="352973"/>
    <a:srgbClr val="006699"/>
    <a:srgbClr val="808080"/>
    <a:srgbClr val="9182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1429" autoAdjust="0"/>
    <p:restoredTop sz="96350" autoAdjust="0"/>
  </p:normalViewPr>
  <p:slideViewPr>
    <p:cSldViewPr>
      <p:cViewPr varScale="1">
        <p:scale>
          <a:sx n="82" d="100"/>
          <a:sy n="82" d="100"/>
        </p:scale>
        <p:origin x="37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15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8F54F192-248C-4A58-B9DD-6D4854AD626C}" type="datetimeFigureOut">
              <a:rPr lang="zh-CN" altLang="en-US" smtClean="0"/>
              <a:pPr/>
              <a:t>2017/12/12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E8AED747-2EF4-49D3-A1F0-4B6CD604324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28096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>
              <a:defRPr sz="1300" b="0"/>
            </a:lvl1pPr>
          </a:lstStyle>
          <a:p>
            <a:endParaRPr lang="zh-CN" altLang="en-US"/>
          </a:p>
        </p:txBody>
      </p:sp>
      <p:sp>
        <p:nvSpPr>
          <p:cNvPr id="142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294" y="0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defRPr sz="1300" b="0"/>
            </a:lvl1pPr>
          </a:lstStyle>
          <a:p>
            <a:endParaRPr lang="en-US" altLang="zh-CN"/>
          </a:p>
        </p:txBody>
      </p:sp>
      <p:sp>
        <p:nvSpPr>
          <p:cNvPr id="142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42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930" y="4861441"/>
            <a:ext cx="5679440" cy="4605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42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106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>
              <a:defRPr sz="1300" b="0"/>
            </a:lvl1pPr>
          </a:lstStyle>
          <a:p>
            <a:endParaRPr lang="en-US" altLang="zh-CN"/>
          </a:p>
        </p:txBody>
      </p:sp>
      <p:sp>
        <p:nvSpPr>
          <p:cNvPr id="142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294" y="9721106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 b="0"/>
            </a:lvl1pPr>
          </a:lstStyle>
          <a:p>
            <a:fld id="{C0BAB51E-542F-4309-B8DF-41BB7F180D0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1765829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noProof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BAB51E-542F-4309-B8DF-41BB7F180D00}" type="slidenum">
              <a:rPr lang="zh-CN" altLang="en-US" smtClean="0"/>
              <a:pPr/>
              <a:t>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347867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BAB51E-542F-4309-B8DF-41BB7F180D00}" type="slidenum">
              <a:rPr lang="zh-CN" altLang="en-US" smtClean="0"/>
              <a:pPr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58971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white">
          <a:xfrm>
            <a:off x="457200" y="6477000"/>
            <a:ext cx="2133600" cy="244475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white">
          <a:xfrm>
            <a:off x="5930900" y="6384925"/>
            <a:ext cx="2895600" cy="244475"/>
          </a:xfrm>
        </p:spPr>
        <p:txBody>
          <a:bodyPr/>
          <a:lstStyle>
            <a:lvl1pPr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Font typeface="Wingdings" pitchFamily="2" charset="2"/>
              <a:buNone/>
              <a:defRPr/>
            </a:lvl1pPr>
          </a:lstStyle>
          <a:p>
            <a:r>
              <a:rPr lang="en-US" altLang="zh-CN" smtClean="0"/>
              <a:t>www.themegallery.com</a:t>
            </a:r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white">
          <a:xfrm>
            <a:off x="3124200" y="6477000"/>
            <a:ext cx="1828800" cy="244475"/>
          </a:xfrm>
        </p:spPr>
        <p:txBody>
          <a:bodyPr/>
          <a:lstStyle>
            <a:lvl1pPr>
              <a:defRPr/>
            </a:lvl1pPr>
          </a:lstStyle>
          <a:p>
            <a:fld id="{EB199F51-19EA-4878-9F53-2990CFB631B3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2873375" y="4038600"/>
            <a:ext cx="5584825" cy="3810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2819400" y="3276600"/>
            <a:ext cx="5791200" cy="682625"/>
          </a:xfrm>
        </p:spPr>
        <p:txBody>
          <a:bodyPr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3120" name="Text Box 48"/>
          <p:cNvSpPr txBox="1">
            <a:spLocks noChangeArrowheads="1"/>
          </p:cNvSpPr>
          <p:nvPr/>
        </p:nvSpPr>
        <p:spPr bwMode="gray">
          <a:xfrm>
            <a:off x="6019800" y="5934075"/>
            <a:ext cx="28321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 sz="2800" i="1">
                <a:solidFill>
                  <a:schemeClr val="accent1"/>
                </a:solidFill>
                <a:ea typeface="宋体" pitchFamily="2" charset="-122"/>
              </a:rPr>
              <a:t>LOGO</a:t>
            </a:r>
          </a:p>
        </p:txBody>
      </p:sp>
    </p:spTree>
  </p:cSld>
  <p:clrMapOvr>
    <a:masterClrMapping/>
  </p:clrMapOvr>
  <p:transition>
    <p:split dir="in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0A1FF-8927-450B-A360-23049E3230E2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split dir="in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91CD88-84E4-4F4C-A1B8-DFF43B59CA81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split dir="in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33400" y="1295400"/>
            <a:ext cx="40767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62500" y="1295400"/>
            <a:ext cx="40767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93F786-5748-403A-B65D-2D58BA76C53A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split dir="in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0DA2BD-64A8-475B-8174-9DB53006163D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split dir="in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13E073-51B2-409C-9CC6-2676692609A5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split dir="in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4F34BE-B442-4F67-B04E-086D010E6D8B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split dir="in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1EDA81-DDCE-406C-B24A-15D5956109F8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split dir="in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B21C80-05A1-44E3-B6D0-233F1D1BBAEC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split dir="in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19CCDD-42E8-43F9-AF82-EE697B321F70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split dir="in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62750" y="457200"/>
            <a:ext cx="2076450" cy="55626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33400" y="457200"/>
            <a:ext cx="6076950" cy="55626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9195A1-1D12-4407-9C83-1405FB60D50A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split dir="in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28800" y="457200"/>
            <a:ext cx="6934200" cy="563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33400" y="1295400"/>
            <a:ext cx="4076700" cy="4724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762500" y="1295400"/>
            <a:ext cx="4076700" cy="2286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762500" y="3733800"/>
            <a:ext cx="4076700" cy="2286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304800" y="6553200"/>
            <a:ext cx="2133600" cy="2286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5943600" y="6324600"/>
            <a:ext cx="28956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2971800" y="6553200"/>
            <a:ext cx="2133600" cy="228600"/>
          </a:xfrm>
        </p:spPr>
        <p:txBody>
          <a:bodyPr/>
          <a:lstStyle>
            <a:lvl1pPr>
              <a:defRPr/>
            </a:lvl1pPr>
          </a:lstStyle>
          <a:p>
            <a:fld id="{3A9918A6-FB9D-4345-84D7-C631E1A50833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split dir="in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28800" y="457200"/>
            <a:ext cx="6934200" cy="563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33400" y="1295400"/>
            <a:ext cx="4076700" cy="4724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62500" y="1295400"/>
            <a:ext cx="4076700" cy="4724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04800" y="6553200"/>
            <a:ext cx="2133600" cy="2286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943600" y="6324600"/>
            <a:ext cx="28956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2971800" y="6553200"/>
            <a:ext cx="2133600" cy="228600"/>
          </a:xfrm>
        </p:spPr>
        <p:txBody>
          <a:bodyPr/>
          <a:lstStyle>
            <a:lvl1pPr>
              <a:defRPr/>
            </a:lvl1pPr>
          </a:lstStyle>
          <a:p>
            <a:fld id="{650D3909-0FDA-4EAF-87C6-835B97781AD7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split dir="in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533400" y="457200"/>
            <a:ext cx="8305800" cy="5562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04800" y="6553200"/>
            <a:ext cx="2133600" cy="2286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943600" y="6324600"/>
            <a:ext cx="28956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2971800" y="6553200"/>
            <a:ext cx="2133600" cy="228600"/>
          </a:xfrm>
        </p:spPr>
        <p:txBody>
          <a:bodyPr/>
          <a:lstStyle>
            <a:lvl1pPr>
              <a:defRPr/>
            </a:lvl1pPr>
          </a:lstStyle>
          <a:p>
            <a:fld id="{C6A1BD1A-F58C-43C7-85A7-8B00F5A85132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split dir="in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1828800" y="457200"/>
            <a:ext cx="6934200" cy="563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533400" y="1295400"/>
            <a:ext cx="4076700" cy="2286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762500" y="1295400"/>
            <a:ext cx="4076700" cy="2286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33400" y="3733800"/>
            <a:ext cx="4076700" cy="2286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762500" y="3733800"/>
            <a:ext cx="4076700" cy="2286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04800" y="6553200"/>
            <a:ext cx="2133600" cy="2286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943600" y="6324600"/>
            <a:ext cx="28956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2971800" y="6553200"/>
            <a:ext cx="2133600" cy="228600"/>
          </a:xfrm>
        </p:spPr>
        <p:txBody>
          <a:bodyPr/>
          <a:lstStyle>
            <a:lvl1pPr>
              <a:defRPr/>
            </a:lvl1pPr>
          </a:lstStyle>
          <a:p>
            <a:fld id="{DD45B94A-8FB4-4F06-8AC9-465CA2EEC8FC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split dir="in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invGray">
      <p:bgPr>
        <a:blipFill dpi="0" rotWithShape="0">
          <a:blip r:embed="rId17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295400"/>
            <a:ext cx="83058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black">
          <a:xfrm>
            <a:off x="304800" y="6553200"/>
            <a:ext cx="2133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ea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black">
          <a:xfrm>
            <a:off x="5943600" y="6324600"/>
            <a:ext cx="2895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ea typeface="宋体" pitchFamily="2" charset="-122"/>
              </a:defRPr>
            </a:lvl1pPr>
          </a:lstStyle>
          <a:p>
            <a:r>
              <a:rPr lang="en-US" altLang="zh-CN"/>
              <a:t>www.themegallery.com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black">
          <a:xfrm>
            <a:off x="2971800" y="6553200"/>
            <a:ext cx="2133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ea typeface="宋体" pitchFamily="2" charset="-122"/>
              </a:defRPr>
            </a:lvl1pPr>
          </a:lstStyle>
          <a:p>
            <a:fld id="{4D9FABDE-4B4D-46A8-B385-35D6A85939DF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black">
          <a:xfrm>
            <a:off x="1828800" y="457200"/>
            <a:ext cx="6934200" cy="56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69" name="Text Box 45"/>
          <p:cNvSpPr txBox="1">
            <a:spLocks noChangeArrowheads="1"/>
          </p:cNvSpPr>
          <p:nvPr/>
        </p:nvSpPr>
        <p:spPr bwMode="black">
          <a:xfrm>
            <a:off x="7196138" y="5943600"/>
            <a:ext cx="164306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 sz="2800" i="1">
                <a:solidFill>
                  <a:schemeClr val="accent1"/>
                </a:solidFill>
                <a:ea typeface="宋体" pitchFamily="2" charset="-122"/>
              </a:rPr>
              <a:t>LOGO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>
    <p:split dir="in"/>
  </p:transition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vision.net.au/site_images/all_arcgis_color_gif.gif" TargetMode="External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066800" y="2438400"/>
            <a:ext cx="7086600" cy="1292225"/>
          </a:xfrm>
        </p:spPr>
        <p:txBody>
          <a:bodyPr/>
          <a:lstStyle/>
          <a:p>
            <a:pPr algn="ctr"/>
            <a:r>
              <a:rPr lang="en-US" altLang="zh-CN" sz="6000" spc="300" dirty="0" smtClean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GIS</a:t>
            </a:r>
            <a:r>
              <a:rPr lang="zh-CN" altLang="en-US" sz="6000" spc="300" dirty="0" smtClean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软件设计与开发</a:t>
            </a:r>
            <a:endParaRPr lang="en-US" altLang="zh-CN" sz="6000" spc="30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758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2514600" y="4114800"/>
            <a:ext cx="4114800" cy="1447800"/>
          </a:xfrm>
        </p:spPr>
        <p:txBody>
          <a:bodyPr/>
          <a:lstStyle/>
          <a:p>
            <a:pPr algn="ctr"/>
            <a:r>
              <a:rPr lang="zh-CN" altLang="en-US" sz="3200" dirty="0" smtClean="0">
                <a:solidFill>
                  <a:schemeClr val="tx2"/>
                </a:solidFill>
                <a:ea typeface="华文仿宋" pitchFamily="2" charset="-122"/>
              </a:rPr>
              <a:t>城市</a:t>
            </a:r>
            <a:r>
              <a:rPr lang="zh-CN" altLang="en-US" sz="3200" dirty="0" smtClean="0">
                <a:solidFill>
                  <a:schemeClr val="tx2"/>
                </a:solidFill>
                <a:ea typeface="华文仿宋" pitchFamily="2" charset="-122"/>
              </a:rPr>
              <a:t>与环境科学学院</a:t>
            </a:r>
            <a:endParaRPr lang="en-US" altLang="zh-CN" sz="3200" dirty="0" smtClean="0">
              <a:solidFill>
                <a:schemeClr val="tx2"/>
              </a:solidFill>
              <a:ea typeface="华文仿宋" pitchFamily="2" charset="-122"/>
            </a:endParaRPr>
          </a:p>
          <a:p>
            <a:pPr algn="ctr"/>
            <a:r>
              <a:rPr lang="en-US" altLang="zh-CN" sz="3200" dirty="0" smtClean="0">
                <a:solidFill>
                  <a:schemeClr val="tx2"/>
                </a:solidFill>
                <a:ea typeface="华文仿宋" pitchFamily="2" charset="-122"/>
              </a:rPr>
              <a:t>GIS</a:t>
            </a:r>
            <a:r>
              <a:rPr lang="zh-CN" altLang="en-US" sz="3200" dirty="0" smtClean="0">
                <a:solidFill>
                  <a:schemeClr val="tx2"/>
                </a:solidFill>
                <a:ea typeface="华文仿宋" pitchFamily="2" charset="-122"/>
              </a:rPr>
              <a:t>教研室</a:t>
            </a:r>
            <a:endParaRPr lang="zh-CN" altLang="en-US" sz="3200" dirty="0">
              <a:solidFill>
                <a:schemeClr val="tx2"/>
              </a:solidFill>
              <a:ea typeface="华文仿宋" pitchFamily="2" charset="-122"/>
            </a:endParaRPr>
          </a:p>
        </p:txBody>
      </p:sp>
      <p:sp>
        <p:nvSpPr>
          <p:cNvPr id="9" name="Line 95"/>
          <p:cNvSpPr>
            <a:spLocks noChangeShapeType="1"/>
          </p:cNvSpPr>
          <p:nvPr/>
        </p:nvSpPr>
        <p:spPr bwMode="auto">
          <a:xfrm>
            <a:off x="468000" y="1219200"/>
            <a:ext cx="8676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15" name="图片 14" descr="学校图标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4800"/>
            <a:ext cx="9144000" cy="861432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B199F51-19EA-4878-9F53-2990CFB631B3}" type="slidenum">
              <a:rPr lang="zh-CN" altLang="en-US" smtClean="0"/>
              <a:pPr/>
              <a:t>1</a:t>
            </a:fld>
            <a:endParaRPr lang="en-US" altLang="zh-CN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课程安排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533400" y="1295400"/>
            <a:ext cx="8305800" cy="5562600"/>
          </a:xfrm>
        </p:spPr>
        <p:txBody>
          <a:bodyPr/>
          <a:lstStyle/>
          <a:p>
            <a:r>
              <a:rPr lang="zh-CN" altLang="en-US" b="1" dirty="0" smtClean="0"/>
              <a:t>参考书</a:t>
            </a:r>
            <a:endParaRPr lang="en-US" altLang="zh-CN" sz="2000" dirty="0" smtClean="0"/>
          </a:p>
          <a:p>
            <a:pPr lvl="1"/>
            <a:r>
              <a:rPr lang="zh-CN" altLang="en-US" sz="2000" dirty="0" smtClean="0"/>
              <a:t>蒋波涛</a:t>
            </a:r>
            <a:r>
              <a:rPr lang="en-US" altLang="zh-CN" sz="2000" dirty="0" smtClean="0"/>
              <a:t>,《</a:t>
            </a:r>
            <a:r>
              <a:rPr lang="en-US" altLang="zh-CN" sz="2000" dirty="0" err="1" smtClean="0"/>
              <a:t>ArcObjects</a:t>
            </a:r>
            <a:r>
              <a:rPr lang="zh-CN" altLang="en-US" sz="2000" dirty="0" smtClean="0"/>
              <a:t>开发基础与技巧</a:t>
            </a:r>
            <a:r>
              <a:rPr lang="en-US" altLang="zh-CN" sz="2000" dirty="0" smtClean="0"/>
              <a:t>》,</a:t>
            </a:r>
            <a:r>
              <a:rPr lang="zh-CN" altLang="en-US" sz="2000" dirty="0" smtClean="0"/>
              <a:t>武汉大学出版社</a:t>
            </a:r>
            <a:r>
              <a:rPr lang="en-US" altLang="zh-CN" sz="2000" dirty="0" smtClean="0"/>
              <a:t>,2006</a:t>
            </a:r>
          </a:p>
          <a:p>
            <a:pPr lvl="1"/>
            <a:r>
              <a:rPr lang="zh-CN" altLang="en-US" sz="2000" dirty="0" smtClean="0"/>
              <a:t>蒋波涛</a:t>
            </a:r>
            <a:r>
              <a:rPr lang="en-US" altLang="zh-CN" sz="2000" dirty="0" smtClean="0"/>
              <a:t>,《</a:t>
            </a:r>
            <a:r>
              <a:rPr lang="zh-CN" altLang="en-US" sz="2000" dirty="0" smtClean="0"/>
              <a:t>插件式</a:t>
            </a:r>
            <a:r>
              <a:rPr lang="en-US" altLang="zh-CN" sz="2000" dirty="0" smtClean="0"/>
              <a:t>GIS</a:t>
            </a:r>
            <a:r>
              <a:rPr lang="zh-CN" altLang="en-US" sz="2000" dirty="0" smtClean="0"/>
              <a:t>应用框架的设计与实现</a:t>
            </a:r>
            <a:r>
              <a:rPr lang="en-US" altLang="zh-CN" sz="2000" dirty="0" smtClean="0"/>
              <a:t>-</a:t>
            </a:r>
            <a:r>
              <a:rPr lang="zh-CN" altLang="en-US" sz="2000" dirty="0" smtClean="0"/>
              <a:t>基于</a:t>
            </a:r>
            <a:r>
              <a:rPr lang="en-US" altLang="zh-CN" sz="2000" dirty="0" smtClean="0"/>
              <a:t>C#</a:t>
            </a:r>
            <a:r>
              <a:rPr lang="zh-CN" altLang="en-US" sz="2000" dirty="0" smtClean="0"/>
              <a:t>和</a:t>
            </a:r>
            <a:r>
              <a:rPr lang="en-US" altLang="zh-CN" sz="2000" dirty="0" err="1" smtClean="0"/>
              <a:t>ArcGIS</a:t>
            </a:r>
            <a:r>
              <a:rPr lang="en-US" altLang="zh-CN" sz="2000" dirty="0" smtClean="0"/>
              <a:t> Engine9.2》,</a:t>
            </a:r>
            <a:r>
              <a:rPr lang="zh-CN" altLang="en-US" sz="2000" dirty="0" smtClean="0"/>
              <a:t>电子工业出版社</a:t>
            </a:r>
            <a:r>
              <a:rPr lang="en-US" altLang="zh-CN" sz="2000" dirty="0" smtClean="0"/>
              <a:t>,2008</a:t>
            </a:r>
          </a:p>
          <a:p>
            <a:pPr lvl="1"/>
            <a:r>
              <a:rPr lang="en-US" altLang="zh-CN" sz="2000" dirty="0" smtClean="0"/>
              <a:t>Michael </a:t>
            </a:r>
            <a:r>
              <a:rPr lang="en-US" altLang="zh-CN" sz="2000" dirty="0" err="1" smtClean="0"/>
              <a:t>Zeiler,《Exploring</a:t>
            </a:r>
            <a:r>
              <a:rPr lang="en-US" altLang="zh-CN" sz="2000" dirty="0" smtClean="0"/>
              <a:t> </a:t>
            </a:r>
            <a:r>
              <a:rPr lang="en-US" altLang="zh-CN" sz="2000" dirty="0" err="1" smtClean="0"/>
              <a:t>ArcObjects》,ESRI</a:t>
            </a:r>
            <a:r>
              <a:rPr lang="en-US" altLang="zh-CN" sz="2000" dirty="0" smtClean="0"/>
              <a:t> Press,2001</a:t>
            </a:r>
          </a:p>
          <a:p>
            <a:pPr lvl="1"/>
            <a:r>
              <a:rPr lang="en-US" altLang="zh-CN" sz="2000" dirty="0" smtClean="0"/>
              <a:t>Michael </a:t>
            </a:r>
            <a:r>
              <a:rPr lang="en-US" altLang="zh-CN" sz="2000" dirty="0" err="1" smtClean="0"/>
              <a:t>Zeiler,《Modeling</a:t>
            </a:r>
            <a:r>
              <a:rPr lang="en-US" altLang="zh-CN" sz="2000" dirty="0" smtClean="0"/>
              <a:t> Our </a:t>
            </a:r>
            <a:r>
              <a:rPr lang="en-US" altLang="zh-CN" sz="2000" dirty="0" err="1" smtClean="0"/>
              <a:t>World》,ESRI</a:t>
            </a:r>
            <a:r>
              <a:rPr lang="en-US" altLang="zh-CN" sz="2000" dirty="0" smtClean="0"/>
              <a:t> Press,1999</a:t>
            </a:r>
          </a:p>
          <a:p>
            <a:pPr lvl="1">
              <a:buNone/>
            </a:pPr>
            <a:r>
              <a:rPr lang="en-US" altLang="zh-CN" sz="2000" dirty="0" smtClean="0"/>
              <a:t>	(</a:t>
            </a:r>
            <a:r>
              <a:rPr lang="zh-CN" altLang="en-US" sz="2000" dirty="0" smtClean="0"/>
              <a:t>张晓祥等</a:t>
            </a:r>
            <a:r>
              <a:rPr lang="en-US" altLang="zh-CN" sz="2000" dirty="0" smtClean="0"/>
              <a:t>,《</a:t>
            </a:r>
            <a:r>
              <a:rPr lang="zh-CN" altLang="en-US" sz="2000" dirty="0" smtClean="0"/>
              <a:t>为我们的世界建模</a:t>
            </a:r>
            <a:r>
              <a:rPr lang="en-US" altLang="zh-CN" sz="2000" dirty="0" smtClean="0"/>
              <a:t>-ESRI</a:t>
            </a:r>
            <a:r>
              <a:rPr lang="zh-CN" altLang="en-US" sz="2000" dirty="0" smtClean="0"/>
              <a:t>地理数据库设计指南</a:t>
            </a:r>
            <a:r>
              <a:rPr lang="en-US" altLang="zh-CN" sz="2000" dirty="0" smtClean="0"/>
              <a:t>》</a:t>
            </a:r>
            <a:r>
              <a:rPr lang="zh-CN" altLang="en-US" sz="2000" dirty="0" smtClean="0"/>
              <a:t>，人民邮电出版社</a:t>
            </a:r>
            <a:r>
              <a:rPr lang="en-US" altLang="zh-CN" sz="2000" dirty="0" smtClean="0"/>
              <a:t>,2004)</a:t>
            </a:r>
          </a:p>
          <a:p>
            <a:pPr lvl="1"/>
            <a:r>
              <a:rPr lang="zh-CN" altLang="en-US" sz="2000" dirty="0" smtClean="0"/>
              <a:t>党安荣等</a:t>
            </a:r>
            <a:r>
              <a:rPr lang="en-US" altLang="zh-CN" sz="2000" dirty="0" smtClean="0"/>
              <a:t>,《</a:t>
            </a:r>
            <a:r>
              <a:rPr lang="en-US" altLang="zh-CN" sz="2000" dirty="0" err="1" smtClean="0"/>
              <a:t>ArcGIS</a:t>
            </a:r>
            <a:r>
              <a:rPr lang="en-US" altLang="zh-CN" sz="2000" dirty="0" smtClean="0"/>
              <a:t> 8 Desktop</a:t>
            </a:r>
            <a:r>
              <a:rPr lang="zh-CN" altLang="en-US" sz="2000" dirty="0" smtClean="0"/>
              <a:t>地理信息系统应用指南</a:t>
            </a:r>
            <a:r>
              <a:rPr lang="en-US" altLang="zh-CN" sz="2000" dirty="0" smtClean="0"/>
              <a:t>》,</a:t>
            </a:r>
            <a:r>
              <a:rPr lang="zh-CN" altLang="en-US" sz="2000" dirty="0" smtClean="0"/>
              <a:t>清华大学出版社</a:t>
            </a:r>
            <a:r>
              <a:rPr lang="en-US" altLang="zh-CN" sz="2000" dirty="0" smtClean="0"/>
              <a:t>,2003</a:t>
            </a:r>
          </a:p>
          <a:p>
            <a:r>
              <a:rPr lang="zh-CN" altLang="en-US" b="1" dirty="0" smtClean="0"/>
              <a:t>考核</a:t>
            </a:r>
            <a:endParaRPr lang="en-US" altLang="zh-CN" b="1" dirty="0" smtClean="0"/>
          </a:p>
          <a:p>
            <a:pPr lvl="1"/>
            <a:r>
              <a:rPr lang="zh-CN" altLang="en-US" sz="2000" dirty="0" smtClean="0"/>
              <a:t>课上练习（</a:t>
            </a:r>
            <a:r>
              <a:rPr lang="en-US" altLang="zh-CN" sz="2000" dirty="0" smtClean="0"/>
              <a:t>15%</a:t>
            </a:r>
            <a:r>
              <a:rPr lang="zh-CN" altLang="en-US" sz="2000" dirty="0" smtClean="0"/>
              <a:t>，三次）</a:t>
            </a:r>
            <a:endParaRPr lang="en-US" altLang="zh-CN" sz="2000" dirty="0" smtClean="0"/>
          </a:p>
          <a:p>
            <a:pPr lvl="1"/>
            <a:r>
              <a:rPr lang="zh-CN" altLang="en-US" sz="2000" dirty="0" smtClean="0"/>
              <a:t>随机点名（</a:t>
            </a:r>
            <a:r>
              <a:rPr lang="en-US" altLang="zh-CN" sz="2000" dirty="0" smtClean="0"/>
              <a:t>15%</a:t>
            </a:r>
            <a:r>
              <a:rPr lang="zh-CN" altLang="en-US" sz="2000" dirty="0" smtClean="0"/>
              <a:t>，五次）</a:t>
            </a:r>
            <a:endParaRPr lang="en-US" altLang="zh-CN" sz="2000" dirty="0" smtClean="0"/>
          </a:p>
          <a:p>
            <a:pPr lvl="1"/>
            <a:r>
              <a:rPr lang="zh-CN" altLang="en-US" sz="2000" dirty="0" smtClean="0"/>
              <a:t>期末考试（</a:t>
            </a:r>
            <a:r>
              <a:rPr lang="en-US" altLang="zh-CN" sz="2000" dirty="0" smtClean="0"/>
              <a:t>70%</a:t>
            </a:r>
            <a:r>
              <a:rPr lang="zh-CN" altLang="en-US" sz="2000" dirty="0" smtClean="0"/>
              <a:t>，试卷</a:t>
            </a:r>
            <a:r>
              <a:rPr lang="en-US" altLang="zh-CN" sz="2000" dirty="0" smtClean="0"/>
              <a:t>+</a:t>
            </a:r>
            <a:r>
              <a:rPr lang="zh-CN" altLang="en-US" sz="2000" dirty="0" smtClean="0"/>
              <a:t>上机）</a:t>
            </a:r>
            <a:endParaRPr lang="en-US" altLang="zh-CN" sz="2000" dirty="0" smtClean="0"/>
          </a:p>
          <a:p>
            <a:pPr lvl="1"/>
            <a:endParaRPr lang="en-US" altLang="zh-CN" dirty="0" smtClean="0"/>
          </a:p>
        </p:txBody>
      </p:sp>
      <p:sp>
        <p:nvSpPr>
          <p:cNvPr id="7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9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3124200" y="457200"/>
            <a:ext cx="2743200" cy="563563"/>
          </a:xfrm>
        </p:spPr>
        <p:txBody>
          <a:bodyPr/>
          <a:lstStyle/>
          <a:p>
            <a:r>
              <a:rPr lang="zh-CN" altLang="en-US" sz="4800" dirty="0" smtClean="0">
                <a:ea typeface="黑体" pitchFamily="2" charset="-122"/>
              </a:rPr>
              <a:t>授课内容</a:t>
            </a:r>
            <a:endParaRPr lang="en-US" altLang="zh-CN" sz="4800" dirty="0">
              <a:solidFill>
                <a:schemeClr val="accent1"/>
              </a:solidFill>
              <a:ea typeface="黑体" pitchFamily="2" charset="-122"/>
            </a:endParaRPr>
          </a:p>
        </p:txBody>
      </p:sp>
      <p:sp>
        <p:nvSpPr>
          <p:cNvPr id="72707" name="Line 3"/>
          <p:cNvSpPr>
            <a:spLocks noChangeShapeType="1"/>
          </p:cNvSpPr>
          <p:nvPr/>
        </p:nvSpPr>
        <p:spPr bwMode="auto">
          <a:xfrm>
            <a:off x="2286000" y="2149475"/>
            <a:ext cx="4678363" cy="0"/>
          </a:xfrm>
          <a:prstGeom prst="line">
            <a:avLst/>
          </a:prstGeom>
          <a:noFill/>
          <a:ln w="25400">
            <a:solidFill>
              <a:schemeClr val="bg2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08" name="Text Box 4"/>
          <p:cNvSpPr txBox="1">
            <a:spLocks noChangeArrowheads="1"/>
          </p:cNvSpPr>
          <p:nvPr/>
        </p:nvSpPr>
        <p:spPr bwMode="auto">
          <a:xfrm>
            <a:off x="2525713" y="1676400"/>
            <a:ext cx="3341687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zh-CN" altLang="en-US" sz="2400" dirty="0" smtClean="0">
                <a:ea typeface="宋体" pitchFamily="2" charset="-122"/>
              </a:rPr>
              <a:t>概述</a:t>
            </a:r>
            <a:endParaRPr lang="zh-CN" altLang="en-US" sz="2400" dirty="0">
              <a:ea typeface="宋体" pitchFamily="2" charset="-122"/>
            </a:endParaRP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1981200" y="1682750"/>
            <a:ext cx="468313" cy="468313"/>
            <a:chOff x="662" y="1574"/>
            <a:chExt cx="480" cy="476"/>
          </a:xfrm>
        </p:grpSpPr>
        <p:grpSp>
          <p:nvGrpSpPr>
            <p:cNvPr id="3" name="Group 7"/>
            <p:cNvGrpSpPr>
              <a:grpSpLocks/>
            </p:cNvGrpSpPr>
            <p:nvPr/>
          </p:nvGrpSpPr>
          <p:grpSpPr bwMode="auto">
            <a:xfrm>
              <a:off x="662" y="1574"/>
              <a:ext cx="480" cy="476"/>
              <a:chOff x="662" y="1574"/>
              <a:chExt cx="480" cy="476"/>
            </a:xfrm>
          </p:grpSpPr>
          <p:sp>
            <p:nvSpPr>
              <p:cNvPr id="72712" name="Oval 8"/>
              <p:cNvSpPr>
                <a:spLocks noChangeArrowheads="1"/>
              </p:cNvSpPr>
              <p:nvPr/>
            </p:nvSpPr>
            <p:spPr bwMode="gray">
              <a:xfrm>
                <a:off x="662" y="1574"/>
                <a:ext cx="480" cy="476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tint val="0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tint val="0"/>
                      <a:invGamma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713" name="Oval 9"/>
              <p:cNvSpPr>
                <a:spLocks noChangeArrowheads="1"/>
              </p:cNvSpPr>
              <p:nvPr/>
            </p:nvSpPr>
            <p:spPr bwMode="gray">
              <a:xfrm>
                <a:off x="662" y="1574"/>
                <a:ext cx="480" cy="476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alpha val="32001"/>
                    </a:schemeClr>
                  </a:gs>
                  <a:gs pos="100000">
                    <a:schemeClr val="accent1">
                      <a:gamma/>
                      <a:shade val="0"/>
                      <a:invGamma/>
                      <a:alpha val="89999"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714" name="Oval 10"/>
              <p:cNvSpPr>
                <a:spLocks noChangeArrowheads="1"/>
              </p:cNvSpPr>
              <p:nvPr/>
            </p:nvSpPr>
            <p:spPr bwMode="gray">
              <a:xfrm>
                <a:off x="694" y="1605"/>
                <a:ext cx="416" cy="414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54118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54118"/>
                      <a:invGamma/>
                    </a:schemeClr>
                  </a:gs>
                </a:gsLst>
                <a:lin ang="189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715" name="Oval 11"/>
              <p:cNvSpPr>
                <a:spLocks noChangeArrowheads="1"/>
              </p:cNvSpPr>
              <p:nvPr/>
            </p:nvSpPr>
            <p:spPr bwMode="gray">
              <a:xfrm>
                <a:off x="694" y="1606"/>
                <a:ext cx="416" cy="414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63529"/>
                      <a:invGamma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4" name="Group 12"/>
            <p:cNvGrpSpPr>
              <a:grpSpLocks/>
            </p:cNvGrpSpPr>
            <p:nvPr/>
          </p:nvGrpSpPr>
          <p:grpSpPr bwMode="auto">
            <a:xfrm>
              <a:off x="720" y="1625"/>
              <a:ext cx="376" cy="379"/>
              <a:chOff x="336" y="1049"/>
              <a:chExt cx="376" cy="379"/>
            </a:xfrm>
          </p:grpSpPr>
          <p:sp>
            <p:nvSpPr>
              <p:cNvPr id="72717" name="Oval 13"/>
              <p:cNvSpPr>
                <a:spLocks noChangeArrowheads="1"/>
              </p:cNvSpPr>
              <p:nvPr/>
            </p:nvSpPr>
            <p:spPr bwMode="gray">
              <a:xfrm>
                <a:off x="336" y="1056"/>
                <a:ext cx="376" cy="372"/>
              </a:xfrm>
              <a:prstGeom prst="ellipse">
                <a:avLst/>
              </a:prstGeom>
              <a:solidFill>
                <a:srgbClr val="000000"/>
              </a:soli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5" name="Group 14"/>
              <p:cNvGrpSpPr>
                <a:grpSpLocks/>
              </p:cNvGrpSpPr>
              <p:nvPr/>
            </p:nvGrpSpPr>
            <p:grpSpPr bwMode="auto">
              <a:xfrm>
                <a:off x="336" y="1049"/>
                <a:ext cx="364" cy="361"/>
                <a:chOff x="4166" y="1706"/>
                <a:chExt cx="1252" cy="1252"/>
              </a:xfrm>
            </p:grpSpPr>
            <p:sp>
              <p:nvSpPr>
                <p:cNvPr id="72719" name="Oval 15"/>
                <p:cNvSpPr>
                  <a:spLocks noChangeArrowheads="1"/>
                </p:cNvSpPr>
                <p:nvPr/>
              </p:nvSpPr>
              <p:spPr bwMode="gray">
                <a:xfrm>
                  <a:off x="4166" y="1706"/>
                  <a:ext cx="1252" cy="125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shade val="46275"/>
                        <a:invGamma/>
                      </a:srgbClr>
                    </a:gs>
                    <a:gs pos="100000">
                      <a:srgbClr val="D6E1E2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720" name="Oval 16"/>
                <p:cNvSpPr>
                  <a:spLocks noChangeArrowheads="1"/>
                </p:cNvSpPr>
                <p:nvPr/>
              </p:nvSpPr>
              <p:spPr bwMode="gray">
                <a:xfrm>
                  <a:off x="4182" y="1713"/>
                  <a:ext cx="1222" cy="122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alpha val="0"/>
                      </a:srgbClr>
                    </a:gs>
                    <a:gs pos="100000">
                      <a:srgbClr val="D6E1E2">
                        <a:gamma/>
                        <a:tint val="34902"/>
                        <a:invGamma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721" name="Oval 17"/>
                <p:cNvSpPr>
                  <a:spLocks noChangeArrowheads="1"/>
                </p:cNvSpPr>
                <p:nvPr/>
              </p:nvSpPr>
              <p:spPr bwMode="gray">
                <a:xfrm>
                  <a:off x="4195" y="1725"/>
                  <a:ext cx="1162" cy="114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shade val="79216"/>
                        <a:invGamma/>
                      </a:srgbClr>
                    </a:gs>
                    <a:gs pos="100000">
                      <a:srgbClr val="D6E1E2">
                        <a:alpha val="48000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722" name="Oval 18"/>
                <p:cNvSpPr>
                  <a:spLocks noChangeArrowheads="1"/>
                </p:cNvSpPr>
                <p:nvPr/>
              </p:nvSpPr>
              <p:spPr bwMode="gray">
                <a:xfrm>
                  <a:off x="4263" y="1757"/>
                  <a:ext cx="1033" cy="92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tint val="0"/>
                        <a:invGamma/>
                      </a:srgbClr>
                    </a:gs>
                    <a:gs pos="100000">
                      <a:srgbClr val="D6E1E2">
                        <a:alpha val="38000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72723" name="Text Box 19"/>
          <p:cNvSpPr txBox="1">
            <a:spLocks noChangeArrowheads="1"/>
          </p:cNvSpPr>
          <p:nvPr/>
        </p:nvSpPr>
        <p:spPr bwMode="gray">
          <a:xfrm>
            <a:off x="2057400" y="1692275"/>
            <a:ext cx="325438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dirty="0">
                <a:solidFill>
                  <a:schemeClr val="bg1"/>
                </a:solidFill>
                <a:ea typeface="宋体" pitchFamily="2" charset="-122"/>
              </a:rPr>
              <a:t>1</a:t>
            </a:r>
          </a:p>
        </p:txBody>
      </p:sp>
      <p:sp>
        <p:nvSpPr>
          <p:cNvPr id="72724" name="Line 20"/>
          <p:cNvSpPr>
            <a:spLocks noChangeShapeType="1"/>
          </p:cNvSpPr>
          <p:nvPr/>
        </p:nvSpPr>
        <p:spPr bwMode="auto">
          <a:xfrm>
            <a:off x="2286000" y="2648247"/>
            <a:ext cx="4678363" cy="0"/>
          </a:xfrm>
          <a:prstGeom prst="line">
            <a:avLst/>
          </a:prstGeom>
          <a:noFill/>
          <a:ln w="25400">
            <a:solidFill>
              <a:schemeClr val="bg2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25" name="Text Box 21"/>
          <p:cNvSpPr txBox="1">
            <a:spLocks noChangeArrowheads="1"/>
          </p:cNvSpPr>
          <p:nvPr/>
        </p:nvSpPr>
        <p:spPr bwMode="auto">
          <a:xfrm>
            <a:off x="2514600" y="2205335"/>
            <a:ext cx="3581400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2400" dirty="0" smtClean="0">
                <a:ea typeface="宋体" pitchFamily="2" charset="-122"/>
              </a:rPr>
              <a:t>用户界面定制</a:t>
            </a:r>
            <a:endParaRPr lang="en-US" altLang="zh-CN" sz="2400" dirty="0">
              <a:ea typeface="宋体" pitchFamily="2" charset="-122"/>
            </a:endParaRPr>
          </a:p>
        </p:txBody>
      </p:sp>
      <p:sp>
        <p:nvSpPr>
          <p:cNvPr id="72726" name="Line 22"/>
          <p:cNvSpPr>
            <a:spLocks noChangeShapeType="1"/>
          </p:cNvSpPr>
          <p:nvPr/>
        </p:nvSpPr>
        <p:spPr bwMode="auto">
          <a:xfrm>
            <a:off x="2286000" y="3124200"/>
            <a:ext cx="4678363" cy="0"/>
          </a:xfrm>
          <a:prstGeom prst="line">
            <a:avLst/>
          </a:prstGeom>
          <a:noFill/>
          <a:ln w="25400">
            <a:solidFill>
              <a:schemeClr val="bg2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27" name="Text Box 23"/>
          <p:cNvSpPr txBox="1">
            <a:spLocks noChangeArrowheads="1"/>
          </p:cNvSpPr>
          <p:nvPr/>
        </p:nvSpPr>
        <p:spPr bwMode="auto">
          <a:xfrm>
            <a:off x="2514600" y="2693988"/>
            <a:ext cx="4724400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zh-CN" altLang="en-US" sz="2400" dirty="0" smtClean="0">
                <a:ea typeface="宋体" pitchFamily="2" charset="-122"/>
              </a:rPr>
              <a:t>地图的组成与显示</a:t>
            </a:r>
            <a:endParaRPr lang="en-US" altLang="zh-CN" sz="2400" dirty="0">
              <a:ea typeface="宋体" pitchFamily="2" charset="-122"/>
            </a:endParaRPr>
          </a:p>
        </p:txBody>
      </p:sp>
      <p:sp>
        <p:nvSpPr>
          <p:cNvPr id="72728" name="Line 24"/>
          <p:cNvSpPr>
            <a:spLocks noChangeShapeType="1"/>
          </p:cNvSpPr>
          <p:nvPr/>
        </p:nvSpPr>
        <p:spPr bwMode="auto">
          <a:xfrm>
            <a:off x="2286000" y="4043065"/>
            <a:ext cx="4678363" cy="0"/>
          </a:xfrm>
          <a:prstGeom prst="line">
            <a:avLst/>
          </a:prstGeom>
          <a:noFill/>
          <a:ln w="25400">
            <a:solidFill>
              <a:schemeClr val="bg2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29" name="Text Box 25"/>
          <p:cNvSpPr txBox="1">
            <a:spLocks noChangeArrowheads="1"/>
          </p:cNvSpPr>
          <p:nvPr/>
        </p:nvSpPr>
        <p:spPr bwMode="auto">
          <a:xfrm>
            <a:off x="2514600" y="3207048"/>
            <a:ext cx="5181600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zh-CN" sz="2400" dirty="0" smtClean="0">
                <a:ea typeface="宋体" pitchFamily="2" charset="-122"/>
              </a:rPr>
              <a:t>AO</a:t>
            </a:r>
            <a:r>
              <a:rPr lang="zh-CN" altLang="en-US" sz="2400" dirty="0" smtClean="0">
                <a:ea typeface="宋体" pitchFamily="2" charset="-122"/>
              </a:rPr>
              <a:t>的控件</a:t>
            </a:r>
            <a:endParaRPr lang="en-US" altLang="zh-CN" sz="2400" dirty="0">
              <a:ea typeface="宋体" pitchFamily="2" charset="-122"/>
            </a:endParaRPr>
          </a:p>
        </p:txBody>
      </p:sp>
      <p:grpSp>
        <p:nvGrpSpPr>
          <p:cNvPr id="6" name="Group 27"/>
          <p:cNvGrpSpPr>
            <a:grpSpLocks/>
          </p:cNvGrpSpPr>
          <p:nvPr/>
        </p:nvGrpSpPr>
        <p:grpSpPr bwMode="auto">
          <a:xfrm>
            <a:off x="1992313" y="2191047"/>
            <a:ext cx="468312" cy="468313"/>
            <a:chOff x="816" y="2400"/>
            <a:chExt cx="480" cy="476"/>
          </a:xfrm>
        </p:grpSpPr>
        <p:grpSp>
          <p:nvGrpSpPr>
            <p:cNvPr id="7" name="Group 28"/>
            <p:cNvGrpSpPr>
              <a:grpSpLocks/>
            </p:cNvGrpSpPr>
            <p:nvPr/>
          </p:nvGrpSpPr>
          <p:grpSpPr bwMode="auto">
            <a:xfrm>
              <a:off x="816" y="2400"/>
              <a:ext cx="480" cy="476"/>
              <a:chOff x="662" y="1574"/>
              <a:chExt cx="480" cy="476"/>
            </a:xfrm>
          </p:grpSpPr>
          <p:sp>
            <p:nvSpPr>
              <p:cNvPr id="72733" name="Oval 29"/>
              <p:cNvSpPr>
                <a:spLocks noChangeArrowheads="1"/>
              </p:cNvSpPr>
              <p:nvPr/>
            </p:nvSpPr>
            <p:spPr bwMode="gray">
              <a:xfrm>
                <a:off x="662" y="1574"/>
                <a:ext cx="480" cy="476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tint val="0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tint val="0"/>
                      <a:invGamma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734" name="Oval 30"/>
              <p:cNvSpPr>
                <a:spLocks noChangeArrowheads="1"/>
              </p:cNvSpPr>
              <p:nvPr/>
            </p:nvSpPr>
            <p:spPr bwMode="gray">
              <a:xfrm>
                <a:off x="662" y="1574"/>
                <a:ext cx="480" cy="476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alpha val="32001"/>
                    </a:schemeClr>
                  </a:gs>
                  <a:gs pos="100000">
                    <a:schemeClr val="hlink">
                      <a:gamma/>
                      <a:shade val="0"/>
                      <a:invGamma/>
                      <a:alpha val="89999"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735" name="Oval 31"/>
              <p:cNvSpPr>
                <a:spLocks noChangeArrowheads="1"/>
              </p:cNvSpPr>
              <p:nvPr/>
            </p:nvSpPr>
            <p:spPr bwMode="gray">
              <a:xfrm>
                <a:off x="694" y="1605"/>
                <a:ext cx="416" cy="414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shade val="54118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shade val="54118"/>
                      <a:invGamma/>
                    </a:schemeClr>
                  </a:gs>
                </a:gsLst>
                <a:lin ang="189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736" name="Oval 32"/>
              <p:cNvSpPr>
                <a:spLocks noChangeArrowheads="1"/>
              </p:cNvSpPr>
              <p:nvPr/>
            </p:nvSpPr>
            <p:spPr bwMode="gray">
              <a:xfrm>
                <a:off x="694" y="1606"/>
                <a:ext cx="416" cy="414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shade val="63529"/>
                      <a:invGamma/>
                    </a:schemeClr>
                  </a:gs>
                  <a:gs pos="100000">
                    <a:schemeClr val="hlink">
                      <a:alpha val="0"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8" name="Group 33"/>
            <p:cNvGrpSpPr>
              <a:grpSpLocks/>
            </p:cNvGrpSpPr>
            <p:nvPr/>
          </p:nvGrpSpPr>
          <p:grpSpPr bwMode="auto">
            <a:xfrm>
              <a:off x="871" y="2455"/>
              <a:ext cx="376" cy="379"/>
              <a:chOff x="336" y="1049"/>
              <a:chExt cx="376" cy="379"/>
            </a:xfrm>
          </p:grpSpPr>
          <p:sp>
            <p:nvSpPr>
              <p:cNvPr id="72738" name="Oval 34"/>
              <p:cNvSpPr>
                <a:spLocks noChangeArrowheads="1"/>
              </p:cNvSpPr>
              <p:nvPr/>
            </p:nvSpPr>
            <p:spPr bwMode="gray">
              <a:xfrm>
                <a:off x="336" y="1056"/>
                <a:ext cx="376" cy="372"/>
              </a:xfrm>
              <a:prstGeom prst="ellipse">
                <a:avLst/>
              </a:prstGeom>
              <a:solidFill>
                <a:srgbClr val="000000"/>
              </a:soli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9" name="Group 35"/>
              <p:cNvGrpSpPr>
                <a:grpSpLocks/>
              </p:cNvGrpSpPr>
              <p:nvPr/>
            </p:nvGrpSpPr>
            <p:grpSpPr bwMode="auto">
              <a:xfrm>
                <a:off x="336" y="1049"/>
                <a:ext cx="364" cy="361"/>
                <a:chOff x="4166" y="1706"/>
                <a:chExt cx="1252" cy="1252"/>
              </a:xfrm>
            </p:grpSpPr>
            <p:sp>
              <p:nvSpPr>
                <p:cNvPr id="72740" name="Oval 36"/>
                <p:cNvSpPr>
                  <a:spLocks noChangeArrowheads="1"/>
                </p:cNvSpPr>
                <p:nvPr/>
              </p:nvSpPr>
              <p:spPr bwMode="gray">
                <a:xfrm>
                  <a:off x="4166" y="1706"/>
                  <a:ext cx="1252" cy="125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shade val="46275"/>
                        <a:invGamma/>
                      </a:srgbClr>
                    </a:gs>
                    <a:gs pos="100000">
                      <a:srgbClr val="D6E1E2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741" name="Oval 37"/>
                <p:cNvSpPr>
                  <a:spLocks noChangeArrowheads="1"/>
                </p:cNvSpPr>
                <p:nvPr/>
              </p:nvSpPr>
              <p:spPr bwMode="gray">
                <a:xfrm>
                  <a:off x="4182" y="1713"/>
                  <a:ext cx="1222" cy="122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alpha val="0"/>
                      </a:srgbClr>
                    </a:gs>
                    <a:gs pos="100000">
                      <a:srgbClr val="D6E1E2">
                        <a:gamma/>
                        <a:tint val="34902"/>
                        <a:invGamma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742" name="Oval 38"/>
                <p:cNvSpPr>
                  <a:spLocks noChangeArrowheads="1"/>
                </p:cNvSpPr>
                <p:nvPr/>
              </p:nvSpPr>
              <p:spPr bwMode="gray">
                <a:xfrm>
                  <a:off x="4195" y="1725"/>
                  <a:ext cx="1162" cy="114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shade val="79216"/>
                        <a:invGamma/>
                      </a:srgbClr>
                    </a:gs>
                    <a:gs pos="100000">
                      <a:srgbClr val="D6E1E2">
                        <a:alpha val="48000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743" name="Oval 39"/>
                <p:cNvSpPr>
                  <a:spLocks noChangeArrowheads="1"/>
                </p:cNvSpPr>
                <p:nvPr/>
              </p:nvSpPr>
              <p:spPr bwMode="gray">
                <a:xfrm>
                  <a:off x="4263" y="1757"/>
                  <a:ext cx="1033" cy="92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tint val="0"/>
                        <a:invGamma/>
                      </a:srgbClr>
                    </a:gs>
                    <a:gs pos="100000">
                      <a:srgbClr val="D6E1E2">
                        <a:alpha val="38000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10" name="Group 42"/>
          <p:cNvGrpSpPr>
            <a:grpSpLocks/>
          </p:cNvGrpSpPr>
          <p:nvPr/>
        </p:nvGrpSpPr>
        <p:grpSpPr bwMode="auto">
          <a:xfrm>
            <a:off x="1981200" y="2667000"/>
            <a:ext cx="468313" cy="468313"/>
            <a:chOff x="662" y="1574"/>
            <a:chExt cx="480" cy="476"/>
          </a:xfrm>
        </p:grpSpPr>
        <p:grpSp>
          <p:nvGrpSpPr>
            <p:cNvPr id="11" name="Group 43"/>
            <p:cNvGrpSpPr>
              <a:grpSpLocks/>
            </p:cNvGrpSpPr>
            <p:nvPr/>
          </p:nvGrpSpPr>
          <p:grpSpPr bwMode="auto">
            <a:xfrm>
              <a:off x="662" y="1574"/>
              <a:ext cx="480" cy="476"/>
              <a:chOff x="662" y="1574"/>
              <a:chExt cx="480" cy="476"/>
            </a:xfrm>
          </p:grpSpPr>
          <p:sp>
            <p:nvSpPr>
              <p:cNvPr id="72748" name="Oval 44"/>
              <p:cNvSpPr>
                <a:spLocks noChangeArrowheads="1"/>
              </p:cNvSpPr>
              <p:nvPr/>
            </p:nvSpPr>
            <p:spPr bwMode="gray">
              <a:xfrm>
                <a:off x="662" y="1574"/>
                <a:ext cx="480" cy="476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tint val="0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tint val="0"/>
                      <a:invGamma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749" name="Oval 45"/>
              <p:cNvSpPr>
                <a:spLocks noChangeArrowheads="1"/>
              </p:cNvSpPr>
              <p:nvPr/>
            </p:nvSpPr>
            <p:spPr bwMode="gray">
              <a:xfrm>
                <a:off x="662" y="1574"/>
                <a:ext cx="480" cy="476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alpha val="32001"/>
                    </a:schemeClr>
                  </a:gs>
                  <a:gs pos="100000">
                    <a:schemeClr val="accent1">
                      <a:gamma/>
                      <a:shade val="0"/>
                      <a:invGamma/>
                      <a:alpha val="89999"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750" name="Oval 46"/>
              <p:cNvSpPr>
                <a:spLocks noChangeArrowheads="1"/>
              </p:cNvSpPr>
              <p:nvPr/>
            </p:nvSpPr>
            <p:spPr bwMode="gray">
              <a:xfrm>
                <a:off x="694" y="1605"/>
                <a:ext cx="416" cy="414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54118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54118"/>
                      <a:invGamma/>
                    </a:schemeClr>
                  </a:gs>
                </a:gsLst>
                <a:lin ang="189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751" name="Oval 47"/>
              <p:cNvSpPr>
                <a:spLocks noChangeArrowheads="1"/>
              </p:cNvSpPr>
              <p:nvPr/>
            </p:nvSpPr>
            <p:spPr bwMode="gray">
              <a:xfrm>
                <a:off x="694" y="1606"/>
                <a:ext cx="416" cy="414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63529"/>
                      <a:invGamma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2" name="Group 48"/>
            <p:cNvGrpSpPr>
              <a:grpSpLocks/>
            </p:cNvGrpSpPr>
            <p:nvPr/>
          </p:nvGrpSpPr>
          <p:grpSpPr bwMode="auto">
            <a:xfrm>
              <a:off x="720" y="1625"/>
              <a:ext cx="376" cy="379"/>
              <a:chOff x="336" y="1049"/>
              <a:chExt cx="376" cy="379"/>
            </a:xfrm>
          </p:grpSpPr>
          <p:sp>
            <p:nvSpPr>
              <p:cNvPr id="72753" name="Oval 49"/>
              <p:cNvSpPr>
                <a:spLocks noChangeArrowheads="1"/>
              </p:cNvSpPr>
              <p:nvPr/>
            </p:nvSpPr>
            <p:spPr bwMode="gray">
              <a:xfrm>
                <a:off x="336" y="1056"/>
                <a:ext cx="376" cy="372"/>
              </a:xfrm>
              <a:prstGeom prst="ellipse">
                <a:avLst/>
              </a:prstGeom>
              <a:solidFill>
                <a:srgbClr val="000000"/>
              </a:soli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13" name="Group 50"/>
              <p:cNvGrpSpPr>
                <a:grpSpLocks/>
              </p:cNvGrpSpPr>
              <p:nvPr/>
            </p:nvGrpSpPr>
            <p:grpSpPr bwMode="auto">
              <a:xfrm>
                <a:off x="336" y="1049"/>
                <a:ext cx="364" cy="361"/>
                <a:chOff x="4166" y="1706"/>
                <a:chExt cx="1252" cy="1252"/>
              </a:xfrm>
            </p:grpSpPr>
            <p:sp>
              <p:nvSpPr>
                <p:cNvPr id="72755" name="Oval 51"/>
                <p:cNvSpPr>
                  <a:spLocks noChangeArrowheads="1"/>
                </p:cNvSpPr>
                <p:nvPr/>
              </p:nvSpPr>
              <p:spPr bwMode="gray">
                <a:xfrm>
                  <a:off x="4166" y="1706"/>
                  <a:ext cx="1252" cy="125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shade val="46275"/>
                        <a:invGamma/>
                      </a:srgbClr>
                    </a:gs>
                    <a:gs pos="100000">
                      <a:srgbClr val="D6E1E2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756" name="Oval 52"/>
                <p:cNvSpPr>
                  <a:spLocks noChangeArrowheads="1"/>
                </p:cNvSpPr>
                <p:nvPr/>
              </p:nvSpPr>
              <p:spPr bwMode="gray">
                <a:xfrm>
                  <a:off x="4182" y="1713"/>
                  <a:ext cx="1222" cy="122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alpha val="0"/>
                      </a:srgbClr>
                    </a:gs>
                    <a:gs pos="100000">
                      <a:srgbClr val="D6E1E2">
                        <a:gamma/>
                        <a:tint val="34902"/>
                        <a:invGamma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757" name="Oval 53"/>
                <p:cNvSpPr>
                  <a:spLocks noChangeArrowheads="1"/>
                </p:cNvSpPr>
                <p:nvPr/>
              </p:nvSpPr>
              <p:spPr bwMode="gray">
                <a:xfrm>
                  <a:off x="4195" y="1725"/>
                  <a:ext cx="1162" cy="114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shade val="79216"/>
                        <a:invGamma/>
                      </a:srgbClr>
                    </a:gs>
                    <a:gs pos="100000">
                      <a:srgbClr val="D6E1E2">
                        <a:alpha val="48000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758" name="Oval 54"/>
                <p:cNvSpPr>
                  <a:spLocks noChangeArrowheads="1"/>
                </p:cNvSpPr>
                <p:nvPr/>
              </p:nvSpPr>
              <p:spPr bwMode="gray">
                <a:xfrm>
                  <a:off x="4263" y="1757"/>
                  <a:ext cx="1033" cy="92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tint val="0"/>
                        <a:invGamma/>
                      </a:srgbClr>
                    </a:gs>
                    <a:gs pos="100000">
                      <a:srgbClr val="D6E1E2">
                        <a:alpha val="38000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72759" name="Text Box 55"/>
          <p:cNvSpPr txBox="1">
            <a:spLocks noChangeAspect="1" noChangeArrowheads="1"/>
          </p:cNvSpPr>
          <p:nvPr/>
        </p:nvSpPr>
        <p:spPr bwMode="gray">
          <a:xfrm>
            <a:off x="2057400" y="2727325"/>
            <a:ext cx="304800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/>
            <a:r>
              <a:rPr lang="en-US" altLang="zh-CN" sz="2000" dirty="0">
                <a:solidFill>
                  <a:schemeClr val="bg1"/>
                </a:solidFill>
                <a:ea typeface="宋体" pitchFamily="2" charset="-122"/>
              </a:rPr>
              <a:t>3</a:t>
            </a:r>
          </a:p>
        </p:txBody>
      </p:sp>
      <p:grpSp>
        <p:nvGrpSpPr>
          <p:cNvPr id="14" name="Group 57"/>
          <p:cNvGrpSpPr>
            <a:grpSpLocks noChangeAspect="1"/>
          </p:cNvGrpSpPr>
          <p:nvPr/>
        </p:nvGrpSpPr>
        <p:grpSpPr bwMode="auto">
          <a:xfrm>
            <a:off x="1981200" y="3200400"/>
            <a:ext cx="468313" cy="468313"/>
            <a:chOff x="816" y="2400"/>
            <a:chExt cx="480" cy="476"/>
          </a:xfrm>
        </p:grpSpPr>
        <p:grpSp>
          <p:nvGrpSpPr>
            <p:cNvPr id="15" name="Group 58"/>
            <p:cNvGrpSpPr>
              <a:grpSpLocks noChangeAspect="1"/>
            </p:cNvGrpSpPr>
            <p:nvPr/>
          </p:nvGrpSpPr>
          <p:grpSpPr bwMode="auto">
            <a:xfrm>
              <a:off x="816" y="2400"/>
              <a:ext cx="480" cy="476"/>
              <a:chOff x="662" y="1574"/>
              <a:chExt cx="480" cy="476"/>
            </a:xfrm>
          </p:grpSpPr>
          <p:sp>
            <p:nvSpPr>
              <p:cNvPr id="72763" name="Oval 59"/>
              <p:cNvSpPr>
                <a:spLocks noChangeAspect="1" noChangeArrowheads="1"/>
              </p:cNvSpPr>
              <p:nvPr/>
            </p:nvSpPr>
            <p:spPr bwMode="gray">
              <a:xfrm>
                <a:off x="662" y="1574"/>
                <a:ext cx="480" cy="476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tint val="0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tint val="0"/>
                      <a:invGamma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764" name="Oval 60"/>
              <p:cNvSpPr>
                <a:spLocks noChangeAspect="1" noChangeArrowheads="1"/>
              </p:cNvSpPr>
              <p:nvPr/>
            </p:nvSpPr>
            <p:spPr bwMode="gray">
              <a:xfrm>
                <a:off x="662" y="1574"/>
                <a:ext cx="480" cy="476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alpha val="32001"/>
                    </a:schemeClr>
                  </a:gs>
                  <a:gs pos="100000">
                    <a:schemeClr val="hlink">
                      <a:gamma/>
                      <a:shade val="0"/>
                      <a:invGamma/>
                      <a:alpha val="89999"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765" name="Oval 61"/>
              <p:cNvSpPr>
                <a:spLocks noChangeAspect="1" noChangeArrowheads="1"/>
              </p:cNvSpPr>
              <p:nvPr/>
            </p:nvSpPr>
            <p:spPr bwMode="gray">
              <a:xfrm>
                <a:off x="694" y="1605"/>
                <a:ext cx="416" cy="414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shade val="54118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shade val="54118"/>
                      <a:invGamma/>
                    </a:schemeClr>
                  </a:gs>
                </a:gsLst>
                <a:lin ang="189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766" name="Oval 62"/>
              <p:cNvSpPr>
                <a:spLocks noChangeAspect="1" noChangeArrowheads="1"/>
              </p:cNvSpPr>
              <p:nvPr/>
            </p:nvSpPr>
            <p:spPr bwMode="gray">
              <a:xfrm>
                <a:off x="694" y="1606"/>
                <a:ext cx="416" cy="414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shade val="63529"/>
                      <a:invGamma/>
                    </a:schemeClr>
                  </a:gs>
                  <a:gs pos="100000">
                    <a:schemeClr val="hlink">
                      <a:alpha val="0"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6" name="Group 63"/>
            <p:cNvGrpSpPr>
              <a:grpSpLocks noChangeAspect="1"/>
            </p:cNvGrpSpPr>
            <p:nvPr/>
          </p:nvGrpSpPr>
          <p:grpSpPr bwMode="auto">
            <a:xfrm>
              <a:off x="871" y="2455"/>
              <a:ext cx="376" cy="379"/>
              <a:chOff x="336" y="1049"/>
              <a:chExt cx="376" cy="379"/>
            </a:xfrm>
          </p:grpSpPr>
          <p:sp>
            <p:nvSpPr>
              <p:cNvPr id="72768" name="Oval 64"/>
              <p:cNvSpPr>
                <a:spLocks noChangeAspect="1" noChangeArrowheads="1"/>
              </p:cNvSpPr>
              <p:nvPr/>
            </p:nvSpPr>
            <p:spPr bwMode="gray">
              <a:xfrm>
                <a:off x="336" y="1056"/>
                <a:ext cx="376" cy="372"/>
              </a:xfrm>
              <a:prstGeom prst="ellipse">
                <a:avLst/>
              </a:prstGeom>
              <a:solidFill>
                <a:srgbClr val="000000"/>
              </a:soli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17" name="Group 65"/>
              <p:cNvGrpSpPr>
                <a:grpSpLocks noChangeAspect="1"/>
              </p:cNvGrpSpPr>
              <p:nvPr/>
            </p:nvGrpSpPr>
            <p:grpSpPr bwMode="auto">
              <a:xfrm>
                <a:off x="336" y="1049"/>
                <a:ext cx="364" cy="361"/>
                <a:chOff x="4166" y="1706"/>
                <a:chExt cx="1252" cy="1252"/>
              </a:xfrm>
            </p:grpSpPr>
            <p:sp>
              <p:nvSpPr>
                <p:cNvPr id="72770" name="Oval 66"/>
                <p:cNvSpPr>
                  <a:spLocks noChangeAspect="1" noChangeArrowheads="1"/>
                </p:cNvSpPr>
                <p:nvPr/>
              </p:nvSpPr>
              <p:spPr bwMode="gray">
                <a:xfrm>
                  <a:off x="4166" y="1706"/>
                  <a:ext cx="1252" cy="125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shade val="46275"/>
                        <a:invGamma/>
                      </a:srgbClr>
                    </a:gs>
                    <a:gs pos="100000">
                      <a:srgbClr val="D6E1E2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771" name="Oval 67"/>
                <p:cNvSpPr>
                  <a:spLocks noChangeAspect="1" noChangeArrowheads="1"/>
                </p:cNvSpPr>
                <p:nvPr/>
              </p:nvSpPr>
              <p:spPr bwMode="gray">
                <a:xfrm>
                  <a:off x="4182" y="1713"/>
                  <a:ext cx="1222" cy="122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alpha val="0"/>
                      </a:srgbClr>
                    </a:gs>
                    <a:gs pos="100000">
                      <a:srgbClr val="D6E1E2">
                        <a:gamma/>
                        <a:tint val="34902"/>
                        <a:invGamma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772" name="Oval 68"/>
                <p:cNvSpPr>
                  <a:spLocks noChangeAspect="1" noChangeArrowheads="1"/>
                </p:cNvSpPr>
                <p:nvPr/>
              </p:nvSpPr>
              <p:spPr bwMode="gray">
                <a:xfrm>
                  <a:off x="4195" y="1725"/>
                  <a:ext cx="1162" cy="114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shade val="79216"/>
                        <a:invGamma/>
                      </a:srgbClr>
                    </a:gs>
                    <a:gs pos="100000">
                      <a:srgbClr val="D6E1E2">
                        <a:alpha val="48000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773" name="Oval 69"/>
                <p:cNvSpPr>
                  <a:spLocks noChangeAspect="1" noChangeArrowheads="1"/>
                </p:cNvSpPr>
                <p:nvPr/>
              </p:nvSpPr>
              <p:spPr bwMode="gray">
                <a:xfrm>
                  <a:off x="4263" y="1757"/>
                  <a:ext cx="1033" cy="92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tint val="0"/>
                        <a:invGamma/>
                      </a:srgbClr>
                    </a:gs>
                    <a:gs pos="100000">
                      <a:srgbClr val="D6E1E2">
                        <a:alpha val="38000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72774" name="Text Box 70"/>
          <p:cNvSpPr txBox="1">
            <a:spLocks noChangeArrowheads="1"/>
          </p:cNvSpPr>
          <p:nvPr/>
        </p:nvSpPr>
        <p:spPr bwMode="gray">
          <a:xfrm>
            <a:off x="2036763" y="3260725"/>
            <a:ext cx="325437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dirty="0">
                <a:solidFill>
                  <a:schemeClr val="bg1"/>
                </a:solidFill>
                <a:ea typeface="宋体" pitchFamily="2" charset="-122"/>
              </a:rPr>
              <a:t>4</a:t>
            </a:r>
          </a:p>
        </p:txBody>
      </p:sp>
      <p:sp>
        <p:nvSpPr>
          <p:cNvPr id="72778" name="Line 74"/>
          <p:cNvSpPr>
            <a:spLocks noChangeShapeType="1"/>
          </p:cNvSpPr>
          <p:nvPr/>
        </p:nvSpPr>
        <p:spPr bwMode="auto">
          <a:xfrm>
            <a:off x="2286000" y="3592513"/>
            <a:ext cx="4678363" cy="0"/>
          </a:xfrm>
          <a:prstGeom prst="line">
            <a:avLst/>
          </a:prstGeom>
          <a:noFill/>
          <a:ln w="25400">
            <a:solidFill>
              <a:schemeClr val="bg2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79" name="Text Box 75"/>
          <p:cNvSpPr txBox="1">
            <a:spLocks noChangeArrowheads="1"/>
          </p:cNvSpPr>
          <p:nvPr/>
        </p:nvSpPr>
        <p:spPr bwMode="auto">
          <a:xfrm>
            <a:off x="2514600" y="3653135"/>
            <a:ext cx="4495800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zh-CN" sz="2400" dirty="0" err="1" smtClean="0">
                <a:ea typeface="宋体" pitchFamily="2" charset="-122"/>
              </a:rPr>
              <a:t>Geodatabase</a:t>
            </a:r>
            <a:r>
              <a:rPr lang="zh-CN" altLang="en-US" sz="2400" dirty="0" smtClean="0">
                <a:ea typeface="宋体" pitchFamily="2" charset="-122"/>
              </a:rPr>
              <a:t>模型</a:t>
            </a:r>
            <a:endParaRPr lang="zh-CN" altLang="en-US" sz="2400" dirty="0">
              <a:ea typeface="宋体" pitchFamily="2" charset="-122"/>
            </a:endParaRPr>
          </a:p>
        </p:txBody>
      </p:sp>
      <p:grpSp>
        <p:nvGrpSpPr>
          <p:cNvPr id="18" name="Group 77"/>
          <p:cNvGrpSpPr>
            <a:grpSpLocks noChangeAspect="1"/>
          </p:cNvGrpSpPr>
          <p:nvPr/>
        </p:nvGrpSpPr>
        <p:grpSpPr bwMode="auto">
          <a:xfrm>
            <a:off x="1981200" y="3655715"/>
            <a:ext cx="468313" cy="463550"/>
            <a:chOff x="662" y="1574"/>
            <a:chExt cx="480" cy="476"/>
          </a:xfrm>
        </p:grpSpPr>
        <p:grpSp>
          <p:nvGrpSpPr>
            <p:cNvPr id="19" name="Group 78"/>
            <p:cNvGrpSpPr>
              <a:grpSpLocks noChangeAspect="1"/>
            </p:cNvGrpSpPr>
            <p:nvPr/>
          </p:nvGrpSpPr>
          <p:grpSpPr bwMode="auto">
            <a:xfrm>
              <a:off x="662" y="1574"/>
              <a:ext cx="480" cy="476"/>
              <a:chOff x="662" y="1574"/>
              <a:chExt cx="480" cy="476"/>
            </a:xfrm>
          </p:grpSpPr>
          <p:sp>
            <p:nvSpPr>
              <p:cNvPr id="72783" name="Oval 79"/>
              <p:cNvSpPr>
                <a:spLocks noChangeAspect="1" noChangeArrowheads="1"/>
              </p:cNvSpPr>
              <p:nvPr/>
            </p:nvSpPr>
            <p:spPr bwMode="gray">
              <a:xfrm>
                <a:off x="662" y="1574"/>
                <a:ext cx="480" cy="476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tint val="0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tint val="0"/>
                      <a:invGamma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784" name="Oval 80"/>
              <p:cNvSpPr>
                <a:spLocks noChangeAspect="1" noChangeArrowheads="1"/>
              </p:cNvSpPr>
              <p:nvPr/>
            </p:nvSpPr>
            <p:spPr bwMode="gray">
              <a:xfrm>
                <a:off x="662" y="1574"/>
                <a:ext cx="480" cy="476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alpha val="32001"/>
                    </a:schemeClr>
                  </a:gs>
                  <a:gs pos="100000">
                    <a:schemeClr val="accent1">
                      <a:gamma/>
                      <a:shade val="0"/>
                      <a:invGamma/>
                      <a:alpha val="89999"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785" name="Oval 81"/>
              <p:cNvSpPr>
                <a:spLocks noChangeAspect="1" noChangeArrowheads="1"/>
              </p:cNvSpPr>
              <p:nvPr/>
            </p:nvSpPr>
            <p:spPr bwMode="gray">
              <a:xfrm>
                <a:off x="694" y="1605"/>
                <a:ext cx="416" cy="414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54118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54118"/>
                      <a:invGamma/>
                    </a:schemeClr>
                  </a:gs>
                </a:gsLst>
                <a:lin ang="189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786" name="Oval 82"/>
              <p:cNvSpPr>
                <a:spLocks noChangeAspect="1" noChangeArrowheads="1"/>
              </p:cNvSpPr>
              <p:nvPr/>
            </p:nvSpPr>
            <p:spPr bwMode="gray">
              <a:xfrm>
                <a:off x="694" y="1606"/>
                <a:ext cx="416" cy="414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63529"/>
                      <a:invGamma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0" name="Group 83"/>
            <p:cNvGrpSpPr>
              <a:grpSpLocks noChangeAspect="1"/>
            </p:cNvGrpSpPr>
            <p:nvPr/>
          </p:nvGrpSpPr>
          <p:grpSpPr bwMode="auto">
            <a:xfrm>
              <a:off x="720" y="1625"/>
              <a:ext cx="376" cy="379"/>
              <a:chOff x="336" y="1049"/>
              <a:chExt cx="376" cy="379"/>
            </a:xfrm>
          </p:grpSpPr>
          <p:sp>
            <p:nvSpPr>
              <p:cNvPr id="72788" name="Oval 84"/>
              <p:cNvSpPr>
                <a:spLocks noChangeAspect="1" noChangeArrowheads="1"/>
              </p:cNvSpPr>
              <p:nvPr/>
            </p:nvSpPr>
            <p:spPr bwMode="gray">
              <a:xfrm>
                <a:off x="336" y="1056"/>
                <a:ext cx="376" cy="372"/>
              </a:xfrm>
              <a:prstGeom prst="ellipse">
                <a:avLst/>
              </a:prstGeom>
              <a:solidFill>
                <a:srgbClr val="000000"/>
              </a:soli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21" name="Group 85"/>
              <p:cNvGrpSpPr>
                <a:grpSpLocks noChangeAspect="1"/>
              </p:cNvGrpSpPr>
              <p:nvPr/>
            </p:nvGrpSpPr>
            <p:grpSpPr bwMode="auto">
              <a:xfrm>
                <a:off x="336" y="1049"/>
                <a:ext cx="364" cy="361"/>
                <a:chOff x="4166" y="1706"/>
                <a:chExt cx="1252" cy="1252"/>
              </a:xfrm>
            </p:grpSpPr>
            <p:sp>
              <p:nvSpPr>
                <p:cNvPr id="72790" name="Oval 86"/>
                <p:cNvSpPr>
                  <a:spLocks noChangeAspect="1" noChangeArrowheads="1"/>
                </p:cNvSpPr>
                <p:nvPr/>
              </p:nvSpPr>
              <p:spPr bwMode="gray">
                <a:xfrm>
                  <a:off x="4166" y="1706"/>
                  <a:ext cx="1252" cy="125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shade val="46275"/>
                        <a:invGamma/>
                      </a:srgbClr>
                    </a:gs>
                    <a:gs pos="100000">
                      <a:srgbClr val="D6E1E2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791" name="Oval 87"/>
                <p:cNvSpPr>
                  <a:spLocks noChangeAspect="1" noChangeArrowheads="1"/>
                </p:cNvSpPr>
                <p:nvPr/>
              </p:nvSpPr>
              <p:spPr bwMode="gray">
                <a:xfrm>
                  <a:off x="4182" y="1713"/>
                  <a:ext cx="1222" cy="122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alpha val="0"/>
                      </a:srgbClr>
                    </a:gs>
                    <a:gs pos="100000">
                      <a:srgbClr val="D6E1E2">
                        <a:gamma/>
                        <a:tint val="34902"/>
                        <a:invGamma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792" name="Oval 88"/>
                <p:cNvSpPr>
                  <a:spLocks noChangeAspect="1" noChangeArrowheads="1"/>
                </p:cNvSpPr>
                <p:nvPr/>
              </p:nvSpPr>
              <p:spPr bwMode="gray">
                <a:xfrm>
                  <a:off x="4195" y="1725"/>
                  <a:ext cx="1162" cy="114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shade val="79216"/>
                        <a:invGamma/>
                      </a:srgbClr>
                    </a:gs>
                    <a:gs pos="100000">
                      <a:srgbClr val="D6E1E2">
                        <a:alpha val="48000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793" name="Oval 89"/>
                <p:cNvSpPr>
                  <a:spLocks noChangeAspect="1" noChangeArrowheads="1"/>
                </p:cNvSpPr>
                <p:nvPr/>
              </p:nvSpPr>
              <p:spPr bwMode="gray">
                <a:xfrm>
                  <a:off x="4263" y="1757"/>
                  <a:ext cx="1033" cy="92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tint val="0"/>
                        <a:invGamma/>
                      </a:srgbClr>
                    </a:gs>
                    <a:gs pos="100000">
                      <a:srgbClr val="D6E1E2">
                        <a:alpha val="38000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72794" name="Text Box 90"/>
          <p:cNvSpPr txBox="1">
            <a:spLocks noChangeAspect="1" noChangeArrowheads="1"/>
          </p:cNvSpPr>
          <p:nvPr/>
        </p:nvSpPr>
        <p:spPr bwMode="gray">
          <a:xfrm>
            <a:off x="2057400" y="3704927"/>
            <a:ext cx="304800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/>
            <a:r>
              <a:rPr lang="en-US" altLang="zh-CN" sz="2000" dirty="0">
                <a:solidFill>
                  <a:schemeClr val="bg1"/>
                </a:solidFill>
                <a:ea typeface="宋体" pitchFamily="2" charset="-122"/>
              </a:rPr>
              <a:t>5</a:t>
            </a:r>
          </a:p>
        </p:txBody>
      </p:sp>
      <p:sp>
        <p:nvSpPr>
          <p:cNvPr id="72797" name="Text Box 93"/>
          <p:cNvSpPr txBox="1">
            <a:spLocks noChangeArrowheads="1"/>
          </p:cNvSpPr>
          <p:nvPr/>
        </p:nvSpPr>
        <p:spPr bwMode="gray">
          <a:xfrm>
            <a:off x="2057400" y="2211685"/>
            <a:ext cx="284163" cy="3603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 eaLnBrk="0" hangingPunct="0"/>
            <a:r>
              <a:rPr lang="en-US" altLang="zh-CN" sz="2000" dirty="0">
                <a:solidFill>
                  <a:schemeClr val="bg1"/>
                </a:solidFill>
                <a:ea typeface="宋体" pitchFamily="2" charset="-122"/>
              </a:rPr>
              <a:t>2</a:t>
            </a:r>
          </a:p>
        </p:txBody>
      </p:sp>
      <p:sp>
        <p:nvSpPr>
          <p:cNvPr id="72799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800" name="Line 96"/>
          <p:cNvSpPr>
            <a:spLocks noChangeShapeType="1"/>
          </p:cNvSpPr>
          <p:nvPr/>
        </p:nvSpPr>
        <p:spPr bwMode="auto">
          <a:xfrm>
            <a:off x="2286000" y="4511675"/>
            <a:ext cx="4678363" cy="0"/>
          </a:xfrm>
          <a:prstGeom prst="line">
            <a:avLst/>
          </a:prstGeom>
          <a:noFill/>
          <a:ln w="25400">
            <a:solidFill>
              <a:schemeClr val="bg2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801" name="Text Box 97"/>
          <p:cNvSpPr txBox="1">
            <a:spLocks noChangeArrowheads="1"/>
          </p:cNvSpPr>
          <p:nvPr/>
        </p:nvSpPr>
        <p:spPr bwMode="auto">
          <a:xfrm>
            <a:off x="2514600" y="4110335"/>
            <a:ext cx="4648200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2400" dirty="0" smtClean="0">
                <a:ea typeface="宋体" pitchFamily="2" charset="-122"/>
              </a:rPr>
              <a:t>Geometry—</a:t>
            </a:r>
            <a:r>
              <a:rPr lang="zh-CN" altLang="en-US" sz="2400" dirty="0" smtClean="0">
                <a:ea typeface="宋体" pitchFamily="2" charset="-122"/>
              </a:rPr>
              <a:t>几何形体对象</a:t>
            </a:r>
            <a:endParaRPr lang="zh-CN" altLang="en-US" sz="2400" dirty="0">
              <a:ea typeface="宋体" pitchFamily="2" charset="-122"/>
            </a:endParaRPr>
          </a:p>
        </p:txBody>
      </p:sp>
      <p:grpSp>
        <p:nvGrpSpPr>
          <p:cNvPr id="22" name="Group 98"/>
          <p:cNvGrpSpPr>
            <a:grpSpLocks noChangeAspect="1"/>
          </p:cNvGrpSpPr>
          <p:nvPr/>
        </p:nvGrpSpPr>
        <p:grpSpPr bwMode="auto">
          <a:xfrm>
            <a:off x="1992313" y="4081463"/>
            <a:ext cx="468312" cy="468312"/>
            <a:chOff x="816" y="2400"/>
            <a:chExt cx="480" cy="476"/>
          </a:xfrm>
        </p:grpSpPr>
        <p:grpSp>
          <p:nvGrpSpPr>
            <p:cNvPr id="23" name="Group 99"/>
            <p:cNvGrpSpPr>
              <a:grpSpLocks noChangeAspect="1"/>
            </p:cNvGrpSpPr>
            <p:nvPr/>
          </p:nvGrpSpPr>
          <p:grpSpPr bwMode="auto">
            <a:xfrm>
              <a:off x="816" y="2400"/>
              <a:ext cx="480" cy="476"/>
              <a:chOff x="662" y="1574"/>
              <a:chExt cx="480" cy="476"/>
            </a:xfrm>
          </p:grpSpPr>
          <p:sp>
            <p:nvSpPr>
              <p:cNvPr id="72804" name="Oval 100"/>
              <p:cNvSpPr>
                <a:spLocks noChangeAspect="1" noChangeArrowheads="1"/>
              </p:cNvSpPr>
              <p:nvPr/>
            </p:nvSpPr>
            <p:spPr bwMode="gray">
              <a:xfrm>
                <a:off x="662" y="1574"/>
                <a:ext cx="480" cy="476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tint val="0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tint val="0"/>
                      <a:invGamma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805" name="Oval 101"/>
              <p:cNvSpPr>
                <a:spLocks noChangeAspect="1" noChangeArrowheads="1"/>
              </p:cNvSpPr>
              <p:nvPr/>
            </p:nvSpPr>
            <p:spPr bwMode="gray">
              <a:xfrm>
                <a:off x="662" y="1574"/>
                <a:ext cx="480" cy="476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alpha val="32001"/>
                    </a:schemeClr>
                  </a:gs>
                  <a:gs pos="100000">
                    <a:schemeClr val="hlink">
                      <a:gamma/>
                      <a:shade val="0"/>
                      <a:invGamma/>
                      <a:alpha val="89999"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806" name="Oval 102"/>
              <p:cNvSpPr>
                <a:spLocks noChangeAspect="1" noChangeArrowheads="1"/>
              </p:cNvSpPr>
              <p:nvPr/>
            </p:nvSpPr>
            <p:spPr bwMode="gray">
              <a:xfrm>
                <a:off x="694" y="1605"/>
                <a:ext cx="416" cy="414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shade val="54118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shade val="54118"/>
                      <a:invGamma/>
                    </a:schemeClr>
                  </a:gs>
                </a:gsLst>
                <a:lin ang="189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807" name="Oval 103"/>
              <p:cNvSpPr>
                <a:spLocks noChangeAspect="1" noChangeArrowheads="1"/>
              </p:cNvSpPr>
              <p:nvPr/>
            </p:nvSpPr>
            <p:spPr bwMode="gray">
              <a:xfrm>
                <a:off x="694" y="1606"/>
                <a:ext cx="416" cy="414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shade val="63529"/>
                      <a:invGamma/>
                    </a:schemeClr>
                  </a:gs>
                  <a:gs pos="100000">
                    <a:schemeClr val="hlink">
                      <a:alpha val="0"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4" name="Group 104"/>
            <p:cNvGrpSpPr>
              <a:grpSpLocks noChangeAspect="1"/>
            </p:cNvGrpSpPr>
            <p:nvPr/>
          </p:nvGrpSpPr>
          <p:grpSpPr bwMode="auto">
            <a:xfrm>
              <a:off x="871" y="2455"/>
              <a:ext cx="376" cy="379"/>
              <a:chOff x="336" y="1049"/>
              <a:chExt cx="376" cy="379"/>
            </a:xfrm>
          </p:grpSpPr>
          <p:sp>
            <p:nvSpPr>
              <p:cNvPr id="72809" name="Oval 105"/>
              <p:cNvSpPr>
                <a:spLocks noChangeAspect="1" noChangeArrowheads="1"/>
              </p:cNvSpPr>
              <p:nvPr/>
            </p:nvSpPr>
            <p:spPr bwMode="gray">
              <a:xfrm>
                <a:off x="336" y="1056"/>
                <a:ext cx="376" cy="372"/>
              </a:xfrm>
              <a:prstGeom prst="ellipse">
                <a:avLst/>
              </a:prstGeom>
              <a:solidFill>
                <a:srgbClr val="000000"/>
              </a:soli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25" name="Group 106"/>
              <p:cNvGrpSpPr>
                <a:grpSpLocks noChangeAspect="1"/>
              </p:cNvGrpSpPr>
              <p:nvPr/>
            </p:nvGrpSpPr>
            <p:grpSpPr bwMode="auto">
              <a:xfrm>
                <a:off x="336" y="1049"/>
                <a:ext cx="364" cy="361"/>
                <a:chOff x="4166" y="1706"/>
                <a:chExt cx="1252" cy="1252"/>
              </a:xfrm>
            </p:grpSpPr>
            <p:sp>
              <p:nvSpPr>
                <p:cNvPr id="72811" name="Oval 107"/>
                <p:cNvSpPr>
                  <a:spLocks noChangeAspect="1" noChangeArrowheads="1"/>
                </p:cNvSpPr>
                <p:nvPr/>
              </p:nvSpPr>
              <p:spPr bwMode="gray">
                <a:xfrm>
                  <a:off x="4166" y="1706"/>
                  <a:ext cx="1252" cy="125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shade val="46275"/>
                        <a:invGamma/>
                      </a:srgbClr>
                    </a:gs>
                    <a:gs pos="100000">
                      <a:srgbClr val="D6E1E2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812" name="Oval 108"/>
                <p:cNvSpPr>
                  <a:spLocks noChangeAspect="1" noChangeArrowheads="1"/>
                </p:cNvSpPr>
                <p:nvPr/>
              </p:nvSpPr>
              <p:spPr bwMode="gray">
                <a:xfrm>
                  <a:off x="4182" y="1713"/>
                  <a:ext cx="1222" cy="122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alpha val="0"/>
                      </a:srgbClr>
                    </a:gs>
                    <a:gs pos="100000">
                      <a:srgbClr val="D6E1E2">
                        <a:gamma/>
                        <a:tint val="34902"/>
                        <a:invGamma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813" name="Oval 109"/>
                <p:cNvSpPr>
                  <a:spLocks noChangeAspect="1" noChangeArrowheads="1"/>
                </p:cNvSpPr>
                <p:nvPr/>
              </p:nvSpPr>
              <p:spPr bwMode="gray">
                <a:xfrm>
                  <a:off x="4195" y="1725"/>
                  <a:ext cx="1162" cy="114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shade val="79216"/>
                        <a:invGamma/>
                      </a:srgbClr>
                    </a:gs>
                    <a:gs pos="100000">
                      <a:srgbClr val="D6E1E2">
                        <a:alpha val="48000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814" name="Oval 110"/>
                <p:cNvSpPr>
                  <a:spLocks noChangeAspect="1" noChangeArrowheads="1"/>
                </p:cNvSpPr>
                <p:nvPr/>
              </p:nvSpPr>
              <p:spPr bwMode="gray">
                <a:xfrm>
                  <a:off x="4263" y="1757"/>
                  <a:ext cx="1033" cy="92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tint val="0"/>
                        <a:invGamma/>
                      </a:srgbClr>
                    </a:gs>
                    <a:gs pos="100000">
                      <a:srgbClr val="D6E1E2">
                        <a:alpha val="38000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72815" name="Text Box 111"/>
          <p:cNvSpPr txBox="1">
            <a:spLocks noChangeArrowheads="1"/>
          </p:cNvSpPr>
          <p:nvPr/>
        </p:nvSpPr>
        <p:spPr bwMode="gray">
          <a:xfrm>
            <a:off x="2057400" y="4130675"/>
            <a:ext cx="325438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dirty="0">
                <a:solidFill>
                  <a:schemeClr val="bg1"/>
                </a:solidFill>
                <a:ea typeface="宋体" pitchFamily="2" charset="-122"/>
              </a:rPr>
              <a:t>6</a:t>
            </a:r>
          </a:p>
        </p:txBody>
      </p:sp>
      <p:sp>
        <p:nvSpPr>
          <p:cNvPr id="101" name="Line 96"/>
          <p:cNvSpPr>
            <a:spLocks noChangeShapeType="1"/>
          </p:cNvSpPr>
          <p:nvPr/>
        </p:nvSpPr>
        <p:spPr bwMode="auto">
          <a:xfrm>
            <a:off x="2274887" y="5029200"/>
            <a:ext cx="4678363" cy="0"/>
          </a:xfrm>
          <a:prstGeom prst="line">
            <a:avLst/>
          </a:prstGeom>
          <a:noFill/>
          <a:ln w="25400">
            <a:solidFill>
              <a:schemeClr val="bg2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" name="Text Box 97"/>
          <p:cNvSpPr txBox="1">
            <a:spLocks noChangeArrowheads="1"/>
          </p:cNvSpPr>
          <p:nvPr/>
        </p:nvSpPr>
        <p:spPr bwMode="auto">
          <a:xfrm>
            <a:off x="2514600" y="4643735"/>
            <a:ext cx="2362200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zh-CN" sz="2400" dirty="0" smtClean="0">
                <a:ea typeface="宋体" pitchFamily="2" charset="-122"/>
              </a:rPr>
              <a:t>Raster</a:t>
            </a:r>
            <a:r>
              <a:rPr lang="zh-CN" altLang="en-US" sz="2400" dirty="0" smtClean="0">
                <a:ea typeface="宋体" pitchFamily="2" charset="-122"/>
              </a:rPr>
              <a:t>数据介绍</a:t>
            </a:r>
            <a:endParaRPr lang="zh-CN" altLang="en-US" sz="2400" dirty="0">
              <a:ea typeface="宋体" pitchFamily="2" charset="-122"/>
            </a:endParaRPr>
          </a:p>
        </p:txBody>
      </p:sp>
      <p:grpSp>
        <p:nvGrpSpPr>
          <p:cNvPr id="103" name="Group 98"/>
          <p:cNvGrpSpPr>
            <a:grpSpLocks noChangeAspect="1"/>
          </p:cNvGrpSpPr>
          <p:nvPr/>
        </p:nvGrpSpPr>
        <p:grpSpPr bwMode="auto">
          <a:xfrm>
            <a:off x="1981200" y="4560888"/>
            <a:ext cx="468312" cy="468312"/>
            <a:chOff x="816" y="2400"/>
            <a:chExt cx="480" cy="476"/>
          </a:xfrm>
        </p:grpSpPr>
        <p:grpSp>
          <p:nvGrpSpPr>
            <p:cNvPr id="104" name="Group 99"/>
            <p:cNvGrpSpPr>
              <a:grpSpLocks noChangeAspect="1"/>
            </p:cNvGrpSpPr>
            <p:nvPr/>
          </p:nvGrpSpPr>
          <p:grpSpPr bwMode="auto">
            <a:xfrm>
              <a:off x="816" y="2400"/>
              <a:ext cx="480" cy="476"/>
              <a:chOff x="662" y="1574"/>
              <a:chExt cx="480" cy="476"/>
            </a:xfrm>
          </p:grpSpPr>
          <p:sp>
            <p:nvSpPr>
              <p:cNvPr id="112" name="Oval 100"/>
              <p:cNvSpPr>
                <a:spLocks noChangeAspect="1" noChangeArrowheads="1"/>
              </p:cNvSpPr>
              <p:nvPr/>
            </p:nvSpPr>
            <p:spPr bwMode="gray">
              <a:xfrm>
                <a:off x="662" y="1574"/>
                <a:ext cx="480" cy="476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tint val="0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tint val="0"/>
                      <a:invGamma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3" name="Oval 101"/>
              <p:cNvSpPr>
                <a:spLocks noChangeAspect="1" noChangeArrowheads="1"/>
              </p:cNvSpPr>
              <p:nvPr/>
            </p:nvSpPr>
            <p:spPr bwMode="gray">
              <a:xfrm>
                <a:off x="662" y="1574"/>
                <a:ext cx="480" cy="476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alpha val="32001"/>
                    </a:schemeClr>
                  </a:gs>
                  <a:gs pos="100000">
                    <a:schemeClr val="hlink">
                      <a:gamma/>
                      <a:shade val="0"/>
                      <a:invGamma/>
                      <a:alpha val="89999"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4" name="Oval 102"/>
              <p:cNvSpPr>
                <a:spLocks noChangeAspect="1" noChangeArrowheads="1"/>
              </p:cNvSpPr>
              <p:nvPr/>
            </p:nvSpPr>
            <p:spPr bwMode="gray">
              <a:xfrm>
                <a:off x="694" y="1605"/>
                <a:ext cx="416" cy="414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shade val="54118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shade val="54118"/>
                      <a:invGamma/>
                    </a:schemeClr>
                  </a:gs>
                </a:gsLst>
                <a:lin ang="189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5" name="Oval 103"/>
              <p:cNvSpPr>
                <a:spLocks noChangeAspect="1" noChangeArrowheads="1"/>
              </p:cNvSpPr>
              <p:nvPr/>
            </p:nvSpPr>
            <p:spPr bwMode="gray">
              <a:xfrm>
                <a:off x="694" y="1606"/>
                <a:ext cx="416" cy="414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shade val="63529"/>
                      <a:invGamma/>
                    </a:schemeClr>
                  </a:gs>
                  <a:gs pos="100000">
                    <a:schemeClr val="hlink">
                      <a:alpha val="0"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05" name="Group 104"/>
            <p:cNvGrpSpPr>
              <a:grpSpLocks noChangeAspect="1"/>
            </p:cNvGrpSpPr>
            <p:nvPr/>
          </p:nvGrpSpPr>
          <p:grpSpPr bwMode="auto">
            <a:xfrm>
              <a:off x="871" y="2455"/>
              <a:ext cx="376" cy="379"/>
              <a:chOff x="336" y="1049"/>
              <a:chExt cx="376" cy="379"/>
            </a:xfrm>
          </p:grpSpPr>
          <p:sp>
            <p:nvSpPr>
              <p:cNvPr id="106" name="Oval 105"/>
              <p:cNvSpPr>
                <a:spLocks noChangeAspect="1" noChangeArrowheads="1"/>
              </p:cNvSpPr>
              <p:nvPr/>
            </p:nvSpPr>
            <p:spPr bwMode="gray">
              <a:xfrm>
                <a:off x="336" y="1056"/>
                <a:ext cx="376" cy="372"/>
              </a:xfrm>
              <a:prstGeom prst="ellipse">
                <a:avLst/>
              </a:prstGeom>
              <a:solidFill>
                <a:srgbClr val="000000"/>
              </a:soli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107" name="Group 106"/>
              <p:cNvGrpSpPr>
                <a:grpSpLocks noChangeAspect="1"/>
              </p:cNvGrpSpPr>
              <p:nvPr/>
            </p:nvGrpSpPr>
            <p:grpSpPr bwMode="auto">
              <a:xfrm>
                <a:off x="336" y="1049"/>
                <a:ext cx="364" cy="361"/>
                <a:chOff x="4166" y="1706"/>
                <a:chExt cx="1252" cy="1252"/>
              </a:xfrm>
            </p:grpSpPr>
            <p:sp>
              <p:nvSpPr>
                <p:cNvPr id="108" name="Oval 107"/>
                <p:cNvSpPr>
                  <a:spLocks noChangeAspect="1" noChangeArrowheads="1"/>
                </p:cNvSpPr>
                <p:nvPr/>
              </p:nvSpPr>
              <p:spPr bwMode="gray">
                <a:xfrm>
                  <a:off x="4166" y="1706"/>
                  <a:ext cx="1252" cy="125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shade val="46275"/>
                        <a:invGamma/>
                      </a:srgbClr>
                    </a:gs>
                    <a:gs pos="100000">
                      <a:srgbClr val="D6E1E2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9" name="Oval 108"/>
                <p:cNvSpPr>
                  <a:spLocks noChangeAspect="1" noChangeArrowheads="1"/>
                </p:cNvSpPr>
                <p:nvPr/>
              </p:nvSpPr>
              <p:spPr bwMode="gray">
                <a:xfrm>
                  <a:off x="4182" y="1713"/>
                  <a:ext cx="1222" cy="122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alpha val="0"/>
                      </a:srgbClr>
                    </a:gs>
                    <a:gs pos="100000">
                      <a:srgbClr val="D6E1E2">
                        <a:gamma/>
                        <a:tint val="34902"/>
                        <a:invGamma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0" name="Oval 109"/>
                <p:cNvSpPr>
                  <a:spLocks noChangeAspect="1" noChangeArrowheads="1"/>
                </p:cNvSpPr>
                <p:nvPr/>
              </p:nvSpPr>
              <p:spPr bwMode="gray">
                <a:xfrm>
                  <a:off x="4195" y="1725"/>
                  <a:ext cx="1162" cy="114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shade val="79216"/>
                        <a:invGamma/>
                      </a:srgbClr>
                    </a:gs>
                    <a:gs pos="100000">
                      <a:srgbClr val="D6E1E2">
                        <a:alpha val="48000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1" name="Oval 110"/>
                <p:cNvSpPr>
                  <a:spLocks noChangeAspect="1" noChangeArrowheads="1"/>
                </p:cNvSpPr>
                <p:nvPr/>
              </p:nvSpPr>
              <p:spPr bwMode="gray">
                <a:xfrm>
                  <a:off x="4263" y="1757"/>
                  <a:ext cx="1033" cy="92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tint val="0"/>
                        <a:invGamma/>
                      </a:srgbClr>
                    </a:gs>
                    <a:gs pos="100000">
                      <a:srgbClr val="D6E1E2">
                        <a:alpha val="38000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116" name="Text Box 111"/>
          <p:cNvSpPr txBox="1">
            <a:spLocks noChangeArrowheads="1"/>
          </p:cNvSpPr>
          <p:nvPr/>
        </p:nvSpPr>
        <p:spPr bwMode="gray">
          <a:xfrm>
            <a:off x="2046287" y="4610100"/>
            <a:ext cx="327334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dirty="0" smtClean="0">
                <a:solidFill>
                  <a:schemeClr val="bg1"/>
                </a:solidFill>
                <a:ea typeface="宋体" pitchFamily="2" charset="-122"/>
              </a:rPr>
              <a:t>7</a:t>
            </a:r>
            <a:endParaRPr lang="en-US" altLang="zh-CN" sz="2000" dirty="0">
              <a:solidFill>
                <a:schemeClr val="bg1"/>
              </a:solidFill>
              <a:ea typeface="宋体" pitchFamily="2" charset="-122"/>
            </a:endParaRPr>
          </a:p>
        </p:txBody>
      </p:sp>
      <p:sp>
        <p:nvSpPr>
          <p:cNvPr id="119" name="Line 96"/>
          <p:cNvSpPr>
            <a:spLocks noChangeShapeType="1"/>
          </p:cNvSpPr>
          <p:nvPr/>
        </p:nvSpPr>
        <p:spPr bwMode="auto">
          <a:xfrm>
            <a:off x="2274887" y="5497512"/>
            <a:ext cx="4678363" cy="0"/>
          </a:xfrm>
          <a:prstGeom prst="line">
            <a:avLst/>
          </a:prstGeom>
          <a:noFill/>
          <a:ln w="25400">
            <a:solidFill>
              <a:schemeClr val="bg2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" name="Text Box 97"/>
          <p:cNvSpPr txBox="1">
            <a:spLocks noChangeArrowheads="1"/>
          </p:cNvSpPr>
          <p:nvPr/>
        </p:nvSpPr>
        <p:spPr bwMode="auto">
          <a:xfrm>
            <a:off x="2514600" y="5112047"/>
            <a:ext cx="2362200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zh-CN" altLang="en-US" sz="2400" dirty="0" smtClean="0">
                <a:ea typeface="宋体" pitchFamily="2" charset="-122"/>
              </a:rPr>
              <a:t>实例</a:t>
            </a:r>
            <a:endParaRPr lang="zh-CN" altLang="en-US" sz="2400" dirty="0">
              <a:ea typeface="宋体" pitchFamily="2" charset="-122"/>
            </a:endParaRPr>
          </a:p>
        </p:txBody>
      </p:sp>
      <p:grpSp>
        <p:nvGrpSpPr>
          <p:cNvPr id="121" name="Group 98"/>
          <p:cNvGrpSpPr>
            <a:grpSpLocks noChangeAspect="1"/>
          </p:cNvGrpSpPr>
          <p:nvPr/>
        </p:nvGrpSpPr>
        <p:grpSpPr bwMode="auto">
          <a:xfrm>
            <a:off x="1981200" y="5029200"/>
            <a:ext cx="468312" cy="468312"/>
            <a:chOff x="816" y="2400"/>
            <a:chExt cx="480" cy="476"/>
          </a:xfrm>
        </p:grpSpPr>
        <p:grpSp>
          <p:nvGrpSpPr>
            <p:cNvPr id="122" name="Group 99"/>
            <p:cNvGrpSpPr>
              <a:grpSpLocks noChangeAspect="1"/>
            </p:cNvGrpSpPr>
            <p:nvPr/>
          </p:nvGrpSpPr>
          <p:grpSpPr bwMode="auto">
            <a:xfrm>
              <a:off x="816" y="2400"/>
              <a:ext cx="480" cy="476"/>
              <a:chOff x="662" y="1574"/>
              <a:chExt cx="480" cy="476"/>
            </a:xfrm>
          </p:grpSpPr>
          <p:sp>
            <p:nvSpPr>
              <p:cNvPr id="130" name="Oval 100"/>
              <p:cNvSpPr>
                <a:spLocks noChangeAspect="1" noChangeArrowheads="1"/>
              </p:cNvSpPr>
              <p:nvPr/>
            </p:nvSpPr>
            <p:spPr bwMode="gray">
              <a:xfrm>
                <a:off x="662" y="1574"/>
                <a:ext cx="480" cy="476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tint val="0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tint val="0"/>
                      <a:invGamma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1" name="Oval 101"/>
              <p:cNvSpPr>
                <a:spLocks noChangeAspect="1" noChangeArrowheads="1"/>
              </p:cNvSpPr>
              <p:nvPr/>
            </p:nvSpPr>
            <p:spPr bwMode="gray">
              <a:xfrm>
                <a:off x="662" y="1574"/>
                <a:ext cx="480" cy="476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alpha val="32001"/>
                    </a:schemeClr>
                  </a:gs>
                  <a:gs pos="100000">
                    <a:schemeClr val="hlink">
                      <a:gamma/>
                      <a:shade val="0"/>
                      <a:invGamma/>
                      <a:alpha val="89999"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2" name="Oval 102"/>
              <p:cNvSpPr>
                <a:spLocks noChangeAspect="1" noChangeArrowheads="1"/>
              </p:cNvSpPr>
              <p:nvPr/>
            </p:nvSpPr>
            <p:spPr bwMode="gray">
              <a:xfrm>
                <a:off x="694" y="1605"/>
                <a:ext cx="416" cy="414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shade val="54118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shade val="54118"/>
                      <a:invGamma/>
                    </a:schemeClr>
                  </a:gs>
                </a:gsLst>
                <a:lin ang="189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3" name="Oval 103"/>
              <p:cNvSpPr>
                <a:spLocks noChangeAspect="1" noChangeArrowheads="1"/>
              </p:cNvSpPr>
              <p:nvPr/>
            </p:nvSpPr>
            <p:spPr bwMode="gray">
              <a:xfrm>
                <a:off x="694" y="1606"/>
                <a:ext cx="416" cy="414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shade val="63529"/>
                      <a:invGamma/>
                    </a:schemeClr>
                  </a:gs>
                  <a:gs pos="100000">
                    <a:schemeClr val="hlink">
                      <a:alpha val="0"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23" name="Group 104"/>
            <p:cNvGrpSpPr>
              <a:grpSpLocks noChangeAspect="1"/>
            </p:cNvGrpSpPr>
            <p:nvPr/>
          </p:nvGrpSpPr>
          <p:grpSpPr bwMode="auto">
            <a:xfrm>
              <a:off x="871" y="2455"/>
              <a:ext cx="376" cy="379"/>
              <a:chOff x="336" y="1049"/>
              <a:chExt cx="376" cy="379"/>
            </a:xfrm>
          </p:grpSpPr>
          <p:sp>
            <p:nvSpPr>
              <p:cNvPr id="124" name="Oval 105"/>
              <p:cNvSpPr>
                <a:spLocks noChangeAspect="1" noChangeArrowheads="1"/>
              </p:cNvSpPr>
              <p:nvPr/>
            </p:nvSpPr>
            <p:spPr bwMode="gray">
              <a:xfrm>
                <a:off x="336" y="1056"/>
                <a:ext cx="376" cy="372"/>
              </a:xfrm>
              <a:prstGeom prst="ellipse">
                <a:avLst/>
              </a:prstGeom>
              <a:solidFill>
                <a:srgbClr val="000000"/>
              </a:soli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125" name="Group 106"/>
              <p:cNvGrpSpPr>
                <a:grpSpLocks noChangeAspect="1"/>
              </p:cNvGrpSpPr>
              <p:nvPr/>
            </p:nvGrpSpPr>
            <p:grpSpPr bwMode="auto">
              <a:xfrm>
                <a:off x="336" y="1049"/>
                <a:ext cx="364" cy="361"/>
                <a:chOff x="4166" y="1706"/>
                <a:chExt cx="1252" cy="1252"/>
              </a:xfrm>
            </p:grpSpPr>
            <p:sp>
              <p:nvSpPr>
                <p:cNvPr id="126" name="Oval 107"/>
                <p:cNvSpPr>
                  <a:spLocks noChangeAspect="1" noChangeArrowheads="1"/>
                </p:cNvSpPr>
                <p:nvPr/>
              </p:nvSpPr>
              <p:spPr bwMode="gray">
                <a:xfrm>
                  <a:off x="4166" y="1706"/>
                  <a:ext cx="1252" cy="125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shade val="46275"/>
                        <a:invGamma/>
                      </a:srgbClr>
                    </a:gs>
                    <a:gs pos="100000">
                      <a:srgbClr val="D6E1E2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7" name="Oval 108"/>
                <p:cNvSpPr>
                  <a:spLocks noChangeAspect="1" noChangeArrowheads="1"/>
                </p:cNvSpPr>
                <p:nvPr/>
              </p:nvSpPr>
              <p:spPr bwMode="gray">
                <a:xfrm>
                  <a:off x="4182" y="1713"/>
                  <a:ext cx="1222" cy="122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alpha val="0"/>
                      </a:srgbClr>
                    </a:gs>
                    <a:gs pos="100000">
                      <a:srgbClr val="D6E1E2">
                        <a:gamma/>
                        <a:tint val="34902"/>
                        <a:invGamma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8" name="Oval 109"/>
                <p:cNvSpPr>
                  <a:spLocks noChangeAspect="1" noChangeArrowheads="1"/>
                </p:cNvSpPr>
                <p:nvPr/>
              </p:nvSpPr>
              <p:spPr bwMode="gray">
                <a:xfrm>
                  <a:off x="4195" y="1725"/>
                  <a:ext cx="1162" cy="114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shade val="79216"/>
                        <a:invGamma/>
                      </a:srgbClr>
                    </a:gs>
                    <a:gs pos="100000">
                      <a:srgbClr val="D6E1E2">
                        <a:alpha val="48000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9" name="Oval 110"/>
                <p:cNvSpPr>
                  <a:spLocks noChangeAspect="1" noChangeArrowheads="1"/>
                </p:cNvSpPr>
                <p:nvPr/>
              </p:nvSpPr>
              <p:spPr bwMode="gray">
                <a:xfrm>
                  <a:off x="4263" y="1757"/>
                  <a:ext cx="1033" cy="92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tint val="0"/>
                        <a:invGamma/>
                      </a:srgbClr>
                    </a:gs>
                    <a:gs pos="100000">
                      <a:srgbClr val="D6E1E2">
                        <a:alpha val="38000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134" name="Text Box 111"/>
          <p:cNvSpPr txBox="1">
            <a:spLocks noChangeArrowheads="1"/>
          </p:cNvSpPr>
          <p:nvPr/>
        </p:nvSpPr>
        <p:spPr bwMode="gray">
          <a:xfrm>
            <a:off x="2046287" y="5078412"/>
            <a:ext cx="327334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dirty="0" smtClean="0">
                <a:solidFill>
                  <a:schemeClr val="bg1"/>
                </a:solidFill>
                <a:ea typeface="宋体" pitchFamily="2" charset="-122"/>
              </a:rPr>
              <a:t>8</a:t>
            </a:r>
            <a:endParaRPr lang="en-US" altLang="zh-CN" sz="2000" dirty="0">
              <a:solidFill>
                <a:schemeClr val="bg1"/>
              </a:solidFill>
              <a:ea typeface="宋体" pitchFamily="2" charset="-122"/>
            </a:endParaRPr>
          </a:p>
        </p:txBody>
      </p:sp>
      <p:pic>
        <p:nvPicPr>
          <p:cNvPr id="135" name="内容占位符 6" descr="师大图标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43000"/>
            <a:ext cx="800000" cy="800000"/>
          </a:xfrm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3124200" y="457200"/>
            <a:ext cx="2743200" cy="563563"/>
          </a:xfrm>
        </p:spPr>
        <p:txBody>
          <a:bodyPr/>
          <a:lstStyle/>
          <a:p>
            <a:r>
              <a:rPr lang="zh-CN" altLang="en-US" sz="4800" dirty="0" smtClean="0">
                <a:ea typeface="黑体" pitchFamily="2" charset="-122"/>
              </a:rPr>
              <a:t>授课安排</a:t>
            </a:r>
            <a:endParaRPr lang="en-US" altLang="zh-CN" sz="4800" dirty="0">
              <a:solidFill>
                <a:schemeClr val="accent1"/>
              </a:solidFill>
              <a:ea typeface="黑体" pitchFamily="2" charset="-122"/>
            </a:endParaRPr>
          </a:p>
        </p:txBody>
      </p:sp>
      <p:sp>
        <p:nvSpPr>
          <p:cNvPr id="72799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" name="内容占位符 5"/>
          <p:cNvSpPr>
            <a:spLocks noGrp="1"/>
          </p:cNvSpPr>
          <p:nvPr>
            <p:ph idx="1"/>
          </p:nvPr>
        </p:nvSpPr>
        <p:spPr>
          <a:xfrm>
            <a:off x="533400" y="1295400"/>
            <a:ext cx="8305800" cy="4724400"/>
          </a:xfrm>
        </p:spPr>
        <p:txBody>
          <a:bodyPr/>
          <a:lstStyle/>
          <a:p>
            <a:r>
              <a:rPr lang="zh-CN" altLang="en-US" dirty="0" smtClean="0">
                <a:latin typeface="宋体" pitchFamily="2" charset="-122"/>
                <a:ea typeface="宋体" pitchFamily="2" charset="-122"/>
              </a:rPr>
              <a:t>前</a:t>
            </a:r>
            <a:r>
              <a:rPr lang="en-US" altLang="zh-CN" dirty="0" smtClean="0">
                <a:latin typeface="宋体" pitchFamily="2" charset="-122"/>
                <a:ea typeface="宋体" pitchFamily="2" charset="-122"/>
              </a:rPr>
              <a:t>9</a:t>
            </a:r>
            <a:r>
              <a:rPr lang="zh-CN" altLang="en-US" dirty="0" smtClean="0">
                <a:latin typeface="宋体" pitchFamily="2" charset="-122"/>
                <a:ea typeface="宋体" pitchFamily="2" charset="-122"/>
              </a:rPr>
              <a:t>周（</a:t>
            </a:r>
            <a:r>
              <a:rPr lang="en-US" altLang="zh-CN" dirty="0" smtClean="0">
                <a:latin typeface="宋体" pitchFamily="2" charset="-122"/>
                <a:ea typeface="宋体" pitchFamily="2" charset="-122"/>
              </a:rPr>
              <a:t>2</a:t>
            </a:r>
            <a:r>
              <a:rPr lang="zh-CN" altLang="en-US" dirty="0" smtClean="0">
                <a:latin typeface="宋体" pitchFamily="2" charset="-122"/>
                <a:ea typeface="宋体" pitchFamily="2" charset="-122"/>
              </a:rPr>
              <a:t>月</a:t>
            </a:r>
            <a:r>
              <a:rPr lang="en-US" altLang="zh-CN" dirty="0" smtClean="0">
                <a:latin typeface="宋体" pitchFamily="2" charset="-122"/>
                <a:ea typeface="宋体" pitchFamily="2" charset="-122"/>
              </a:rPr>
              <a:t>23</a:t>
            </a:r>
            <a:r>
              <a:rPr lang="zh-CN" altLang="en-US" dirty="0" smtClean="0">
                <a:latin typeface="宋体" pitchFamily="2" charset="-122"/>
                <a:ea typeface="宋体" pitchFamily="2" charset="-122"/>
              </a:rPr>
              <a:t>日</a:t>
            </a:r>
            <a:r>
              <a:rPr lang="en-US" altLang="zh-CN" dirty="0" smtClean="0">
                <a:latin typeface="宋体" pitchFamily="2" charset="-122"/>
                <a:ea typeface="宋体" pitchFamily="2" charset="-122"/>
              </a:rPr>
              <a:t>—4</a:t>
            </a:r>
            <a:r>
              <a:rPr lang="zh-CN" altLang="en-US" dirty="0" smtClean="0">
                <a:latin typeface="宋体" pitchFamily="2" charset="-122"/>
                <a:ea typeface="宋体" pitchFamily="2" charset="-122"/>
              </a:rPr>
              <a:t>月</a:t>
            </a:r>
            <a:r>
              <a:rPr lang="en-US" altLang="zh-CN" dirty="0" smtClean="0">
                <a:latin typeface="宋体" pitchFamily="2" charset="-122"/>
                <a:ea typeface="宋体" pitchFamily="2" charset="-122"/>
              </a:rPr>
              <a:t>27</a:t>
            </a:r>
            <a:r>
              <a:rPr lang="zh-CN" altLang="en-US" dirty="0" smtClean="0">
                <a:latin typeface="宋体" pitchFamily="2" charset="-122"/>
                <a:ea typeface="宋体" pitchFamily="2" charset="-122"/>
              </a:rPr>
              <a:t>日）</a:t>
            </a:r>
            <a:r>
              <a:rPr lang="en-US" altLang="zh-CN" dirty="0" smtClean="0">
                <a:latin typeface="宋体" pitchFamily="2" charset="-122"/>
                <a:ea typeface="宋体" pitchFamily="2" charset="-122"/>
              </a:rPr>
              <a:t>--36</a:t>
            </a:r>
            <a:r>
              <a:rPr lang="zh-CN" altLang="en-US" dirty="0" smtClean="0">
                <a:latin typeface="宋体" pitchFamily="2" charset="-122"/>
                <a:ea typeface="宋体" pitchFamily="2" charset="-122"/>
              </a:rPr>
              <a:t>学时</a:t>
            </a:r>
            <a:endParaRPr lang="en-US" altLang="zh-CN" dirty="0" smtClean="0">
              <a:latin typeface="宋体" pitchFamily="2" charset="-122"/>
              <a:ea typeface="宋体" pitchFamily="2" charset="-122"/>
            </a:endParaRPr>
          </a:p>
          <a:p>
            <a:pPr lvl="1"/>
            <a:r>
              <a:rPr lang="zh-CN" altLang="en-US" dirty="0" smtClean="0">
                <a:latin typeface="宋体" pitchFamily="2" charset="-122"/>
                <a:ea typeface="宋体" pitchFamily="2" charset="-122"/>
              </a:rPr>
              <a:t>通用基础功能学习</a:t>
            </a:r>
            <a:endParaRPr lang="en-US" altLang="zh-CN" dirty="0" smtClean="0">
              <a:latin typeface="宋体" pitchFamily="2" charset="-122"/>
              <a:ea typeface="宋体" pitchFamily="2" charset="-122"/>
            </a:endParaRPr>
          </a:p>
          <a:p>
            <a:pPr lvl="2"/>
            <a:r>
              <a:rPr lang="zh-CN" altLang="en-US" dirty="0" smtClean="0">
                <a:latin typeface="宋体" pitchFamily="2" charset="-122"/>
                <a:ea typeface="宋体" pitchFamily="2" charset="-122"/>
              </a:rPr>
              <a:t>地图显示</a:t>
            </a:r>
            <a:endParaRPr lang="en-US" altLang="zh-CN" dirty="0" smtClean="0">
              <a:latin typeface="宋体" pitchFamily="2" charset="-122"/>
              <a:ea typeface="宋体" pitchFamily="2" charset="-122"/>
            </a:endParaRPr>
          </a:p>
          <a:p>
            <a:pPr lvl="2"/>
            <a:r>
              <a:rPr lang="zh-CN" altLang="en-US" dirty="0" smtClean="0">
                <a:latin typeface="宋体" pitchFamily="2" charset="-122"/>
                <a:ea typeface="宋体" pitchFamily="2" charset="-122"/>
              </a:rPr>
              <a:t>数据调用</a:t>
            </a:r>
            <a:endParaRPr lang="en-US" altLang="zh-CN" dirty="0" smtClean="0">
              <a:latin typeface="宋体" pitchFamily="2" charset="-122"/>
              <a:ea typeface="宋体" pitchFamily="2" charset="-122"/>
            </a:endParaRPr>
          </a:p>
          <a:p>
            <a:pPr lvl="2"/>
            <a:r>
              <a:rPr lang="zh-CN" altLang="en-US" dirty="0" smtClean="0">
                <a:latin typeface="宋体" pitchFamily="2" charset="-122"/>
                <a:ea typeface="宋体" pitchFamily="2" charset="-122"/>
              </a:rPr>
              <a:t>数据编辑</a:t>
            </a:r>
            <a:endParaRPr lang="en-US" altLang="zh-CN" dirty="0" smtClean="0">
              <a:latin typeface="宋体" pitchFamily="2" charset="-122"/>
              <a:ea typeface="宋体" pitchFamily="2" charset="-122"/>
            </a:endParaRPr>
          </a:p>
          <a:p>
            <a:r>
              <a:rPr lang="zh-CN" altLang="en-US" dirty="0" smtClean="0">
                <a:latin typeface="宋体" pitchFamily="2" charset="-122"/>
                <a:ea typeface="宋体" pitchFamily="2" charset="-122"/>
              </a:rPr>
              <a:t>余</a:t>
            </a:r>
            <a:r>
              <a:rPr lang="en-US" altLang="zh-CN" dirty="0" smtClean="0">
                <a:latin typeface="宋体" pitchFamily="2" charset="-122"/>
                <a:ea typeface="宋体" pitchFamily="2" charset="-122"/>
              </a:rPr>
              <a:t>5</a:t>
            </a:r>
            <a:r>
              <a:rPr lang="zh-CN" altLang="en-US" dirty="0" smtClean="0">
                <a:latin typeface="宋体" pitchFamily="2" charset="-122"/>
                <a:ea typeface="宋体" pitchFamily="2" charset="-122"/>
              </a:rPr>
              <a:t>周（</a:t>
            </a:r>
            <a:r>
              <a:rPr lang="en-US" altLang="zh-CN" dirty="0" smtClean="0">
                <a:latin typeface="宋体" pitchFamily="2" charset="-122"/>
                <a:ea typeface="宋体" pitchFamily="2" charset="-122"/>
              </a:rPr>
              <a:t>5</a:t>
            </a:r>
            <a:r>
              <a:rPr lang="zh-CN" altLang="en-US" dirty="0" smtClean="0">
                <a:latin typeface="宋体" pitchFamily="2" charset="-122"/>
                <a:ea typeface="宋体" pitchFamily="2" charset="-122"/>
              </a:rPr>
              <a:t>月</a:t>
            </a:r>
            <a:r>
              <a:rPr lang="en-US" altLang="zh-CN" dirty="0" smtClean="0">
                <a:latin typeface="宋体" pitchFamily="2" charset="-122"/>
                <a:ea typeface="宋体" pitchFamily="2" charset="-122"/>
              </a:rPr>
              <a:t>11</a:t>
            </a:r>
            <a:r>
              <a:rPr lang="zh-CN" altLang="en-US" dirty="0" smtClean="0">
                <a:latin typeface="宋体" pitchFamily="2" charset="-122"/>
                <a:ea typeface="宋体" pitchFamily="2" charset="-122"/>
              </a:rPr>
              <a:t>日</a:t>
            </a:r>
            <a:r>
              <a:rPr lang="en-US" altLang="zh-CN" dirty="0" smtClean="0">
                <a:latin typeface="宋体" pitchFamily="2" charset="-122"/>
                <a:ea typeface="宋体" pitchFamily="2" charset="-122"/>
              </a:rPr>
              <a:t>—6</a:t>
            </a:r>
            <a:r>
              <a:rPr lang="zh-CN" altLang="en-US" dirty="0" smtClean="0">
                <a:latin typeface="宋体" pitchFamily="2" charset="-122"/>
                <a:ea typeface="宋体" pitchFamily="2" charset="-122"/>
              </a:rPr>
              <a:t>月</a:t>
            </a:r>
            <a:r>
              <a:rPr lang="en-US" altLang="zh-CN" dirty="0" smtClean="0">
                <a:latin typeface="宋体" pitchFamily="2" charset="-122"/>
                <a:ea typeface="宋体" pitchFamily="2" charset="-122"/>
              </a:rPr>
              <a:t>8</a:t>
            </a:r>
            <a:r>
              <a:rPr lang="zh-CN" altLang="en-US" dirty="0" smtClean="0">
                <a:latin typeface="宋体" pitchFamily="2" charset="-122"/>
                <a:ea typeface="宋体" pitchFamily="2" charset="-122"/>
              </a:rPr>
              <a:t>日） </a:t>
            </a:r>
            <a:r>
              <a:rPr lang="en-US" altLang="zh-CN" dirty="0" smtClean="0">
                <a:latin typeface="宋体" pitchFamily="2" charset="-122"/>
                <a:ea typeface="宋体" pitchFamily="2" charset="-122"/>
              </a:rPr>
              <a:t>--20</a:t>
            </a:r>
            <a:r>
              <a:rPr lang="zh-CN" altLang="en-US" dirty="0" smtClean="0">
                <a:latin typeface="宋体" pitchFamily="2" charset="-122"/>
                <a:ea typeface="宋体" pitchFamily="2" charset="-122"/>
              </a:rPr>
              <a:t>学时</a:t>
            </a:r>
            <a:endParaRPr lang="en-US" altLang="zh-CN" dirty="0" smtClean="0">
              <a:latin typeface="宋体" pitchFamily="2" charset="-122"/>
              <a:ea typeface="宋体" pitchFamily="2" charset="-122"/>
            </a:endParaRPr>
          </a:p>
          <a:p>
            <a:pPr lvl="1"/>
            <a:r>
              <a:rPr lang="zh-CN" altLang="en-US" dirty="0" smtClean="0">
                <a:latin typeface="宋体" pitchFamily="2" charset="-122"/>
                <a:ea typeface="宋体" pitchFamily="2" charset="-122"/>
              </a:rPr>
              <a:t>分组</a:t>
            </a:r>
            <a:r>
              <a:rPr lang="en-US" altLang="zh-CN" dirty="0" smtClean="0">
                <a:latin typeface="宋体" pitchFamily="2" charset="-122"/>
                <a:ea typeface="宋体" pitchFamily="2" charset="-122"/>
              </a:rPr>
              <a:t>Demo</a:t>
            </a:r>
            <a:r>
              <a:rPr lang="zh-CN" altLang="en-US" dirty="0" smtClean="0">
                <a:latin typeface="宋体" pitchFamily="2" charset="-122"/>
                <a:ea typeface="宋体" pitchFamily="2" charset="-122"/>
              </a:rPr>
              <a:t>系统编制</a:t>
            </a:r>
            <a:endParaRPr lang="en-US" altLang="zh-CN" dirty="0" smtClean="0">
              <a:latin typeface="宋体" pitchFamily="2" charset="-122"/>
              <a:ea typeface="宋体" pitchFamily="2" charset="-122"/>
            </a:endParaRPr>
          </a:p>
          <a:p>
            <a:pPr lvl="2"/>
            <a:r>
              <a:rPr lang="zh-CN" altLang="en-US" dirty="0" smtClean="0">
                <a:latin typeface="宋体" pitchFamily="2" charset="-122"/>
                <a:ea typeface="宋体" pitchFamily="2" charset="-122"/>
              </a:rPr>
              <a:t>选题说明</a:t>
            </a:r>
            <a:endParaRPr lang="en-US" altLang="zh-CN" dirty="0" smtClean="0">
              <a:latin typeface="宋体" pitchFamily="2" charset="-122"/>
              <a:ea typeface="宋体" pitchFamily="2" charset="-122"/>
            </a:endParaRPr>
          </a:p>
          <a:p>
            <a:pPr lvl="2"/>
            <a:r>
              <a:rPr lang="zh-CN" altLang="en-US" dirty="0" smtClean="0">
                <a:latin typeface="宋体" pitchFamily="2" charset="-122"/>
                <a:ea typeface="宋体" pitchFamily="2" charset="-122"/>
              </a:rPr>
              <a:t>各种文档</a:t>
            </a:r>
            <a:endParaRPr lang="en-US" altLang="zh-CN" dirty="0" smtClean="0">
              <a:latin typeface="宋体" pitchFamily="2" charset="-122"/>
              <a:ea typeface="宋体" pitchFamily="2" charset="-122"/>
            </a:endParaRPr>
          </a:p>
          <a:p>
            <a:pPr lvl="2"/>
            <a:r>
              <a:rPr lang="en-US" altLang="zh-CN" dirty="0" smtClean="0">
                <a:latin typeface="宋体" pitchFamily="2" charset="-122"/>
                <a:ea typeface="宋体" pitchFamily="2" charset="-122"/>
              </a:rPr>
              <a:t>Coding</a:t>
            </a:r>
          </a:p>
          <a:p>
            <a:r>
              <a:rPr lang="zh-CN" altLang="en-US" dirty="0" smtClean="0">
                <a:latin typeface="宋体" pitchFamily="2" charset="-122"/>
                <a:ea typeface="宋体" pitchFamily="2" charset="-122"/>
              </a:rPr>
              <a:t>考试周（答疑、考试）     </a:t>
            </a:r>
            <a:r>
              <a:rPr lang="en-US" altLang="zh-CN" dirty="0" smtClean="0">
                <a:latin typeface="宋体" pitchFamily="2" charset="-122"/>
                <a:ea typeface="宋体" pitchFamily="2" charset="-122"/>
              </a:rPr>
              <a:t>--4</a:t>
            </a:r>
            <a:r>
              <a:rPr lang="zh-CN" altLang="en-US" dirty="0" smtClean="0">
                <a:latin typeface="宋体" pitchFamily="2" charset="-122"/>
                <a:ea typeface="宋体" pitchFamily="2" charset="-122"/>
              </a:rPr>
              <a:t>学时     </a:t>
            </a:r>
            <a:endParaRPr lang="en-US" altLang="zh-CN" dirty="0" smtClean="0"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6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Line 3"/>
          <p:cNvSpPr>
            <a:spLocks noChangeShapeType="1"/>
          </p:cNvSpPr>
          <p:nvPr/>
        </p:nvSpPr>
        <p:spPr bwMode="auto">
          <a:xfrm>
            <a:off x="2286000" y="2378075"/>
            <a:ext cx="4678363" cy="0"/>
          </a:xfrm>
          <a:prstGeom prst="line">
            <a:avLst/>
          </a:prstGeom>
          <a:noFill/>
          <a:ln w="25400">
            <a:solidFill>
              <a:schemeClr val="bg2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08" name="Text Box 4"/>
          <p:cNvSpPr txBox="1">
            <a:spLocks noChangeArrowheads="1"/>
          </p:cNvSpPr>
          <p:nvPr/>
        </p:nvSpPr>
        <p:spPr bwMode="auto">
          <a:xfrm>
            <a:off x="2525713" y="1905000"/>
            <a:ext cx="4408487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2400" dirty="0" smtClean="0">
                <a:ea typeface="宋体" pitchFamily="2" charset="-122"/>
              </a:rPr>
              <a:t>概述</a:t>
            </a:r>
            <a:endParaRPr lang="zh-CN" altLang="en-US" sz="2400" dirty="0">
              <a:ea typeface="宋体" pitchFamily="2" charset="-122"/>
            </a:endParaRP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1981200" y="1911350"/>
            <a:ext cx="468313" cy="468313"/>
            <a:chOff x="662" y="1574"/>
            <a:chExt cx="480" cy="476"/>
          </a:xfrm>
        </p:grpSpPr>
        <p:grpSp>
          <p:nvGrpSpPr>
            <p:cNvPr id="3" name="Group 7"/>
            <p:cNvGrpSpPr>
              <a:grpSpLocks/>
            </p:cNvGrpSpPr>
            <p:nvPr/>
          </p:nvGrpSpPr>
          <p:grpSpPr bwMode="auto">
            <a:xfrm>
              <a:off x="662" y="1574"/>
              <a:ext cx="480" cy="476"/>
              <a:chOff x="662" y="1574"/>
              <a:chExt cx="480" cy="476"/>
            </a:xfrm>
          </p:grpSpPr>
          <p:sp>
            <p:nvSpPr>
              <p:cNvPr id="72712" name="Oval 8"/>
              <p:cNvSpPr>
                <a:spLocks noChangeArrowheads="1"/>
              </p:cNvSpPr>
              <p:nvPr/>
            </p:nvSpPr>
            <p:spPr bwMode="gray">
              <a:xfrm>
                <a:off x="662" y="1574"/>
                <a:ext cx="480" cy="476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tint val="0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tint val="0"/>
                      <a:invGamma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713" name="Oval 9"/>
              <p:cNvSpPr>
                <a:spLocks noChangeArrowheads="1"/>
              </p:cNvSpPr>
              <p:nvPr/>
            </p:nvSpPr>
            <p:spPr bwMode="gray">
              <a:xfrm>
                <a:off x="662" y="1574"/>
                <a:ext cx="480" cy="476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alpha val="32001"/>
                    </a:schemeClr>
                  </a:gs>
                  <a:gs pos="100000">
                    <a:schemeClr val="accent1">
                      <a:gamma/>
                      <a:shade val="0"/>
                      <a:invGamma/>
                      <a:alpha val="89999"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714" name="Oval 10"/>
              <p:cNvSpPr>
                <a:spLocks noChangeArrowheads="1"/>
              </p:cNvSpPr>
              <p:nvPr/>
            </p:nvSpPr>
            <p:spPr bwMode="gray">
              <a:xfrm>
                <a:off x="694" y="1605"/>
                <a:ext cx="416" cy="414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54118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54118"/>
                      <a:invGamma/>
                    </a:schemeClr>
                  </a:gs>
                </a:gsLst>
                <a:lin ang="189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715" name="Oval 11"/>
              <p:cNvSpPr>
                <a:spLocks noChangeArrowheads="1"/>
              </p:cNvSpPr>
              <p:nvPr/>
            </p:nvSpPr>
            <p:spPr bwMode="gray">
              <a:xfrm>
                <a:off x="694" y="1606"/>
                <a:ext cx="416" cy="414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63529"/>
                      <a:invGamma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4" name="Group 12"/>
            <p:cNvGrpSpPr>
              <a:grpSpLocks/>
            </p:cNvGrpSpPr>
            <p:nvPr/>
          </p:nvGrpSpPr>
          <p:grpSpPr bwMode="auto">
            <a:xfrm>
              <a:off x="720" y="1625"/>
              <a:ext cx="376" cy="379"/>
              <a:chOff x="336" y="1049"/>
              <a:chExt cx="376" cy="379"/>
            </a:xfrm>
          </p:grpSpPr>
          <p:sp>
            <p:nvSpPr>
              <p:cNvPr id="72717" name="Oval 13"/>
              <p:cNvSpPr>
                <a:spLocks noChangeArrowheads="1"/>
              </p:cNvSpPr>
              <p:nvPr/>
            </p:nvSpPr>
            <p:spPr bwMode="gray">
              <a:xfrm>
                <a:off x="336" y="1056"/>
                <a:ext cx="376" cy="372"/>
              </a:xfrm>
              <a:prstGeom prst="ellipse">
                <a:avLst/>
              </a:prstGeom>
              <a:solidFill>
                <a:srgbClr val="000000"/>
              </a:soli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5" name="Group 14"/>
              <p:cNvGrpSpPr>
                <a:grpSpLocks/>
              </p:cNvGrpSpPr>
              <p:nvPr/>
            </p:nvGrpSpPr>
            <p:grpSpPr bwMode="auto">
              <a:xfrm>
                <a:off x="336" y="1049"/>
                <a:ext cx="364" cy="361"/>
                <a:chOff x="4166" y="1706"/>
                <a:chExt cx="1252" cy="1252"/>
              </a:xfrm>
            </p:grpSpPr>
            <p:sp>
              <p:nvSpPr>
                <p:cNvPr id="72719" name="Oval 15"/>
                <p:cNvSpPr>
                  <a:spLocks noChangeArrowheads="1"/>
                </p:cNvSpPr>
                <p:nvPr/>
              </p:nvSpPr>
              <p:spPr bwMode="gray">
                <a:xfrm>
                  <a:off x="4166" y="1706"/>
                  <a:ext cx="1252" cy="125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shade val="46275"/>
                        <a:invGamma/>
                      </a:srgbClr>
                    </a:gs>
                    <a:gs pos="100000">
                      <a:srgbClr val="D6E1E2"/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720" name="Oval 16"/>
                <p:cNvSpPr>
                  <a:spLocks noChangeArrowheads="1"/>
                </p:cNvSpPr>
                <p:nvPr/>
              </p:nvSpPr>
              <p:spPr bwMode="gray">
                <a:xfrm>
                  <a:off x="4182" y="1713"/>
                  <a:ext cx="1222" cy="122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alpha val="0"/>
                      </a:srgbClr>
                    </a:gs>
                    <a:gs pos="100000">
                      <a:srgbClr val="D6E1E2">
                        <a:gamma/>
                        <a:tint val="34902"/>
                        <a:invGamma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721" name="Oval 17"/>
                <p:cNvSpPr>
                  <a:spLocks noChangeArrowheads="1"/>
                </p:cNvSpPr>
                <p:nvPr/>
              </p:nvSpPr>
              <p:spPr bwMode="gray">
                <a:xfrm>
                  <a:off x="4195" y="1725"/>
                  <a:ext cx="1162" cy="114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shade val="79216"/>
                        <a:invGamma/>
                      </a:srgbClr>
                    </a:gs>
                    <a:gs pos="100000">
                      <a:srgbClr val="D6E1E2">
                        <a:alpha val="48000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722" name="Oval 18"/>
                <p:cNvSpPr>
                  <a:spLocks noChangeArrowheads="1"/>
                </p:cNvSpPr>
                <p:nvPr/>
              </p:nvSpPr>
              <p:spPr bwMode="gray">
                <a:xfrm>
                  <a:off x="4263" y="1757"/>
                  <a:ext cx="1033" cy="92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gamma/>
                        <a:tint val="0"/>
                        <a:invGamma/>
                      </a:srgbClr>
                    </a:gs>
                    <a:gs pos="100000">
                      <a:srgbClr val="D6E1E2">
                        <a:alpha val="38000"/>
                      </a:srgbClr>
                    </a:gs>
                  </a:gsLst>
                  <a:lin ang="5400000" scaled="1"/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72723" name="Text Box 19"/>
          <p:cNvSpPr txBox="1">
            <a:spLocks noChangeArrowheads="1"/>
          </p:cNvSpPr>
          <p:nvPr/>
        </p:nvSpPr>
        <p:spPr bwMode="gray">
          <a:xfrm>
            <a:off x="2057400" y="1920875"/>
            <a:ext cx="325438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dirty="0">
                <a:solidFill>
                  <a:schemeClr val="bg1"/>
                </a:solidFill>
                <a:ea typeface="宋体" pitchFamily="2" charset="-122"/>
              </a:rPr>
              <a:t>1</a:t>
            </a:r>
          </a:p>
        </p:txBody>
      </p:sp>
      <p:sp>
        <p:nvSpPr>
          <p:cNvPr id="72799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1" name="矩形 100"/>
          <p:cNvSpPr/>
          <p:nvPr/>
        </p:nvSpPr>
        <p:spPr bwMode="auto">
          <a:xfrm>
            <a:off x="1600200" y="1828800"/>
            <a:ext cx="5791200" cy="609600"/>
          </a:xfrm>
          <a:prstGeom prst="rect">
            <a:avLst/>
          </a:prstGeom>
          <a:solidFill>
            <a:schemeClr val="accent1">
              <a:alpha val="44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02" name="矩形 101"/>
          <p:cNvSpPr/>
          <p:nvPr/>
        </p:nvSpPr>
        <p:spPr bwMode="auto">
          <a:xfrm>
            <a:off x="1600200" y="2438400"/>
            <a:ext cx="5791200" cy="3048000"/>
          </a:xfrm>
          <a:prstGeom prst="rect">
            <a:avLst/>
          </a:prstGeom>
          <a:solidFill>
            <a:schemeClr val="tx2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ctr">
              <a:buFont typeface="Wingdings" pitchFamily="2" charset="2"/>
              <a:buChar char="Ø"/>
            </a:pPr>
            <a:r>
              <a:rPr lang="en-US" altLang="zh-CN" sz="2400" dirty="0" smtClean="0">
                <a:latin typeface="楷体_GB2312" pitchFamily="49" charset="-122"/>
                <a:ea typeface="楷体_GB2312" pitchFamily="49" charset="-122"/>
              </a:rPr>
              <a:t>GIS</a:t>
            </a:r>
            <a:endParaRPr lang="zh-CN" altLang="en-US" sz="2400" dirty="0" smtClean="0">
              <a:latin typeface="楷体_GB2312" pitchFamily="49" charset="-122"/>
              <a:ea typeface="楷体_GB2312" pitchFamily="49" charset="-122"/>
            </a:endParaRPr>
          </a:p>
          <a:p>
            <a:pPr fontAlgn="ctr">
              <a:buFont typeface="Wingdings" pitchFamily="2" charset="2"/>
              <a:buChar char="Ø"/>
            </a:pPr>
            <a:r>
              <a:rPr lang="en-US" altLang="zh-CN" sz="2400" dirty="0" err="1" smtClean="0">
                <a:latin typeface="楷体_GB2312" pitchFamily="49" charset="-122"/>
                <a:ea typeface="楷体_GB2312" pitchFamily="49" charset="-122"/>
              </a:rPr>
              <a:t>ArcGIS</a:t>
            </a:r>
            <a:endParaRPr lang="en-US" altLang="zh-CN" sz="2400" dirty="0" smtClean="0">
              <a:latin typeface="楷体_GB2312" pitchFamily="49" charset="-122"/>
              <a:ea typeface="楷体_GB2312" pitchFamily="49" charset="-122"/>
            </a:endParaRPr>
          </a:p>
          <a:p>
            <a:pPr fontAlgn="ctr">
              <a:buFont typeface="Wingdings" pitchFamily="2" charset="2"/>
              <a:buChar char="Ø"/>
            </a:pPr>
            <a:r>
              <a:rPr lang="en-US" altLang="zh-CN" sz="2400" dirty="0" smtClean="0">
                <a:latin typeface="楷体_GB2312" pitchFamily="49" charset="-122"/>
                <a:ea typeface="楷体_GB2312" pitchFamily="49" charset="-122"/>
              </a:rPr>
              <a:t>AO</a:t>
            </a:r>
          </a:p>
          <a:p>
            <a:pPr fontAlgn="ctr">
              <a:buFont typeface="Wingdings" pitchFamily="2" charset="2"/>
              <a:buChar char="Ø"/>
            </a:pPr>
            <a:r>
              <a:rPr lang="en-US" altLang="zh-CN" sz="2400" dirty="0" err="1" smtClean="0">
                <a:latin typeface="楷体_GB2312" pitchFamily="49" charset="-122"/>
                <a:ea typeface="楷体_GB2312" pitchFamily="49" charset="-122"/>
              </a:rPr>
              <a:t>ArcGIS</a:t>
            </a:r>
            <a:r>
              <a:rPr lang="zh-CN" altLang="en-US" sz="2400" dirty="0" smtClean="0">
                <a:latin typeface="楷体_GB2312" pitchFamily="49" charset="-122"/>
                <a:ea typeface="楷体_GB2312" pitchFamily="49" charset="-122"/>
              </a:rPr>
              <a:t>二次开发模式</a:t>
            </a:r>
          </a:p>
          <a:p>
            <a:pPr fontAlgn="ctr">
              <a:buFont typeface="Wingdings" pitchFamily="2" charset="2"/>
              <a:buChar char="Ø"/>
            </a:pPr>
            <a:r>
              <a:rPr lang="en-US" altLang="zh-CN" sz="2400" dirty="0" smtClean="0">
                <a:latin typeface="楷体_GB2312" pitchFamily="49" charset="-122"/>
                <a:ea typeface="楷体_GB2312" pitchFamily="49" charset="-122"/>
              </a:rPr>
              <a:t>OMD</a:t>
            </a:r>
            <a:endParaRPr lang="zh-CN" altLang="en-US" sz="2400" dirty="0" smtClean="0">
              <a:latin typeface="楷体_GB2312" pitchFamily="49" charset="-122"/>
              <a:ea typeface="楷体_GB2312" pitchFamily="49" charset="-122"/>
            </a:endParaRPr>
          </a:p>
          <a:p>
            <a:pPr fontAlgn="ctr">
              <a:buFont typeface="Wingdings" pitchFamily="2" charset="2"/>
              <a:buChar char="Ø"/>
            </a:pPr>
            <a:r>
              <a:rPr lang="zh-CN" altLang="en-US" sz="2400" dirty="0" smtClean="0">
                <a:latin typeface="楷体_GB2312" pitchFamily="49" charset="-122"/>
                <a:ea typeface="楷体_GB2312" pitchFamily="49" charset="-122"/>
              </a:rPr>
              <a:t>开发平台</a:t>
            </a:r>
            <a:endParaRPr lang="zh-CN" altLang="en-US" sz="24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03" name="标题 10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、概述</a:t>
            </a:r>
            <a:endParaRPr lang="zh-CN" altLang="en-US" dirty="0"/>
          </a:p>
        </p:txBody>
      </p:sp>
      <p:pic>
        <p:nvPicPr>
          <p:cNvPr id="24" name="内容占位符 6" descr="师大图标.png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343000"/>
            <a:ext cx="800000" cy="800000"/>
          </a:xfrm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 animBg="1"/>
      <p:bldP spid="10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、概述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GIS</a:t>
            </a:r>
            <a:r>
              <a:rPr lang="zh-CN" altLang="en-US" dirty="0" smtClean="0"/>
              <a:t>开发模式发展</a:t>
            </a:r>
            <a:endParaRPr lang="en-US" altLang="zh-CN" dirty="0" smtClean="0"/>
          </a:p>
          <a:p>
            <a:pPr lvl="1"/>
            <a:r>
              <a:rPr lang="zh-CN" altLang="en-US" sz="1800" dirty="0" smtClean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随着计算机通信网络技术的快速发展</a:t>
            </a:r>
            <a:r>
              <a:rPr lang="en-US" altLang="zh-CN" sz="1800" dirty="0" smtClean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, GIS</a:t>
            </a:r>
            <a:r>
              <a:rPr lang="zh-CN" altLang="en-US" sz="1800" dirty="0" smtClean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软件开发模式经历了许多变化</a:t>
            </a:r>
            <a:r>
              <a:rPr lang="en-US" altLang="zh-CN" sz="1800" dirty="0" smtClean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1800" dirty="0" smtClean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由最初的</a:t>
            </a:r>
            <a:r>
              <a:rPr lang="en-US" altLang="zh-CN" sz="1800" dirty="0" smtClean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GIS</a:t>
            </a:r>
            <a:r>
              <a:rPr lang="zh-CN" altLang="en-US" sz="1800" dirty="0" smtClean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功能包发展到集成式和模块式</a:t>
            </a:r>
            <a:r>
              <a:rPr lang="en-US" altLang="zh-CN" sz="1800" dirty="0" smtClean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1800" dirty="0" smtClean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并由模块式发展到现在的组件式</a:t>
            </a:r>
            <a:r>
              <a:rPr lang="en-US" altLang="zh-CN" sz="1800" dirty="0" smtClean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GIS</a:t>
            </a:r>
            <a:r>
              <a:rPr lang="zh-CN" altLang="en-US" sz="1800" dirty="0" smtClean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。</a:t>
            </a:r>
          </a:p>
          <a:p>
            <a:pPr lvl="1"/>
            <a:r>
              <a:rPr lang="en-US" altLang="zh-CN" sz="1800" dirty="0" smtClean="0">
                <a:latin typeface="黑体" pitchFamily="2" charset="-122"/>
                <a:ea typeface="黑体" pitchFamily="2" charset="-122"/>
              </a:rPr>
              <a:t>GIS</a:t>
            </a:r>
            <a:r>
              <a:rPr lang="zh-CN" altLang="en-US" sz="1800" dirty="0" smtClean="0">
                <a:latin typeface="黑体" pitchFamily="2" charset="-122"/>
                <a:ea typeface="黑体" pitchFamily="2" charset="-122"/>
              </a:rPr>
              <a:t>功能包</a:t>
            </a:r>
            <a:r>
              <a:rPr lang="en-US" altLang="zh-CN" sz="1800" dirty="0" smtClean="0">
                <a:latin typeface="黑体" pitchFamily="2" charset="-122"/>
                <a:ea typeface="黑体" pitchFamily="2" charset="-122"/>
              </a:rPr>
              <a:t>--</a:t>
            </a:r>
            <a:r>
              <a:rPr lang="zh-CN" altLang="en-US" sz="1800" dirty="0" smtClean="0">
                <a:latin typeface="黑体" pitchFamily="2" charset="-122"/>
                <a:ea typeface="黑体" pitchFamily="2" charset="-122"/>
              </a:rPr>
              <a:t>发展初期，只能完成较简单的操作</a:t>
            </a:r>
            <a:r>
              <a:rPr lang="en-US" altLang="zh-CN" sz="1800" dirty="0" smtClean="0"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1800" dirty="0" smtClean="0">
                <a:latin typeface="黑体" pitchFamily="2" charset="-122"/>
                <a:ea typeface="黑体" pitchFamily="2" charset="-122"/>
              </a:rPr>
              <a:t>功能包之间不能很好地协作</a:t>
            </a:r>
            <a:r>
              <a:rPr lang="en-US" altLang="zh-CN" sz="1800" dirty="0" smtClean="0"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1800" dirty="0" smtClean="0">
                <a:latin typeface="黑体" pitchFamily="2" charset="-122"/>
                <a:ea typeface="黑体" pitchFamily="2" charset="-122"/>
              </a:rPr>
              <a:t>也不能形成一个集成系统</a:t>
            </a:r>
          </a:p>
          <a:p>
            <a:pPr lvl="1"/>
            <a:r>
              <a:rPr lang="zh-CN" altLang="en-US" sz="1800" dirty="0" smtClean="0">
                <a:latin typeface="黑体" pitchFamily="2" charset="-122"/>
                <a:ea typeface="黑体" pitchFamily="2" charset="-122"/>
              </a:rPr>
              <a:t>集成式</a:t>
            </a:r>
            <a:r>
              <a:rPr lang="en-US" altLang="zh-CN" sz="1800" dirty="0" smtClean="0">
                <a:latin typeface="黑体" pitchFamily="2" charset="-122"/>
                <a:ea typeface="黑体" pitchFamily="2" charset="-122"/>
              </a:rPr>
              <a:t>GIS</a:t>
            </a:r>
            <a:r>
              <a:rPr lang="zh-CN" altLang="en-US" sz="1800" dirty="0" smtClean="0">
                <a:latin typeface="黑体" pitchFamily="2" charset="-122"/>
                <a:ea typeface="黑体" pitchFamily="2" charset="-122"/>
              </a:rPr>
              <a:t>是</a:t>
            </a:r>
            <a:r>
              <a:rPr lang="en-US" altLang="zh-CN" sz="1800" dirty="0" smtClean="0">
                <a:latin typeface="黑体" pitchFamily="2" charset="-122"/>
                <a:ea typeface="黑体" pitchFamily="2" charset="-122"/>
              </a:rPr>
              <a:t>GIS</a:t>
            </a:r>
            <a:r>
              <a:rPr lang="zh-CN" altLang="en-US" sz="1800" dirty="0" smtClean="0">
                <a:latin typeface="黑体" pitchFamily="2" charset="-122"/>
                <a:ea typeface="黑体" pitchFamily="2" charset="-122"/>
              </a:rPr>
              <a:t>功能包模式的发展</a:t>
            </a:r>
            <a:r>
              <a:rPr lang="en-US" altLang="zh-CN" sz="1800" dirty="0" smtClean="0"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1800" dirty="0" smtClean="0">
                <a:latin typeface="黑体" pitchFamily="2" charset="-122"/>
                <a:ea typeface="黑体" pitchFamily="2" charset="-122"/>
              </a:rPr>
              <a:t>它把各种</a:t>
            </a:r>
            <a:r>
              <a:rPr lang="en-US" altLang="zh-CN" sz="1800" dirty="0" smtClean="0">
                <a:latin typeface="黑体" pitchFamily="2" charset="-122"/>
                <a:ea typeface="黑体" pitchFamily="2" charset="-122"/>
              </a:rPr>
              <a:t>GIS</a:t>
            </a:r>
            <a:r>
              <a:rPr lang="zh-CN" altLang="en-US" sz="1800" dirty="0" smtClean="0">
                <a:latin typeface="黑体" pitchFamily="2" charset="-122"/>
                <a:ea typeface="黑体" pitchFamily="2" charset="-122"/>
              </a:rPr>
              <a:t>功能包集成到一个用户界面，容易操作，但庞大昂贵</a:t>
            </a:r>
            <a:r>
              <a:rPr lang="en-US" altLang="zh-CN" sz="1800" dirty="0" smtClean="0"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1800" dirty="0" smtClean="0">
                <a:latin typeface="黑体" pitchFamily="2" charset="-122"/>
                <a:ea typeface="黑体" pitchFamily="2" charset="-122"/>
              </a:rPr>
              <a:t>难以开发和维护</a:t>
            </a:r>
            <a:r>
              <a:rPr lang="en-US" altLang="zh-CN" sz="1800" dirty="0" smtClean="0"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1800" dirty="0" smtClean="0">
                <a:latin typeface="黑体" pitchFamily="2" charset="-122"/>
                <a:ea typeface="黑体" pitchFamily="2" charset="-122"/>
              </a:rPr>
              <a:t>且很难与其他系统集成</a:t>
            </a:r>
          </a:p>
          <a:p>
            <a:pPr lvl="1"/>
            <a:r>
              <a:rPr lang="zh-CN" altLang="en-US" sz="1800" dirty="0" smtClean="0">
                <a:latin typeface="黑体" pitchFamily="2" charset="-122"/>
                <a:ea typeface="黑体" pitchFamily="2" charset="-122"/>
              </a:rPr>
              <a:t>模块式</a:t>
            </a:r>
            <a:r>
              <a:rPr lang="en-US" altLang="zh-CN" sz="1800" dirty="0" smtClean="0">
                <a:latin typeface="黑体" pitchFamily="2" charset="-122"/>
                <a:ea typeface="黑体" pitchFamily="2" charset="-122"/>
              </a:rPr>
              <a:t>GIS</a:t>
            </a:r>
            <a:r>
              <a:rPr lang="zh-CN" altLang="en-US" sz="1800" dirty="0" smtClean="0">
                <a:latin typeface="黑体" pitchFamily="2" charset="-122"/>
                <a:ea typeface="黑体" pitchFamily="2" charset="-122"/>
              </a:rPr>
              <a:t>是集成式</a:t>
            </a:r>
            <a:r>
              <a:rPr lang="en-US" altLang="zh-CN" sz="1800" dirty="0" smtClean="0">
                <a:latin typeface="黑体" pitchFamily="2" charset="-122"/>
                <a:ea typeface="黑体" pitchFamily="2" charset="-122"/>
              </a:rPr>
              <a:t>GIS</a:t>
            </a:r>
            <a:r>
              <a:rPr lang="zh-CN" altLang="en-US" sz="1800" dirty="0" smtClean="0">
                <a:latin typeface="黑体" pitchFamily="2" charset="-122"/>
                <a:ea typeface="黑体" pitchFamily="2" charset="-122"/>
              </a:rPr>
              <a:t>的进一步发展，容易开发和维护，但完成不同的</a:t>
            </a:r>
            <a:r>
              <a:rPr lang="en-US" altLang="zh-CN" sz="1800" dirty="0" smtClean="0">
                <a:latin typeface="黑体" pitchFamily="2" charset="-122"/>
                <a:ea typeface="黑体" pitchFamily="2" charset="-122"/>
              </a:rPr>
              <a:t>GIS</a:t>
            </a:r>
            <a:r>
              <a:rPr lang="zh-CN" altLang="en-US" sz="1800" dirty="0" smtClean="0">
                <a:latin typeface="黑体" pitchFamily="2" charset="-122"/>
                <a:ea typeface="黑体" pitchFamily="2" charset="-122"/>
              </a:rPr>
              <a:t>功能必须在功能模块之间来回切换</a:t>
            </a:r>
            <a:r>
              <a:rPr lang="en-US" altLang="zh-CN" sz="1800" dirty="0" smtClean="0"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1800" dirty="0" smtClean="0">
                <a:latin typeface="黑体" pitchFamily="2" charset="-122"/>
                <a:ea typeface="黑体" pitchFamily="2" charset="-122"/>
              </a:rPr>
              <a:t>也很难与其他系统集成</a:t>
            </a:r>
          </a:p>
          <a:p>
            <a:pPr lvl="1"/>
            <a:r>
              <a:rPr lang="en-US" altLang="zh-CN" sz="1800" dirty="0" err="1" smtClean="0">
                <a:latin typeface="黑体" pitchFamily="2" charset="-122"/>
                <a:ea typeface="黑体" pitchFamily="2" charset="-122"/>
              </a:rPr>
              <a:t>ComGIS</a:t>
            </a:r>
            <a:r>
              <a:rPr lang="zh-CN" altLang="en-US" sz="1800" dirty="0" smtClean="0">
                <a:latin typeface="黑体" pitchFamily="2" charset="-122"/>
                <a:ea typeface="黑体" pitchFamily="2" charset="-122"/>
              </a:rPr>
              <a:t>的基本思想是将</a:t>
            </a:r>
            <a:r>
              <a:rPr lang="en-US" altLang="zh-CN" sz="1800" dirty="0" smtClean="0">
                <a:latin typeface="黑体" pitchFamily="2" charset="-122"/>
                <a:ea typeface="黑体" pitchFamily="2" charset="-122"/>
              </a:rPr>
              <a:t>GIS</a:t>
            </a:r>
            <a:r>
              <a:rPr lang="zh-CN" altLang="en-US" sz="1800" dirty="0" smtClean="0">
                <a:latin typeface="黑体" pitchFamily="2" charset="-122"/>
                <a:ea typeface="黑体" pitchFamily="2" charset="-122"/>
              </a:rPr>
              <a:t>的各大功能模块分解成许多较小的独立的软件单元</a:t>
            </a:r>
            <a:r>
              <a:rPr lang="en-US" altLang="zh-CN" sz="1800" dirty="0" smtClean="0"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1800" dirty="0" smtClean="0">
                <a:latin typeface="黑体" pitchFamily="2" charset="-122"/>
                <a:ea typeface="黑体" pitchFamily="2" charset="-122"/>
              </a:rPr>
              <a:t>称为组件</a:t>
            </a:r>
            <a:r>
              <a:rPr lang="en-US" altLang="zh-CN" sz="1800" dirty="0" smtClean="0">
                <a:latin typeface="黑体" pitchFamily="2" charset="-122"/>
                <a:ea typeface="黑体" pitchFamily="2" charset="-122"/>
              </a:rPr>
              <a:t>(</a:t>
            </a:r>
            <a:r>
              <a:rPr lang="zh-CN" altLang="en-US" sz="1800" dirty="0" smtClean="0">
                <a:latin typeface="黑体" pitchFamily="2" charset="-122"/>
                <a:ea typeface="黑体" pitchFamily="2" charset="-122"/>
              </a:rPr>
              <a:t>控件、构件</a:t>
            </a:r>
            <a:r>
              <a:rPr lang="en-US" altLang="zh-CN" sz="1800" dirty="0" smtClean="0">
                <a:latin typeface="黑体" pitchFamily="2" charset="-122"/>
                <a:ea typeface="黑体" pitchFamily="2" charset="-122"/>
              </a:rPr>
              <a:t>) ,</a:t>
            </a:r>
            <a:r>
              <a:rPr lang="zh-CN" altLang="en-US" sz="1800" dirty="0" smtClean="0">
                <a:latin typeface="黑体" pitchFamily="2" charset="-122"/>
                <a:ea typeface="黑体" pitchFamily="2" charset="-122"/>
              </a:rPr>
              <a:t>每个组件完成不同的功能</a:t>
            </a:r>
            <a:r>
              <a:rPr lang="en-US" altLang="zh-CN" sz="1800" dirty="0" smtClean="0"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1800" dirty="0" smtClean="0">
                <a:latin typeface="黑体" pitchFamily="2" charset="-122"/>
                <a:ea typeface="黑体" pitchFamily="2" charset="-122"/>
              </a:rPr>
              <a:t>各个组件之间可根据应用需求</a:t>
            </a:r>
            <a:r>
              <a:rPr lang="en-US" altLang="zh-CN" sz="1800" dirty="0" smtClean="0"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1800" dirty="0" smtClean="0">
                <a:latin typeface="黑体" pitchFamily="2" charset="-122"/>
                <a:ea typeface="黑体" pitchFamily="2" charset="-122"/>
              </a:rPr>
              <a:t>通过可视化界面和使用方便的标准接口</a:t>
            </a:r>
            <a:r>
              <a:rPr lang="en-US" altLang="zh-CN" sz="1800" dirty="0" smtClean="0"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1800" dirty="0" smtClean="0">
                <a:latin typeface="黑体" pitchFamily="2" charset="-122"/>
                <a:ea typeface="黑体" pitchFamily="2" charset="-122"/>
              </a:rPr>
              <a:t>可靠而有效地结合在一起形成最终的应用系统。</a:t>
            </a:r>
          </a:p>
          <a:p>
            <a:pPr lvl="1"/>
            <a:endParaRPr lang="en-US" altLang="zh-CN" dirty="0" smtClean="0"/>
          </a:p>
          <a:p>
            <a:pPr lvl="1"/>
            <a:endParaRPr lang="zh-CN" altLang="en-US" dirty="0" smtClean="0"/>
          </a:p>
          <a:p>
            <a:pPr lvl="1"/>
            <a:endParaRPr lang="zh-CN" altLang="en-US" dirty="0" smtClean="0"/>
          </a:p>
          <a:p>
            <a:pPr lvl="1"/>
            <a:endParaRPr lang="zh-CN" altLang="en-US" dirty="0" smtClean="0"/>
          </a:p>
          <a:p>
            <a:pPr lvl="1"/>
            <a:endParaRPr lang="zh-CN" altLang="en-US" dirty="0" smtClean="0"/>
          </a:p>
        </p:txBody>
      </p:sp>
      <p:sp>
        <p:nvSpPr>
          <p:cNvPr id="7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6</a:t>
            </a:fld>
            <a:endParaRPr lang="en-US" altLang="zh-CN"/>
          </a:p>
        </p:txBody>
      </p:sp>
      <p:sp>
        <p:nvSpPr>
          <p:cNvPr id="26" name="矩形 25"/>
          <p:cNvSpPr/>
          <p:nvPr/>
        </p:nvSpPr>
        <p:spPr>
          <a:xfrm>
            <a:off x="1066800" y="5791200"/>
            <a:ext cx="6781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 smtClean="0"/>
              <a:t>功能包</a:t>
            </a:r>
            <a:r>
              <a:rPr lang="en-US" altLang="zh-CN" sz="2800" dirty="0" smtClean="0"/>
              <a:t>——</a:t>
            </a:r>
            <a:r>
              <a:rPr lang="zh-CN" altLang="en-US" sz="2800" dirty="0" smtClean="0"/>
              <a:t>集成式</a:t>
            </a:r>
            <a:r>
              <a:rPr lang="en-US" altLang="zh-CN" sz="2800" dirty="0" smtClean="0"/>
              <a:t>——</a:t>
            </a:r>
            <a:r>
              <a:rPr lang="zh-CN" altLang="en-US" sz="2800" dirty="0" smtClean="0"/>
              <a:t>模块式</a:t>
            </a:r>
            <a:r>
              <a:rPr lang="en-US" altLang="zh-CN" sz="2800" dirty="0" smtClean="0"/>
              <a:t>——</a:t>
            </a:r>
            <a:r>
              <a:rPr lang="zh-CN" altLang="en-US" sz="2800" dirty="0" smtClean="0"/>
              <a:t>构件式</a:t>
            </a:r>
            <a:endParaRPr lang="zh-CN" altLang="en-US" sz="2800" dirty="0"/>
          </a:p>
        </p:txBody>
      </p:sp>
      <p:pic>
        <p:nvPicPr>
          <p:cNvPr id="10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3400" y="1295400"/>
            <a:ext cx="8077200" cy="4724400"/>
          </a:xfrm>
        </p:spPr>
        <p:txBody>
          <a:bodyPr/>
          <a:lstStyle/>
          <a:p>
            <a:r>
              <a:rPr lang="en-US" altLang="zh-CN" dirty="0" smtClean="0"/>
              <a:t>ESRI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7</a:t>
            </a:fld>
            <a:endParaRPr lang="en-US" altLang="zh-CN"/>
          </a:p>
        </p:txBody>
      </p:sp>
      <p:sp>
        <p:nvSpPr>
          <p:cNvPr id="5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838200" y="1752600"/>
            <a:ext cx="3733800" cy="2743200"/>
            <a:chOff x="3505200" y="1752600"/>
            <a:chExt cx="4343400" cy="3124200"/>
          </a:xfrm>
        </p:grpSpPr>
        <p:pic>
          <p:nvPicPr>
            <p:cNvPr id="8" name="图片 7" descr="ESRI总裁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05200" y="1752600"/>
              <a:ext cx="4343400" cy="3092501"/>
            </a:xfrm>
            <a:prstGeom prst="rect">
              <a:avLst/>
            </a:prstGeom>
          </p:spPr>
        </p:pic>
        <p:sp>
          <p:nvSpPr>
            <p:cNvPr id="9" name="矩形 8"/>
            <p:cNvSpPr/>
            <p:nvPr/>
          </p:nvSpPr>
          <p:spPr>
            <a:xfrm>
              <a:off x="3581400" y="1828800"/>
              <a:ext cx="218521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Jack </a:t>
              </a:r>
              <a:r>
                <a:rPr lang="en-US" dirty="0" err="1" smtClean="0"/>
                <a:t>Dangermond</a:t>
              </a:r>
              <a:endParaRPr lang="zh-CN" altLang="en-US" dirty="0"/>
            </a:p>
          </p:txBody>
        </p:sp>
        <p:pic>
          <p:nvPicPr>
            <p:cNvPr id="7" name="图片 6" descr="logo_esri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05200" y="3962400"/>
              <a:ext cx="1330036" cy="914400"/>
            </a:xfrm>
            <a:prstGeom prst="rect">
              <a:avLst/>
            </a:prstGeom>
          </p:spPr>
        </p:pic>
      </p:grpSp>
      <p:sp>
        <p:nvSpPr>
          <p:cNvPr id="12" name="矩形 11"/>
          <p:cNvSpPr/>
          <p:nvPr/>
        </p:nvSpPr>
        <p:spPr>
          <a:xfrm>
            <a:off x="4572000" y="1676400"/>
            <a:ext cx="37338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1969</a:t>
            </a:r>
            <a:r>
              <a:rPr lang="zh-CN" altLang="en-US" dirty="0" smtClean="0"/>
              <a:t>年创建美国环境系统研究所公司（</a:t>
            </a:r>
            <a:r>
              <a:rPr lang="en-US" dirty="0" smtClean="0"/>
              <a:t>Environmental System Research Institute</a:t>
            </a:r>
            <a:r>
              <a:rPr lang="zh-CN" altLang="en-US" dirty="0" smtClean="0"/>
              <a:t>，</a:t>
            </a:r>
            <a:r>
              <a:rPr lang="en-US" dirty="0" smtClean="0"/>
              <a:t>ESRI</a:t>
            </a:r>
            <a:r>
              <a:rPr lang="zh-CN" altLang="en-US" dirty="0" smtClean="0"/>
              <a:t>）</a:t>
            </a:r>
          </a:p>
          <a:p>
            <a:r>
              <a:rPr lang="zh-CN" altLang="en-US" dirty="0" smtClean="0"/>
              <a:t>担任总裁至今。</a:t>
            </a:r>
            <a:endParaRPr lang="en-US" altLang="zh-CN" dirty="0" smtClean="0"/>
          </a:p>
          <a:p>
            <a:r>
              <a:rPr lang="zh-CN" altLang="en-US" dirty="0" smtClean="0"/>
              <a:t>曾受前美国副总统</a:t>
            </a:r>
            <a:r>
              <a:rPr lang="zh-CN" altLang="en-US" u="sng" dirty="0" smtClean="0"/>
              <a:t>戈尔</a:t>
            </a:r>
            <a:r>
              <a:rPr lang="zh-CN" altLang="en-US" dirty="0" smtClean="0"/>
              <a:t>接见</a:t>
            </a:r>
          </a:p>
          <a:p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4648200" y="3276600"/>
            <a:ext cx="3657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/>
              <a:t>“将近</a:t>
            </a:r>
            <a:r>
              <a:rPr lang="en-US" altLang="zh-CN" dirty="0" smtClean="0"/>
              <a:t>40</a:t>
            </a:r>
            <a:r>
              <a:rPr lang="zh-CN" altLang="en-US" dirty="0" smtClean="0"/>
              <a:t>年时间，我就干了这么一件事，就是让</a:t>
            </a:r>
            <a:r>
              <a:rPr lang="en-US" altLang="zh-CN" dirty="0" smtClean="0"/>
              <a:t>GIS</a:t>
            </a:r>
            <a:r>
              <a:rPr lang="zh-CN" altLang="en-US" dirty="0" smtClean="0"/>
              <a:t>从实验室里走出来，并成为了一个蒸蒸日上的产业。”</a:t>
            </a:r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609600" y="4953000"/>
            <a:ext cx="3886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/>
              <a:t>全球</a:t>
            </a:r>
            <a:r>
              <a:rPr lang="en-US" altLang="zh-CN" dirty="0" smtClean="0"/>
              <a:t>500</a:t>
            </a:r>
            <a:r>
              <a:rPr lang="zh-CN" altLang="en-US" dirty="0" smtClean="0"/>
              <a:t>强企业中有</a:t>
            </a:r>
            <a:r>
              <a:rPr lang="en-US" altLang="zh-CN" dirty="0" smtClean="0"/>
              <a:t>2/3</a:t>
            </a:r>
            <a:r>
              <a:rPr lang="zh-CN" altLang="en-US" dirty="0" smtClean="0"/>
              <a:t>都是</a:t>
            </a:r>
            <a:r>
              <a:rPr lang="en-US" altLang="zh-CN" dirty="0" smtClean="0"/>
              <a:t>ESRI</a:t>
            </a:r>
            <a:r>
              <a:rPr lang="zh-CN" altLang="en-US" dirty="0" smtClean="0"/>
              <a:t>的用户。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4572000" y="4495800"/>
            <a:ext cx="3886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/>
              <a:t>“现在，我的那间地下室变成了占地几百亩、分支机构遍布全球</a:t>
            </a:r>
            <a:r>
              <a:rPr lang="en-US" altLang="zh-CN" dirty="0" smtClean="0"/>
              <a:t>200</a:t>
            </a:r>
            <a:r>
              <a:rPr lang="zh-CN" altLang="en-US" dirty="0" smtClean="0"/>
              <a:t>多个国家和地区、拥有</a:t>
            </a:r>
            <a:r>
              <a:rPr lang="en-US" altLang="zh-CN" dirty="0" smtClean="0"/>
              <a:t>4000</a:t>
            </a:r>
            <a:r>
              <a:rPr lang="zh-CN" altLang="en-US" dirty="0" smtClean="0"/>
              <a:t>多名员工的企业。”</a:t>
            </a:r>
            <a:endParaRPr lang="zh-CN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609600" y="5791200"/>
            <a:ext cx="7620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/>
              <a:t>从原来向父母借的</a:t>
            </a:r>
            <a:r>
              <a:rPr lang="en-US" altLang="zh-CN" dirty="0" smtClean="0"/>
              <a:t>1000</a:t>
            </a:r>
            <a:r>
              <a:rPr lang="zh-CN" altLang="en-US" dirty="0" smtClean="0"/>
              <a:t>美元发展成到</a:t>
            </a:r>
            <a:r>
              <a:rPr lang="en-US" altLang="zh-CN" dirty="0" smtClean="0"/>
              <a:t>2007</a:t>
            </a:r>
            <a:r>
              <a:rPr lang="zh-CN" altLang="en-US" dirty="0" smtClean="0"/>
              <a:t>年已经接近</a:t>
            </a:r>
            <a:r>
              <a:rPr lang="en-US" altLang="zh-CN" dirty="0" smtClean="0"/>
              <a:t>10</a:t>
            </a:r>
            <a:r>
              <a:rPr lang="zh-CN" altLang="en-US" dirty="0" smtClean="0"/>
              <a:t>亿美元，带动</a:t>
            </a:r>
            <a:r>
              <a:rPr lang="en-US" altLang="zh-CN" dirty="0" smtClean="0"/>
              <a:t>200</a:t>
            </a:r>
            <a:r>
              <a:rPr lang="zh-CN" altLang="en-US" dirty="0" smtClean="0"/>
              <a:t>亿美元的市场。</a:t>
            </a:r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990600" y="2209800"/>
            <a:ext cx="12779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chemeClr val="bg1">
                    <a:lumMod val="75000"/>
                  </a:schemeClr>
                </a:solidFill>
              </a:rPr>
              <a:t>GIS“</a:t>
            </a:r>
            <a:r>
              <a:rPr lang="zh-CN" altLang="en-US" dirty="0" smtClean="0">
                <a:solidFill>
                  <a:schemeClr val="bg1">
                    <a:lumMod val="75000"/>
                  </a:schemeClr>
                </a:solidFill>
              </a:rPr>
              <a:t>教父”</a:t>
            </a:r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9" name="内容占位符 6" descr="师大图标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ArcGIS</a:t>
            </a:r>
            <a:r>
              <a:rPr lang="zh-CN" altLang="en-US" dirty="0" smtClean="0"/>
              <a:t>的发展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8</a:t>
            </a:fld>
            <a:endParaRPr lang="en-US" altLang="zh-CN"/>
          </a:p>
        </p:txBody>
      </p:sp>
      <p:sp>
        <p:nvSpPr>
          <p:cNvPr id="5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257800" y="2286000"/>
            <a:ext cx="36576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zh-CN" dirty="0" smtClean="0"/>
              <a:t>1981</a:t>
            </a:r>
            <a:r>
              <a:rPr lang="zh-CN" altLang="en-US" dirty="0" smtClean="0"/>
              <a:t>年，成功地推出第一个现代商业</a:t>
            </a:r>
            <a:r>
              <a:rPr lang="en-US" altLang="zh-CN" dirty="0" smtClean="0"/>
              <a:t>GIS</a:t>
            </a:r>
            <a:r>
              <a:rPr lang="zh-CN" altLang="en-US" dirty="0" smtClean="0"/>
              <a:t>系统</a:t>
            </a:r>
            <a:r>
              <a:rPr lang="en-US" altLang="zh-CN" dirty="0" smtClean="0"/>
              <a:t>ARC/INFO</a:t>
            </a:r>
          </a:p>
          <a:p>
            <a:pPr>
              <a:buFont typeface="Arial" pitchFamily="34" charset="0"/>
              <a:buChar char="•"/>
            </a:pPr>
            <a:r>
              <a:rPr lang="en-US" altLang="zh-CN" dirty="0" smtClean="0"/>
              <a:t>1992</a:t>
            </a:r>
            <a:r>
              <a:rPr lang="zh-CN" altLang="en-US" dirty="0" smtClean="0"/>
              <a:t>年，推出</a:t>
            </a:r>
            <a:r>
              <a:rPr lang="en-US" altLang="zh-CN" dirty="0" err="1" smtClean="0"/>
              <a:t>ArcView</a:t>
            </a:r>
            <a:endParaRPr lang="en-US" altLang="zh-CN" dirty="0" smtClean="0"/>
          </a:p>
          <a:p>
            <a:pPr>
              <a:buFont typeface="Arial" pitchFamily="34" charset="0"/>
              <a:buChar char="•"/>
            </a:pPr>
            <a:r>
              <a:rPr lang="en-US" altLang="zh-CN" dirty="0" smtClean="0"/>
              <a:t>1997</a:t>
            </a:r>
            <a:r>
              <a:rPr lang="zh-CN" altLang="en-US" dirty="0" smtClean="0"/>
              <a:t>年，利用</a:t>
            </a:r>
            <a:r>
              <a:rPr lang="en-US" altLang="zh-CN" dirty="0" smtClean="0"/>
              <a:t>COM</a:t>
            </a:r>
            <a:r>
              <a:rPr lang="zh-CN" altLang="en-US" dirty="0" smtClean="0"/>
              <a:t>组件技术开始重组已有</a:t>
            </a:r>
            <a:r>
              <a:rPr lang="en-US" altLang="zh-CN" dirty="0" smtClean="0"/>
              <a:t>GIS</a:t>
            </a:r>
            <a:r>
              <a:rPr lang="zh-CN" altLang="en-US" dirty="0" smtClean="0"/>
              <a:t>产品</a:t>
            </a:r>
            <a:endParaRPr lang="en-US" altLang="zh-CN" dirty="0" smtClean="0"/>
          </a:p>
          <a:p>
            <a:pPr>
              <a:buFont typeface="Arial" pitchFamily="34" charset="0"/>
              <a:buChar char="•"/>
            </a:pPr>
            <a:r>
              <a:rPr lang="en-US" altLang="zh-CN" dirty="0" smtClean="0"/>
              <a:t>1998</a:t>
            </a:r>
            <a:r>
              <a:rPr lang="zh-CN" altLang="en-US" dirty="0" smtClean="0"/>
              <a:t>年，推出</a:t>
            </a:r>
            <a:r>
              <a:rPr lang="en-US" altLang="zh-CN" dirty="0" smtClean="0"/>
              <a:t>ArcInfo8</a:t>
            </a:r>
          </a:p>
          <a:p>
            <a:pPr>
              <a:buFont typeface="Arial" pitchFamily="34" charset="0"/>
              <a:buChar char="•"/>
            </a:pPr>
            <a:r>
              <a:rPr lang="en-US" altLang="zh-CN" dirty="0" smtClean="0"/>
              <a:t>2001</a:t>
            </a:r>
            <a:r>
              <a:rPr lang="zh-CN" altLang="en-US" dirty="0" smtClean="0"/>
              <a:t>年，推出</a:t>
            </a:r>
            <a:r>
              <a:rPr lang="en-US" altLang="zh-CN" dirty="0" smtClean="0"/>
              <a:t>ArcGIS8.1---</a:t>
            </a:r>
            <a:r>
              <a:rPr lang="zh-CN" altLang="en-US" dirty="0" smtClean="0"/>
              <a:t>基于工业标准</a:t>
            </a:r>
            <a:endParaRPr lang="en-US" altLang="zh-CN" dirty="0" smtClean="0"/>
          </a:p>
          <a:p>
            <a:pPr>
              <a:buFont typeface="Arial" pitchFamily="34" charset="0"/>
              <a:buChar char="•"/>
            </a:pPr>
            <a:r>
              <a:rPr lang="en-US" altLang="zh-CN" dirty="0" smtClean="0"/>
              <a:t>2004</a:t>
            </a:r>
            <a:r>
              <a:rPr lang="zh-CN" altLang="en-US" dirty="0" smtClean="0"/>
              <a:t>年，推出</a:t>
            </a:r>
            <a:r>
              <a:rPr lang="en-US" altLang="zh-CN" dirty="0" smtClean="0"/>
              <a:t>ArcGIS9(</a:t>
            </a:r>
            <a:r>
              <a:rPr lang="en-US" altLang="zh-CN" dirty="0" err="1" smtClean="0"/>
              <a:t>ArcGIS</a:t>
            </a:r>
            <a:r>
              <a:rPr lang="en-US" altLang="zh-CN" dirty="0" smtClean="0"/>
              <a:t> Engine—</a:t>
            </a:r>
            <a:r>
              <a:rPr lang="zh-CN" altLang="en-US" dirty="0" smtClean="0"/>
              <a:t>桌面和野外应用嵌入功能</a:t>
            </a:r>
            <a:r>
              <a:rPr lang="en-US" altLang="zh-CN" dirty="0" smtClean="0"/>
              <a:t>,</a:t>
            </a:r>
            <a:r>
              <a:rPr lang="en-US" altLang="zh-CN" dirty="0" err="1" smtClean="0"/>
              <a:t>ArcGIS</a:t>
            </a:r>
            <a:r>
              <a:rPr lang="en-US" altLang="zh-CN" dirty="0" smtClean="0"/>
              <a:t> Server—</a:t>
            </a:r>
            <a:r>
              <a:rPr lang="zh-CN" altLang="en-US" dirty="0" smtClean="0"/>
              <a:t>企业级</a:t>
            </a:r>
            <a:r>
              <a:rPr lang="en-US" altLang="zh-CN" dirty="0" smtClean="0"/>
              <a:t>GIS</a:t>
            </a:r>
            <a:r>
              <a:rPr lang="zh-CN" altLang="en-US" dirty="0" smtClean="0"/>
              <a:t>应用服务的中央管理框架</a:t>
            </a:r>
            <a:r>
              <a:rPr lang="en-US" altLang="zh-CN" dirty="0" smtClean="0"/>
              <a:t>)</a:t>
            </a:r>
          </a:p>
          <a:p>
            <a:pPr>
              <a:buFont typeface="Arial" pitchFamily="34" charset="0"/>
              <a:buChar char="•"/>
            </a:pPr>
            <a:r>
              <a:rPr lang="en-US" altLang="zh-CN" dirty="0" smtClean="0"/>
              <a:t>NOW</a:t>
            </a:r>
            <a:r>
              <a:rPr lang="zh-CN" altLang="en-US" dirty="0" smtClean="0"/>
              <a:t>，</a:t>
            </a:r>
            <a:r>
              <a:rPr lang="en-US" altLang="zh-CN" dirty="0" smtClean="0"/>
              <a:t>ArcGIS9.3</a:t>
            </a:r>
            <a:endParaRPr lang="zh-CN" altLang="en-US" dirty="0"/>
          </a:p>
        </p:txBody>
      </p:sp>
      <p:grpSp>
        <p:nvGrpSpPr>
          <p:cNvPr id="10" name="组合 9"/>
          <p:cNvGrpSpPr/>
          <p:nvPr/>
        </p:nvGrpSpPr>
        <p:grpSpPr>
          <a:xfrm>
            <a:off x="457200" y="1905000"/>
            <a:ext cx="4701761" cy="3968562"/>
            <a:chOff x="3352800" y="2590800"/>
            <a:chExt cx="4701761" cy="3968562"/>
          </a:xfrm>
        </p:grpSpPr>
        <p:pic>
          <p:nvPicPr>
            <p:cNvPr id="130052" name="Picture 4" descr="http://www.spatiallyadjusted.com/wp-content/uploads/2006/12/arcgis-family.gif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3352800" y="2590800"/>
              <a:ext cx="4675340" cy="3968562"/>
            </a:xfrm>
            <a:prstGeom prst="rect">
              <a:avLst/>
            </a:prstGeom>
            <a:noFill/>
          </p:spPr>
        </p:pic>
        <p:pic>
          <p:nvPicPr>
            <p:cNvPr id="130050" name="Picture 2" descr="查看完整尺寸的图片">
              <a:hlinkClick r:id="rId3"/>
            </p:cNvPr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6400800" y="5638800"/>
              <a:ext cx="1653761" cy="920239"/>
            </a:xfrm>
            <a:prstGeom prst="rect">
              <a:avLst/>
            </a:prstGeom>
            <a:noFill/>
          </p:spPr>
        </p:pic>
      </p:grpSp>
      <p:pic>
        <p:nvPicPr>
          <p:cNvPr id="11" name="内容占位符 6" descr="师大图标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AO—</a:t>
            </a:r>
            <a:r>
              <a:rPr lang="en-US" altLang="zh-CN" dirty="0" err="1" smtClean="0"/>
              <a:t>ArcObjects</a:t>
            </a:r>
            <a:endParaRPr lang="en-US" altLang="zh-CN" dirty="0" smtClean="0"/>
          </a:p>
          <a:p>
            <a:pPr lvl="1"/>
            <a:r>
              <a:rPr lang="en-US" altLang="zh-CN" i="1" dirty="0" smtClean="0"/>
              <a:t>ESRI® </a:t>
            </a:r>
            <a:r>
              <a:rPr lang="en-US" altLang="zh-CN" i="1" dirty="0" err="1" smtClean="0"/>
              <a:t>ArcObjects</a:t>
            </a:r>
            <a:r>
              <a:rPr lang="en-US" altLang="zh-CN" i="1" dirty="0" smtClean="0"/>
              <a:t>™ is the development platform for the </a:t>
            </a:r>
            <a:r>
              <a:rPr lang="en-US" altLang="zh-CN" i="1" dirty="0" err="1" smtClean="0"/>
              <a:t>ArcGIS</a:t>
            </a:r>
            <a:r>
              <a:rPr lang="en-US" altLang="zh-CN" i="1" dirty="0" smtClean="0"/>
              <a:t>™ family of applications such as </a:t>
            </a:r>
            <a:r>
              <a:rPr lang="en-US" altLang="zh-CN" i="1" dirty="0" err="1" smtClean="0"/>
              <a:t>ArcMap</a:t>
            </a:r>
            <a:r>
              <a:rPr lang="en-US" altLang="zh-CN" i="1" dirty="0" smtClean="0"/>
              <a:t>™, </a:t>
            </a:r>
            <a:r>
              <a:rPr lang="en-US" altLang="zh-CN" i="1" dirty="0" err="1" smtClean="0"/>
              <a:t>ArcCatalog</a:t>
            </a:r>
            <a:r>
              <a:rPr lang="en-US" altLang="zh-CN" i="1" dirty="0" smtClean="0"/>
              <a:t>™, and </a:t>
            </a:r>
            <a:r>
              <a:rPr lang="en-US" altLang="zh-CN" i="1" dirty="0" err="1" smtClean="0"/>
              <a:t>ArcScene</a:t>
            </a:r>
            <a:r>
              <a:rPr lang="en-US" altLang="zh-CN" i="1" dirty="0" smtClean="0"/>
              <a:t>™. The </a:t>
            </a:r>
            <a:r>
              <a:rPr lang="en-US" altLang="zh-CN" i="1" dirty="0" err="1" smtClean="0"/>
              <a:t>ArcObjects</a:t>
            </a:r>
            <a:r>
              <a:rPr lang="en-US" altLang="zh-CN" i="1" dirty="0" smtClean="0"/>
              <a:t> software components expose the full range of functionality available in </a:t>
            </a:r>
            <a:r>
              <a:rPr lang="en-US" altLang="zh-CN" i="1" dirty="0" err="1" smtClean="0"/>
              <a:t>ArcInfo</a:t>
            </a:r>
            <a:r>
              <a:rPr lang="en-US" altLang="zh-CN" i="1" dirty="0" smtClean="0"/>
              <a:t>™ and </a:t>
            </a:r>
            <a:r>
              <a:rPr lang="en-US" altLang="zh-CN" i="1" dirty="0" err="1" smtClean="0"/>
              <a:t>ArcView</a:t>
            </a:r>
            <a:r>
              <a:rPr lang="en-US" altLang="zh-CN" i="1" dirty="0" smtClean="0"/>
              <a:t>® to software developers.</a:t>
            </a:r>
          </a:p>
          <a:p>
            <a:pPr lvl="1"/>
            <a:r>
              <a:rPr lang="en-US" altLang="zh-CN" i="1" dirty="0" smtClean="0"/>
              <a:t>AO</a:t>
            </a:r>
            <a:r>
              <a:rPr lang="zh-CN" altLang="en-US" i="1" dirty="0" smtClean="0"/>
              <a:t>是一套</a:t>
            </a:r>
            <a:r>
              <a:rPr lang="en-US" altLang="zh-CN" i="1" dirty="0" err="1" smtClean="0"/>
              <a:t>ArcGIS</a:t>
            </a:r>
            <a:r>
              <a:rPr lang="zh-CN" altLang="en-US" i="1" dirty="0" smtClean="0"/>
              <a:t>可重用的通用二次开发组件集。利用</a:t>
            </a:r>
            <a:r>
              <a:rPr lang="en-US" altLang="zh-CN" i="1" dirty="0" smtClean="0"/>
              <a:t>AO</a:t>
            </a:r>
            <a:r>
              <a:rPr lang="zh-CN" altLang="en-US" i="1" dirty="0" smtClean="0"/>
              <a:t>开发是目前二次开发中最底层和流行的方式。可以说，</a:t>
            </a:r>
            <a:r>
              <a:rPr lang="en-US" altLang="zh-CN" i="1" dirty="0" err="1" smtClean="0"/>
              <a:t>ArcGIS</a:t>
            </a:r>
            <a:r>
              <a:rPr lang="zh-CN" altLang="en-US" i="1" dirty="0" smtClean="0"/>
              <a:t>就是利用</a:t>
            </a:r>
            <a:r>
              <a:rPr lang="en-US" altLang="zh-CN" i="1" dirty="0" smtClean="0"/>
              <a:t>AO</a:t>
            </a:r>
            <a:r>
              <a:rPr lang="zh-CN" altLang="en-US" i="1" dirty="0" smtClean="0"/>
              <a:t>开发出来的</a:t>
            </a:r>
            <a:endParaRPr lang="en-US" altLang="zh-CN" i="1" dirty="0" smtClean="0"/>
          </a:p>
          <a:p>
            <a:pPr lvl="1">
              <a:buNone/>
            </a:pPr>
            <a:r>
              <a:rPr lang="en-US" altLang="zh-CN" i="1" dirty="0" smtClean="0"/>
              <a:t>  </a:t>
            </a:r>
            <a:r>
              <a:rPr lang="zh-CN" altLang="en-US" b="1" dirty="0" smtClean="0">
                <a:solidFill>
                  <a:schemeClr val="bg1">
                    <a:lumMod val="20000"/>
                    <a:lumOff val="80000"/>
                  </a:schemeClr>
                </a:solidFill>
              </a:rPr>
              <a:t>如果水平够高，我们可以重新开发</a:t>
            </a:r>
            <a:endParaRPr lang="en-US" altLang="zh-CN" b="1" dirty="0" smtClean="0">
              <a:solidFill>
                <a:schemeClr val="bg1">
                  <a:lumMod val="20000"/>
                  <a:lumOff val="80000"/>
                </a:schemeClr>
              </a:solidFill>
            </a:endParaRPr>
          </a:p>
          <a:p>
            <a:pPr lvl="1">
              <a:buNone/>
            </a:pPr>
            <a:r>
              <a:rPr lang="en-US" altLang="zh-CN" b="1" dirty="0" smtClean="0">
                <a:solidFill>
                  <a:schemeClr val="bg1">
                    <a:lumMod val="20000"/>
                    <a:lumOff val="80000"/>
                  </a:schemeClr>
                </a:solidFill>
              </a:rPr>
              <a:t>  </a:t>
            </a:r>
            <a:r>
              <a:rPr lang="zh-CN" altLang="en-US" b="1" dirty="0" smtClean="0">
                <a:solidFill>
                  <a:schemeClr val="bg1">
                    <a:lumMod val="20000"/>
                    <a:lumOff val="80000"/>
                  </a:schemeClr>
                </a:solidFill>
              </a:rPr>
              <a:t>一套</a:t>
            </a:r>
            <a:r>
              <a:rPr lang="en-US" altLang="zh-CN" b="1" dirty="0" err="1" smtClean="0">
                <a:solidFill>
                  <a:schemeClr val="bg1">
                    <a:lumMod val="20000"/>
                    <a:lumOff val="80000"/>
                  </a:schemeClr>
                </a:solidFill>
              </a:rPr>
              <a:t>ArcGIS</a:t>
            </a:r>
            <a:r>
              <a:rPr lang="zh-CN" altLang="en-US" b="1" dirty="0" smtClean="0">
                <a:solidFill>
                  <a:schemeClr val="bg1">
                    <a:lumMod val="20000"/>
                    <a:lumOff val="80000"/>
                  </a:schemeClr>
                </a:solidFill>
              </a:rPr>
              <a:t>（或</a:t>
            </a:r>
            <a:r>
              <a:rPr lang="en-US" altLang="zh-CN" b="1" dirty="0" smtClean="0">
                <a:solidFill>
                  <a:schemeClr val="bg1">
                    <a:lumMod val="20000"/>
                    <a:lumOff val="80000"/>
                  </a:schemeClr>
                </a:solidFill>
              </a:rPr>
              <a:t>TJNUGIS</a:t>
            </a:r>
            <a:r>
              <a:rPr lang="zh-CN" altLang="en-US" b="1" dirty="0" smtClean="0">
                <a:solidFill>
                  <a:schemeClr val="bg1">
                    <a:lumMod val="20000"/>
                    <a:lumOff val="80000"/>
                  </a:schemeClr>
                </a:solidFill>
              </a:rPr>
              <a:t>）</a:t>
            </a:r>
            <a:endParaRPr lang="en-US" altLang="zh-CN" b="1" dirty="0" smtClean="0">
              <a:solidFill>
                <a:schemeClr val="bg1">
                  <a:lumMod val="20000"/>
                  <a:lumOff val="80000"/>
                </a:schemeClr>
              </a:solidFill>
            </a:endParaRPr>
          </a:p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9</a:t>
            </a:fld>
            <a:endParaRPr lang="en-US" altLang="zh-CN"/>
          </a:p>
        </p:txBody>
      </p:sp>
      <p:sp>
        <p:nvSpPr>
          <p:cNvPr id="5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129025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00800" y="4890112"/>
            <a:ext cx="2409825" cy="1891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内容占位符 6" descr="师大图标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AO</a:t>
            </a:r>
            <a:r>
              <a:rPr lang="zh-CN" altLang="en-US" dirty="0" smtClean="0"/>
              <a:t>的组件库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System</a:t>
            </a:r>
            <a:r>
              <a:rPr lang="zh-CN" altLang="en-US" dirty="0" smtClean="0"/>
              <a:t>库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SystemUI</a:t>
            </a:r>
            <a:r>
              <a:rPr lang="zh-CN" altLang="en-US" dirty="0" smtClean="0"/>
              <a:t>库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Geometry</a:t>
            </a:r>
            <a:r>
              <a:rPr lang="zh-CN" altLang="en-US" dirty="0" smtClean="0"/>
              <a:t>库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Display</a:t>
            </a:r>
            <a:r>
              <a:rPr lang="zh-CN" altLang="en-US" dirty="0" smtClean="0"/>
              <a:t>库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Controls</a:t>
            </a:r>
            <a:r>
              <a:rPr lang="zh-CN" altLang="en-US" dirty="0" smtClean="0"/>
              <a:t>库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Carto</a:t>
            </a:r>
            <a:r>
              <a:rPr lang="zh-CN" altLang="en-US" dirty="0" smtClean="0"/>
              <a:t>库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Geodatabase</a:t>
            </a:r>
            <a:r>
              <a:rPr lang="zh-CN" altLang="en-US" dirty="0" smtClean="0"/>
              <a:t>库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DataSourceFile</a:t>
            </a:r>
            <a:r>
              <a:rPr lang="zh-CN" altLang="en-US" dirty="0" smtClean="0"/>
              <a:t>库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Output</a:t>
            </a:r>
            <a:r>
              <a:rPr lang="zh-CN" altLang="en-US" dirty="0" smtClean="0"/>
              <a:t>库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10</a:t>
            </a:fld>
            <a:endParaRPr lang="en-US" altLang="zh-CN"/>
          </a:p>
        </p:txBody>
      </p:sp>
      <p:sp>
        <p:nvSpPr>
          <p:cNvPr id="5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4114800" y="2590800"/>
            <a:ext cx="3810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 smtClean="0">
                <a:latin typeface="黑体" pitchFamily="2" charset="-122"/>
                <a:ea typeface="黑体" pitchFamily="2" charset="-122"/>
              </a:rPr>
              <a:t>学习</a:t>
            </a:r>
            <a:r>
              <a:rPr lang="en-US" altLang="zh-CN" sz="4000" dirty="0" smtClean="0">
                <a:latin typeface="黑体" pitchFamily="2" charset="-122"/>
                <a:ea typeface="黑体" pitchFamily="2" charset="-122"/>
              </a:rPr>
              <a:t>AO</a:t>
            </a:r>
            <a:r>
              <a:rPr lang="zh-CN" altLang="en-US" sz="4000" dirty="0" smtClean="0">
                <a:latin typeface="黑体" pitchFamily="2" charset="-122"/>
                <a:ea typeface="黑体" pitchFamily="2" charset="-122"/>
              </a:rPr>
              <a:t>就是熟悉</a:t>
            </a:r>
            <a:r>
              <a:rPr lang="en-US" altLang="zh-CN" sz="4000" dirty="0" smtClean="0">
                <a:latin typeface="黑体" pitchFamily="2" charset="-122"/>
                <a:ea typeface="黑体" pitchFamily="2" charset="-122"/>
              </a:rPr>
              <a:t>AO</a:t>
            </a:r>
            <a:r>
              <a:rPr lang="zh-CN" altLang="en-US" sz="4000" dirty="0" smtClean="0">
                <a:latin typeface="黑体" pitchFamily="2" charset="-122"/>
                <a:ea typeface="黑体" pitchFamily="2" charset="-122"/>
              </a:rPr>
              <a:t>组件库的过程</a:t>
            </a:r>
            <a:endParaRPr lang="zh-CN" altLang="en-US" sz="4000" dirty="0">
              <a:latin typeface="黑体" pitchFamily="2" charset="-122"/>
              <a:ea typeface="黑体" pitchFamily="2" charset="-122"/>
            </a:endParaRPr>
          </a:p>
        </p:txBody>
      </p:sp>
      <p:pic>
        <p:nvPicPr>
          <p:cNvPr id="8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ArcGIS</a:t>
            </a:r>
            <a:r>
              <a:rPr lang="zh-CN" altLang="en-US" dirty="0" smtClean="0"/>
              <a:t>二次开发模式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VBA</a:t>
            </a:r>
            <a:r>
              <a:rPr lang="zh-CN" altLang="en-US" dirty="0" smtClean="0"/>
              <a:t>环境开发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使用</a:t>
            </a:r>
            <a:r>
              <a:rPr lang="en-US" altLang="zh-CN" dirty="0" smtClean="0"/>
              <a:t>DLL</a:t>
            </a:r>
            <a:r>
              <a:rPr lang="zh-CN" altLang="en-US" dirty="0" smtClean="0"/>
              <a:t>（</a:t>
            </a:r>
            <a:r>
              <a:rPr lang="en-US" altLang="zh-CN" dirty="0" smtClean="0"/>
              <a:t>Dynamic Link Library</a:t>
            </a:r>
            <a:r>
              <a:rPr lang="zh-CN" altLang="en-US" dirty="0" smtClean="0"/>
              <a:t>）组件开发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使用控件构建独立程序</a:t>
            </a:r>
            <a:endParaRPr lang="en-US" altLang="zh-CN" dirty="0" smtClean="0"/>
          </a:p>
          <a:p>
            <a:r>
              <a:rPr lang="zh-CN" altLang="en-US" dirty="0" smtClean="0"/>
              <a:t>开发方式的选择取决于项目需求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11</a:t>
            </a:fld>
            <a:endParaRPr lang="en-US" altLang="zh-CN"/>
          </a:p>
        </p:txBody>
      </p:sp>
      <p:sp>
        <p:nvSpPr>
          <p:cNvPr id="5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太阳形 6"/>
          <p:cNvSpPr/>
          <p:nvPr/>
        </p:nvSpPr>
        <p:spPr bwMode="auto">
          <a:xfrm>
            <a:off x="6324600" y="3200400"/>
            <a:ext cx="381000" cy="381000"/>
          </a:xfrm>
          <a:prstGeom prst="sun">
            <a:avLst/>
          </a:prstGeom>
          <a:solidFill>
            <a:srgbClr val="FFFF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8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要实现的功能：拉框放大地图</a:t>
            </a:r>
            <a:endParaRPr lang="en-US" altLang="zh-CN" dirty="0" smtClean="0"/>
          </a:p>
          <a:p>
            <a:r>
              <a:rPr lang="zh-CN" altLang="en-US" dirty="0" smtClean="0"/>
              <a:t>实现方法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VBA</a:t>
            </a:r>
          </a:p>
          <a:p>
            <a:pPr lvl="1"/>
            <a:r>
              <a:rPr lang="en-US" altLang="zh-CN" dirty="0" smtClean="0"/>
              <a:t>DLL</a:t>
            </a:r>
          </a:p>
          <a:p>
            <a:pPr lvl="1"/>
            <a:r>
              <a:rPr lang="en-US" altLang="zh-CN" dirty="0" smtClean="0"/>
              <a:t>AE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12</a:t>
            </a:fld>
            <a:endParaRPr lang="en-US" altLang="zh-CN"/>
          </a:p>
        </p:txBody>
      </p:sp>
      <p:sp>
        <p:nvSpPr>
          <p:cNvPr id="5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7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latin typeface="黑体" pitchFamily="2" charset="-122"/>
                <a:ea typeface="黑体" pitchFamily="2" charset="-122"/>
              </a:rPr>
              <a:t>AO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是基于</a:t>
            </a:r>
            <a:r>
              <a:rPr lang="en-US" dirty="0" smtClean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Microsoft COM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技术所构建的一系列</a:t>
            </a:r>
            <a:r>
              <a:rPr lang="en-US" dirty="0" smtClean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COM</a:t>
            </a:r>
            <a:r>
              <a:rPr lang="zh-CN" altLang="en-US" dirty="0" smtClean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组件集</a:t>
            </a:r>
            <a:endParaRPr lang="en-US" altLang="zh-CN" dirty="0" smtClean="0">
              <a:solidFill>
                <a:srgbClr val="FFFF00"/>
              </a:solidFill>
              <a:latin typeface="黑体" pitchFamily="2" charset="-122"/>
              <a:ea typeface="黑体" pitchFamily="2" charset="-122"/>
            </a:endParaRPr>
          </a:p>
          <a:p>
            <a:r>
              <a:rPr lang="en-US" altLang="zh-CN" dirty="0" smtClean="0"/>
              <a:t>AO</a:t>
            </a:r>
            <a:r>
              <a:rPr lang="zh-CN" altLang="en-US" dirty="0" smtClean="0"/>
              <a:t>可以实现的功能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空间数据的显示、查询检索、编辑和</a:t>
            </a:r>
            <a:r>
              <a:rPr lang="zh-CN" altLang="en-US" b="1" dirty="0" smtClean="0">
                <a:solidFill>
                  <a:srgbClr val="FFFF00"/>
                </a:solidFill>
              </a:rPr>
              <a:t>分析</a:t>
            </a:r>
            <a:endParaRPr lang="en-US" altLang="zh-CN" b="1" dirty="0" smtClean="0">
              <a:solidFill>
                <a:srgbClr val="FFFF00"/>
              </a:solidFill>
            </a:endParaRPr>
          </a:p>
          <a:p>
            <a:pPr lvl="1"/>
            <a:r>
              <a:rPr lang="zh-CN" altLang="en-US" dirty="0" smtClean="0"/>
              <a:t>创建各种专题图和统计报表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高级的制图和输出功能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空间数据管理和维护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。。。</a:t>
            </a:r>
            <a:r>
              <a:rPr lang="en-US" altLang="zh-CN" dirty="0" err="1" smtClean="0"/>
              <a:t>ArcGIS</a:t>
            </a:r>
            <a:r>
              <a:rPr lang="zh-CN" altLang="en-US" dirty="0" smtClean="0"/>
              <a:t>可以实现的全部功能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13</a:t>
            </a:fld>
            <a:endParaRPr lang="en-US" altLang="zh-CN"/>
          </a:p>
        </p:txBody>
      </p:sp>
      <p:sp>
        <p:nvSpPr>
          <p:cNvPr id="5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7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组件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</a:rPr>
              <a:t>(Component)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技术</a:t>
            </a:r>
            <a:endParaRPr lang="en-US" altLang="zh-CN" dirty="0" smtClean="0">
              <a:latin typeface="黑体" pitchFamily="2" charset="-122"/>
              <a:ea typeface="黑体" pitchFamily="2" charset="-122"/>
            </a:endParaRPr>
          </a:p>
          <a:p>
            <a:pPr lvl="1"/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目的：软件重用</a:t>
            </a:r>
            <a:endParaRPr lang="en-US" altLang="zh-CN" dirty="0" smtClean="0">
              <a:latin typeface="黑体" pitchFamily="2" charset="-122"/>
              <a:ea typeface="黑体" pitchFamily="2" charset="-122"/>
            </a:endParaRPr>
          </a:p>
          <a:p>
            <a:pPr lvl="1"/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实现在二进制级别上的公用</a:t>
            </a:r>
            <a:endParaRPr lang="en-US" altLang="zh-CN" dirty="0" smtClean="0">
              <a:latin typeface="黑体" pitchFamily="2" charset="-122"/>
              <a:ea typeface="黑体" pitchFamily="2" charset="-122"/>
            </a:endParaRPr>
          </a:p>
          <a:p>
            <a:pPr lvl="1"/>
            <a:r>
              <a:rPr lang="en-US" altLang="zh-CN" dirty="0" smtClean="0">
                <a:latin typeface="黑体" pitchFamily="2" charset="-122"/>
                <a:ea typeface="黑体" pitchFamily="2" charset="-122"/>
              </a:rPr>
              <a:t>Microsoft COM(Component Object Model)</a:t>
            </a:r>
          </a:p>
          <a:p>
            <a:r>
              <a:rPr lang="en-US" altLang="en-US" dirty="0" smtClean="0">
                <a:latin typeface="黑体" pitchFamily="2" charset="-122"/>
                <a:ea typeface="黑体" pitchFamily="2" charset="-122"/>
              </a:rPr>
              <a:t>Microsoft COM</a:t>
            </a:r>
            <a:endParaRPr lang="en-US" altLang="zh-CN" dirty="0" smtClean="0">
              <a:latin typeface="黑体" pitchFamily="2" charset="-122"/>
              <a:ea typeface="黑体" pitchFamily="2" charset="-122"/>
            </a:endParaRPr>
          </a:p>
          <a:p>
            <a:pPr lvl="1"/>
            <a:r>
              <a:rPr lang="zh-CN" altLang="en-US" dirty="0" smtClean="0">
                <a:solidFill>
                  <a:srgbClr val="FFFF00"/>
                </a:solidFill>
              </a:rPr>
              <a:t>二进制标准</a:t>
            </a:r>
            <a:r>
              <a:rPr lang="zh-CN" altLang="en-US" dirty="0" smtClean="0"/>
              <a:t>，允许不同硬件、</a:t>
            </a:r>
            <a:r>
              <a:rPr lang="en-US" altLang="zh-CN" dirty="0" smtClean="0"/>
              <a:t>OS</a:t>
            </a:r>
            <a:r>
              <a:rPr lang="zh-CN" altLang="en-US" dirty="0" smtClean="0"/>
              <a:t>、编写语言的组件按照一定规则通信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遵守</a:t>
            </a:r>
            <a:r>
              <a:rPr lang="en-US" altLang="zh-CN" dirty="0" smtClean="0"/>
              <a:t>COM</a:t>
            </a:r>
            <a:r>
              <a:rPr lang="zh-CN" altLang="en-US" dirty="0" smtClean="0"/>
              <a:t>标准的类的实例为</a:t>
            </a:r>
            <a:r>
              <a:rPr lang="en-US" altLang="zh-CN" dirty="0" smtClean="0"/>
              <a:t>COM</a:t>
            </a:r>
            <a:r>
              <a:rPr lang="zh-CN" altLang="en-US" dirty="0" smtClean="0"/>
              <a:t>对象</a:t>
            </a:r>
            <a:r>
              <a:rPr lang="en-US" altLang="zh-CN" dirty="0" smtClean="0"/>
              <a:t>—</a:t>
            </a:r>
            <a:r>
              <a:rPr lang="zh-CN" altLang="en-US" dirty="0" smtClean="0"/>
              <a:t>三个特点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抽象</a:t>
            </a:r>
            <a:r>
              <a:rPr lang="en-US" altLang="zh-CN" dirty="0" smtClean="0"/>
              <a:t>—</a:t>
            </a:r>
            <a:r>
              <a:rPr lang="zh-CN" altLang="en-US" dirty="0" smtClean="0"/>
              <a:t>被很好地封装，只能通过接口访问相关方法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多态</a:t>
            </a:r>
            <a:r>
              <a:rPr lang="en-US" altLang="zh-CN" dirty="0" smtClean="0"/>
              <a:t>---</a:t>
            </a:r>
            <a:r>
              <a:rPr lang="zh-CN" altLang="en-US" dirty="0" smtClean="0"/>
              <a:t>同样的方法处理不同类型的对象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继承</a:t>
            </a:r>
            <a:r>
              <a:rPr lang="en-US" altLang="zh-CN" dirty="0" smtClean="0"/>
              <a:t>---</a:t>
            </a:r>
            <a:r>
              <a:rPr lang="zh-CN" altLang="en-US" dirty="0" smtClean="0"/>
              <a:t>实现继承和接口继承；</a:t>
            </a:r>
            <a:r>
              <a:rPr lang="en-US" altLang="zh-CN" dirty="0" smtClean="0"/>
              <a:t>COM</a:t>
            </a:r>
            <a:r>
              <a:rPr lang="zh-CN" altLang="en-US" dirty="0" smtClean="0"/>
              <a:t>对象只支持接口继承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14</a:t>
            </a:fld>
            <a:endParaRPr lang="en-US" altLang="zh-CN"/>
          </a:p>
        </p:txBody>
      </p:sp>
      <p:sp>
        <p:nvSpPr>
          <p:cNvPr id="5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7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对象、类和</a:t>
            </a:r>
            <a:r>
              <a:rPr lang="zh-CN" altLang="en-US" dirty="0" smtClean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接口</a:t>
            </a:r>
            <a:endParaRPr lang="en-US" altLang="zh-CN" dirty="0" smtClean="0">
              <a:solidFill>
                <a:srgbClr val="FFFF00"/>
              </a:solidFill>
              <a:latin typeface="黑体" pitchFamily="2" charset="-122"/>
              <a:ea typeface="黑体" pitchFamily="2" charset="-122"/>
            </a:endParaRPr>
          </a:p>
          <a:p>
            <a:pPr lvl="1"/>
            <a:r>
              <a:rPr lang="zh-CN" altLang="en-US" sz="2000" dirty="0" smtClean="0"/>
              <a:t>对象是</a:t>
            </a:r>
            <a:r>
              <a:rPr lang="en-US" sz="2000" dirty="0" smtClean="0"/>
              <a:t>COM</a:t>
            </a:r>
            <a:r>
              <a:rPr lang="zh-CN" altLang="en-US" sz="2000" dirty="0" smtClean="0"/>
              <a:t>的基本要素之一， 是实现了很多接口的对象。</a:t>
            </a:r>
            <a:r>
              <a:rPr lang="en-US" altLang="zh-CN" sz="2000" dirty="0" smtClean="0"/>
              <a:t>COM</a:t>
            </a:r>
            <a:r>
              <a:rPr lang="zh-CN" altLang="en-US" sz="2000" dirty="0" smtClean="0"/>
              <a:t>对象包含函数和过程的具体实现方法。使用者通过接口来获取它内部的函数或方法。</a:t>
            </a:r>
            <a:endParaRPr lang="en-US" altLang="zh-CN" sz="2000" dirty="0" smtClean="0">
              <a:latin typeface="黑体" pitchFamily="2" charset="-122"/>
              <a:ea typeface="黑体" pitchFamily="2" charset="-122"/>
            </a:endParaRPr>
          </a:p>
          <a:p>
            <a:pPr lvl="1"/>
            <a:r>
              <a:rPr lang="en-US" altLang="zh-CN" sz="2000" dirty="0" smtClean="0"/>
              <a:t>COM</a:t>
            </a:r>
            <a:r>
              <a:rPr lang="zh-CN" altLang="en-US" sz="2000" dirty="0" smtClean="0"/>
              <a:t>对象的接口，它是包含了一组函数的数据结构，通过这组数据结构，客户代码可以调用组件对象的功能，组件对象间的访问都是通过接口来进行的。用</a:t>
            </a:r>
            <a:r>
              <a:rPr lang="en-US" sz="2000" dirty="0" smtClean="0"/>
              <a:t>COM</a:t>
            </a:r>
            <a:r>
              <a:rPr lang="zh-CN" altLang="en-US" sz="2000" dirty="0" smtClean="0"/>
              <a:t>开发意味着使用接口，也可以称为基于接口的设计模型。如果</a:t>
            </a:r>
            <a:r>
              <a:rPr lang="en-US" altLang="zh-CN" sz="2000" dirty="0" smtClean="0"/>
              <a:t>COM</a:t>
            </a:r>
            <a:r>
              <a:rPr lang="zh-CN" altLang="en-US" sz="2000" dirty="0" smtClean="0"/>
              <a:t>对象要实现接口，则</a:t>
            </a:r>
            <a:r>
              <a:rPr lang="en-US" altLang="zh-CN" sz="2000" dirty="0" smtClean="0"/>
              <a:t>COM</a:t>
            </a:r>
            <a:r>
              <a:rPr lang="zh-CN" altLang="en-US" sz="2000" dirty="0" smtClean="0"/>
              <a:t>对象必须以某种方式把它自身与接口类联系起来，然后把接口类的指针暴露给客户程序，于是客户程序就可以调用对象的接口功能。</a:t>
            </a:r>
            <a:endParaRPr lang="en-US" altLang="zh-CN" sz="2000" dirty="0" smtClean="0"/>
          </a:p>
          <a:p>
            <a:pPr lvl="1"/>
            <a:r>
              <a:rPr lang="zh-CN" altLang="en-US" sz="2000" b="1" dirty="0" smtClean="0">
                <a:solidFill>
                  <a:srgbClr val="FFFF00"/>
                </a:solidFill>
              </a:rPr>
              <a:t>接口具有不变性，一旦公布就不能修改</a:t>
            </a:r>
            <a:endParaRPr lang="en-US" altLang="zh-CN" sz="2000" b="1" dirty="0" smtClean="0">
              <a:solidFill>
                <a:srgbClr val="FFFF00"/>
              </a:solidFill>
            </a:endParaRPr>
          </a:p>
          <a:p>
            <a:pPr lvl="1"/>
            <a:r>
              <a:rPr lang="zh-CN" altLang="en-US" sz="2000" b="1" dirty="0" smtClean="0">
                <a:solidFill>
                  <a:srgbClr val="FFFF00"/>
                </a:solidFill>
              </a:rPr>
              <a:t>在</a:t>
            </a:r>
            <a:r>
              <a:rPr lang="en-US" sz="2000" b="1" dirty="0" smtClean="0">
                <a:solidFill>
                  <a:srgbClr val="FFFF00"/>
                </a:solidFill>
              </a:rPr>
              <a:t>COM</a:t>
            </a:r>
            <a:r>
              <a:rPr lang="zh-CN" altLang="en-US" sz="2000" b="1" dirty="0" smtClean="0">
                <a:solidFill>
                  <a:srgbClr val="FFFF00"/>
                </a:solidFill>
              </a:rPr>
              <a:t>中接口和类通常被当作</a:t>
            </a:r>
            <a:r>
              <a:rPr lang="en-US" sz="2000" b="1" dirty="0" smtClean="0">
                <a:solidFill>
                  <a:srgbClr val="FFFF00"/>
                </a:solidFill>
              </a:rPr>
              <a:t>‘</a:t>
            </a:r>
            <a:r>
              <a:rPr lang="zh-CN" altLang="en-US" sz="2000" b="1" dirty="0" smtClean="0">
                <a:solidFill>
                  <a:srgbClr val="FFFF00"/>
                </a:solidFill>
              </a:rPr>
              <a:t>做什么</a:t>
            </a:r>
            <a:r>
              <a:rPr lang="en-US" sz="2000" b="1" dirty="0" smtClean="0">
                <a:solidFill>
                  <a:srgbClr val="FFFF00"/>
                </a:solidFill>
              </a:rPr>
              <a:t>’</a:t>
            </a:r>
            <a:r>
              <a:rPr lang="zh-CN" altLang="en-US" sz="2000" b="1" dirty="0" smtClean="0">
                <a:solidFill>
                  <a:srgbClr val="FFFF00"/>
                </a:solidFill>
              </a:rPr>
              <a:t>和</a:t>
            </a:r>
            <a:r>
              <a:rPr lang="en-US" sz="2000" b="1" dirty="0" smtClean="0">
                <a:solidFill>
                  <a:srgbClr val="FFFF00"/>
                </a:solidFill>
              </a:rPr>
              <a:t>‘</a:t>
            </a:r>
            <a:r>
              <a:rPr lang="zh-CN" altLang="en-US" sz="2000" b="1" dirty="0" smtClean="0">
                <a:solidFill>
                  <a:srgbClr val="FFFF00"/>
                </a:solidFill>
              </a:rPr>
              <a:t>怎么做</a:t>
            </a:r>
            <a:r>
              <a:rPr lang="en-US" sz="2000" b="1" dirty="0" smtClean="0">
                <a:solidFill>
                  <a:srgbClr val="FFFF00"/>
                </a:solidFill>
              </a:rPr>
              <a:t>’</a:t>
            </a:r>
            <a:r>
              <a:rPr lang="zh-CN" altLang="en-US" sz="2000" b="1" dirty="0" smtClean="0">
                <a:solidFill>
                  <a:srgbClr val="FFFF00"/>
                </a:solidFill>
              </a:rPr>
              <a:t>，接口定义一个对象能做什么，类定义它怎么去做</a:t>
            </a:r>
            <a:endParaRPr lang="en-US" altLang="zh-CN" sz="2000" b="1" dirty="0" smtClean="0">
              <a:solidFill>
                <a:srgbClr val="FFFF00"/>
              </a:solidFill>
            </a:endParaRPr>
          </a:p>
          <a:p>
            <a:pPr lvl="1"/>
            <a:endParaRPr lang="en-US" altLang="zh-CN" sz="2000" b="1" dirty="0" smtClean="0">
              <a:solidFill>
                <a:srgbClr val="FFFF00"/>
              </a:solidFill>
            </a:endParaRPr>
          </a:p>
          <a:p>
            <a:pPr lvl="1"/>
            <a:endParaRPr lang="en-US" altLang="zh-CN" sz="16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15</a:t>
            </a:fld>
            <a:endParaRPr lang="en-US" altLang="zh-CN"/>
          </a:p>
        </p:txBody>
      </p:sp>
      <p:sp>
        <p:nvSpPr>
          <p:cNvPr id="5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7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对象、类和</a:t>
            </a:r>
            <a:r>
              <a:rPr lang="zh-CN" altLang="en-US" dirty="0" smtClean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接口</a:t>
            </a:r>
            <a:endParaRPr lang="en-US" altLang="zh-CN" dirty="0" smtClean="0">
              <a:solidFill>
                <a:srgbClr val="FFFF00"/>
              </a:solidFill>
              <a:latin typeface="黑体" pitchFamily="2" charset="-122"/>
              <a:ea typeface="黑体" pitchFamily="2" charset="-122"/>
            </a:endParaRPr>
          </a:p>
          <a:p>
            <a:pPr lvl="1"/>
            <a:r>
              <a:rPr lang="zh-CN" altLang="en-US" sz="2000" dirty="0" smtClean="0"/>
              <a:t>入接口和出接口</a:t>
            </a:r>
            <a:r>
              <a:rPr lang="en-US" sz="2000" dirty="0" smtClean="0"/>
              <a:t>(Inbound </a:t>
            </a:r>
            <a:r>
              <a:rPr lang="en-US" sz="2000" dirty="0" err="1" smtClean="0"/>
              <a:t>interface,Outbound</a:t>
            </a:r>
            <a:r>
              <a:rPr lang="en-US" sz="2000" dirty="0" smtClean="0"/>
              <a:t> interface) </a:t>
            </a:r>
            <a:r>
              <a:rPr lang="zh-CN" altLang="en-US" sz="2000" dirty="0" smtClean="0"/>
              <a:t>：</a:t>
            </a:r>
            <a:r>
              <a:rPr lang="en-US" sz="2000" dirty="0" smtClean="0"/>
              <a:t>COM</a:t>
            </a:r>
            <a:r>
              <a:rPr lang="zh-CN" altLang="en-US" sz="2000" dirty="0" smtClean="0"/>
              <a:t>调用既可以是单向的（即客户程序创建组件对象，然后客户程序调用对象所提供的功能，在适当时候再把对象释放掉），通常称为入接口。如果一个</a:t>
            </a:r>
            <a:r>
              <a:rPr lang="en-US" sz="2000" dirty="0" smtClean="0"/>
              <a:t>COM</a:t>
            </a:r>
            <a:r>
              <a:rPr lang="zh-CN" altLang="en-US" sz="2000" dirty="0" smtClean="0"/>
              <a:t>对象支持一个或多个主动与客户程序进行通信的接口，则这种接口称为出接口，是因为这些接口并不由对象实现，而是由客户程序实现。</a:t>
            </a:r>
            <a:endParaRPr lang="en-US" altLang="zh-CN" sz="2000" b="1" dirty="0" smtClean="0">
              <a:solidFill>
                <a:srgbClr val="FFFF00"/>
              </a:solidFill>
            </a:endParaRPr>
          </a:p>
          <a:p>
            <a:pPr lvl="1"/>
            <a:endParaRPr lang="en-US" altLang="zh-CN" sz="16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16</a:t>
            </a:fld>
            <a:endParaRPr lang="en-US" altLang="zh-CN"/>
          </a:p>
        </p:txBody>
      </p:sp>
      <p:sp>
        <p:nvSpPr>
          <p:cNvPr id="5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7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625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2000" y="3657600"/>
            <a:ext cx="4343399" cy="29293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6259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486400" y="4800600"/>
            <a:ext cx="2667001" cy="737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右箭头 8"/>
          <p:cNvSpPr/>
          <p:nvPr/>
        </p:nvSpPr>
        <p:spPr bwMode="auto">
          <a:xfrm rot="20927292" flipV="1">
            <a:off x="3265627" y="5701964"/>
            <a:ext cx="2227710" cy="105789"/>
          </a:xfrm>
          <a:prstGeom prst="right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学习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</a:rPr>
              <a:t>AO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只要了解的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</a:rPr>
              <a:t>COM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的以下相关内容</a:t>
            </a:r>
            <a:endParaRPr lang="en-US" altLang="zh-CN" dirty="0" smtClean="0">
              <a:latin typeface="黑体" pitchFamily="2" charset="-122"/>
              <a:ea typeface="黑体" pitchFamily="2" charset="-122"/>
            </a:endParaRPr>
          </a:p>
          <a:p>
            <a:pPr lvl="1"/>
            <a:r>
              <a:rPr lang="zh-CN" altLang="en-US" sz="2200" dirty="0" smtClean="0">
                <a:latin typeface="黑体" pitchFamily="2" charset="-122"/>
                <a:ea typeface="黑体" pitchFamily="2" charset="-122"/>
              </a:rPr>
              <a:t>不是接口，不是类，是二进制级别的组件通信标准</a:t>
            </a:r>
            <a:endParaRPr lang="en-US" altLang="zh-CN" sz="2200" dirty="0" smtClean="0">
              <a:latin typeface="黑体" pitchFamily="2" charset="-122"/>
              <a:ea typeface="黑体" pitchFamily="2" charset="-122"/>
            </a:endParaRPr>
          </a:p>
          <a:p>
            <a:pPr lvl="1"/>
            <a:r>
              <a:rPr lang="zh-CN" altLang="en-US" sz="2200" dirty="0" smtClean="0">
                <a:latin typeface="黑体" pitchFamily="2" charset="-122"/>
                <a:ea typeface="黑体" pitchFamily="2" charset="-122"/>
              </a:rPr>
              <a:t>接口和对象关系</a:t>
            </a:r>
            <a:endParaRPr lang="en-US" altLang="zh-CN" sz="2200" dirty="0" smtClean="0">
              <a:latin typeface="黑体" pitchFamily="2" charset="-122"/>
              <a:ea typeface="黑体" pitchFamily="2" charset="-122"/>
            </a:endParaRPr>
          </a:p>
          <a:p>
            <a:pPr lvl="1"/>
            <a:r>
              <a:rPr lang="en-US" altLang="zh-CN" sz="2200" dirty="0" smtClean="0">
                <a:latin typeface="黑体" pitchFamily="2" charset="-122"/>
                <a:ea typeface="黑体" pitchFamily="2" charset="-122"/>
              </a:rPr>
              <a:t>QI</a:t>
            </a:r>
            <a:r>
              <a:rPr lang="zh-CN" altLang="en-US" sz="2200" dirty="0" smtClean="0">
                <a:latin typeface="黑体" pitchFamily="2" charset="-122"/>
                <a:ea typeface="黑体" pitchFamily="2" charset="-122"/>
              </a:rPr>
              <a:t>（</a:t>
            </a:r>
            <a:r>
              <a:rPr lang="en-US" altLang="zh-CN" sz="2200" dirty="0" smtClean="0">
                <a:latin typeface="黑体" pitchFamily="2" charset="-122"/>
                <a:ea typeface="黑体" pitchFamily="2" charset="-122"/>
              </a:rPr>
              <a:t>Query Interface</a:t>
            </a:r>
            <a:r>
              <a:rPr lang="zh-CN" altLang="en-US" sz="2200" dirty="0" smtClean="0">
                <a:latin typeface="黑体" pitchFamily="2" charset="-122"/>
                <a:ea typeface="黑体" pitchFamily="2" charset="-122"/>
              </a:rPr>
              <a:t>），查询接口</a:t>
            </a:r>
            <a:endParaRPr lang="en-US" altLang="zh-CN" sz="2200" dirty="0" smtClean="0">
              <a:latin typeface="黑体" pitchFamily="2" charset="-122"/>
              <a:ea typeface="黑体" pitchFamily="2" charset="-122"/>
            </a:endParaRPr>
          </a:p>
          <a:p>
            <a:pPr lvl="1"/>
            <a:r>
              <a:rPr lang="zh-CN" altLang="en-US" sz="2200" dirty="0" smtClean="0">
                <a:latin typeface="黑体" pitchFamily="2" charset="-122"/>
                <a:ea typeface="黑体" pitchFamily="2" charset="-122"/>
              </a:rPr>
              <a:t>每个组件都有一个独一无二的标识，即</a:t>
            </a:r>
            <a:r>
              <a:rPr lang="en-US" altLang="zh-CN" sz="2200" dirty="0" smtClean="0">
                <a:latin typeface="黑体" pitchFamily="2" charset="-122"/>
                <a:ea typeface="黑体" pitchFamily="2" charset="-122"/>
              </a:rPr>
              <a:t>GUID-</a:t>
            </a:r>
            <a:r>
              <a:rPr lang="zh-CN" altLang="en-US" sz="2200" dirty="0" smtClean="0">
                <a:latin typeface="黑体" pitchFamily="2" charset="-122"/>
                <a:ea typeface="黑体" pitchFamily="2" charset="-122"/>
              </a:rPr>
              <a:t>全球唯一标识符（</a:t>
            </a:r>
            <a:r>
              <a:rPr lang="en-US" altLang="zh-CN" sz="2200" dirty="0" smtClean="0">
                <a:latin typeface="黑体" pitchFamily="2" charset="-122"/>
                <a:ea typeface="黑体" pitchFamily="2" charset="-122"/>
              </a:rPr>
              <a:t>128</a:t>
            </a:r>
            <a:r>
              <a:rPr lang="zh-CN" altLang="en-US" sz="2200" dirty="0" smtClean="0">
                <a:latin typeface="黑体" pitchFamily="2" charset="-122"/>
                <a:ea typeface="黑体" pitchFamily="2" charset="-122"/>
              </a:rPr>
              <a:t>位数字表达）</a:t>
            </a:r>
            <a:endParaRPr lang="en-US" altLang="zh-CN" sz="2200" dirty="0" smtClean="0">
              <a:latin typeface="黑体" pitchFamily="2" charset="-122"/>
              <a:ea typeface="黑体" pitchFamily="2" charset="-122"/>
            </a:endParaRPr>
          </a:p>
          <a:p>
            <a:pPr lvl="2"/>
            <a:r>
              <a:rPr lang="en-US" altLang="zh-CN" sz="1800" dirty="0" smtClean="0">
                <a:latin typeface="黑体" pitchFamily="2" charset="-122"/>
                <a:ea typeface="黑体" pitchFamily="2" charset="-122"/>
              </a:rPr>
              <a:t>IID—</a:t>
            </a:r>
            <a:r>
              <a:rPr lang="zh-CN" altLang="en-US" sz="1800" dirty="0" smtClean="0">
                <a:latin typeface="黑体" pitchFamily="2" charset="-122"/>
                <a:ea typeface="黑体" pitchFamily="2" charset="-122"/>
              </a:rPr>
              <a:t>接口的</a:t>
            </a:r>
            <a:r>
              <a:rPr lang="en-US" altLang="zh-CN" sz="1800" dirty="0" smtClean="0">
                <a:latin typeface="黑体" pitchFamily="2" charset="-122"/>
                <a:ea typeface="黑体" pitchFamily="2" charset="-122"/>
              </a:rPr>
              <a:t>GUID</a:t>
            </a:r>
          </a:p>
          <a:p>
            <a:pPr lvl="2"/>
            <a:r>
              <a:rPr lang="en-US" altLang="zh-CN" sz="1800" dirty="0" smtClean="0">
                <a:latin typeface="黑体" pitchFamily="2" charset="-122"/>
                <a:ea typeface="黑体" pitchFamily="2" charset="-122"/>
              </a:rPr>
              <a:t>CLSID—</a:t>
            </a:r>
            <a:r>
              <a:rPr lang="zh-CN" altLang="en-US" sz="1800" dirty="0" smtClean="0">
                <a:latin typeface="黑体" pitchFamily="2" charset="-122"/>
                <a:ea typeface="黑体" pitchFamily="2" charset="-122"/>
              </a:rPr>
              <a:t>组件类的</a:t>
            </a:r>
            <a:r>
              <a:rPr lang="en-US" altLang="zh-CN" sz="1800" dirty="0" smtClean="0">
                <a:latin typeface="黑体" pitchFamily="2" charset="-122"/>
                <a:ea typeface="黑体" pitchFamily="2" charset="-122"/>
              </a:rPr>
              <a:t>GUID</a:t>
            </a:r>
          </a:p>
          <a:p>
            <a:pPr lvl="1"/>
            <a:r>
              <a:rPr lang="zh-CN" altLang="en-US" sz="2200" dirty="0" smtClean="0">
                <a:latin typeface="黑体" pitchFamily="2" charset="-122"/>
                <a:ea typeface="黑体" pitchFamily="2" charset="-122"/>
              </a:rPr>
              <a:t>一个</a:t>
            </a:r>
            <a:r>
              <a:rPr lang="en-US" altLang="zh-CN" sz="2200" dirty="0" smtClean="0">
                <a:latin typeface="黑体" pitchFamily="2" charset="-122"/>
                <a:ea typeface="黑体" pitchFamily="2" charset="-122"/>
              </a:rPr>
              <a:t>COM</a:t>
            </a:r>
            <a:r>
              <a:rPr lang="zh-CN" altLang="en-US" sz="2200" dirty="0" smtClean="0">
                <a:latin typeface="黑体" pitchFamily="2" charset="-122"/>
                <a:ea typeface="黑体" pitchFamily="2" charset="-122"/>
              </a:rPr>
              <a:t>对象有多个接口，一个接口可以被多个</a:t>
            </a:r>
            <a:r>
              <a:rPr lang="en-US" altLang="zh-CN" sz="2200" dirty="0" smtClean="0">
                <a:latin typeface="黑体" pitchFamily="2" charset="-122"/>
                <a:ea typeface="黑体" pitchFamily="2" charset="-122"/>
              </a:rPr>
              <a:t>COM</a:t>
            </a:r>
            <a:r>
              <a:rPr lang="zh-CN" altLang="en-US" sz="2200" dirty="0" smtClean="0">
                <a:latin typeface="黑体" pitchFamily="2" charset="-122"/>
                <a:ea typeface="黑体" pitchFamily="2" charset="-122"/>
              </a:rPr>
              <a:t>对象实现</a:t>
            </a:r>
            <a:endParaRPr lang="en-US" altLang="zh-CN" sz="2200" dirty="0" smtClean="0">
              <a:latin typeface="黑体" pitchFamily="2" charset="-122"/>
              <a:ea typeface="黑体" pitchFamily="2" charset="-122"/>
            </a:endParaRPr>
          </a:p>
          <a:p>
            <a:pPr lvl="1"/>
            <a:r>
              <a:rPr lang="en-US" altLang="zh-CN" sz="2200" dirty="0" smtClean="0">
                <a:latin typeface="黑体" pitchFamily="2" charset="-122"/>
                <a:ea typeface="黑体" pitchFamily="2" charset="-122"/>
              </a:rPr>
              <a:t>COM</a:t>
            </a:r>
            <a:r>
              <a:rPr lang="zh-CN" altLang="en-US" sz="2200" dirty="0" smtClean="0">
                <a:latin typeface="黑体" pitchFamily="2" charset="-122"/>
                <a:ea typeface="黑体" pitchFamily="2" charset="-122"/>
              </a:rPr>
              <a:t>组件必须注册后才能使用</a:t>
            </a:r>
            <a:endParaRPr lang="en-US" altLang="zh-CN" sz="2200" dirty="0" smtClean="0">
              <a:latin typeface="黑体" pitchFamily="2" charset="-122"/>
              <a:ea typeface="黑体" pitchFamily="2" charset="-122"/>
            </a:endParaRPr>
          </a:p>
          <a:p>
            <a:pPr lvl="1"/>
            <a:r>
              <a:rPr lang="zh-CN" altLang="en-US" sz="2200" dirty="0" smtClean="0">
                <a:latin typeface="黑体" pitchFamily="2" charset="-122"/>
                <a:ea typeface="黑体" pitchFamily="2" charset="-122"/>
              </a:rPr>
              <a:t>以</a:t>
            </a:r>
            <a:r>
              <a:rPr lang="en-US" altLang="zh-CN" sz="2200" dirty="0" smtClean="0">
                <a:latin typeface="黑体" pitchFamily="2" charset="-122"/>
                <a:ea typeface="黑体" pitchFamily="2" charset="-122"/>
              </a:rPr>
              <a:t>DLL</a:t>
            </a:r>
            <a:r>
              <a:rPr lang="zh-CN" altLang="en-US" sz="2200" dirty="0" smtClean="0">
                <a:latin typeface="黑体" pitchFamily="2" charset="-122"/>
                <a:ea typeface="黑体" pitchFamily="2" charset="-122"/>
              </a:rPr>
              <a:t>和</a:t>
            </a:r>
            <a:r>
              <a:rPr lang="en-US" altLang="zh-CN" sz="2200" dirty="0" smtClean="0">
                <a:latin typeface="黑体" pitchFamily="2" charset="-122"/>
                <a:ea typeface="黑体" pitchFamily="2" charset="-122"/>
              </a:rPr>
              <a:t>EXE</a:t>
            </a:r>
            <a:r>
              <a:rPr lang="zh-CN" altLang="en-US" sz="2200" dirty="0" smtClean="0">
                <a:latin typeface="黑体" pitchFamily="2" charset="-122"/>
                <a:ea typeface="黑体" pitchFamily="2" charset="-122"/>
              </a:rPr>
              <a:t>两种文件格式进行传播</a:t>
            </a:r>
            <a:endParaRPr lang="en-US" altLang="zh-CN" sz="2200" dirty="0" smtClean="0">
              <a:latin typeface="黑体" pitchFamily="2" charset="-122"/>
              <a:ea typeface="黑体" pitchFamily="2" charset="-122"/>
            </a:endParaRPr>
          </a:p>
          <a:p>
            <a:pPr lvl="1"/>
            <a:r>
              <a:rPr lang="zh-CN" altLang="en-US" sz="2200" dirty="0" smtClean="0">
                <a:latin typeface="黑体" pitchFamily="2" charset="-122"/>
                <a:ea typeface="黑体" pitchFamily="2" charset="-122"/>
              </a:rPr>
              <a:t>缺陷：多个程序使用一个</a:t>
            </a:r>
            <a:r>
              <a:rPr lang="en-US" altLang="zh-CN" sz="2200" dirty="0" smtClean="0">
                <a:latin typeface="黑体" pitchFamily="2" charset="-122"/>
                <a:ea typeface="黑体" pitchFamily="2" charset="-122"/>
              </a:rPr>
              <a:t>COM</a:t>
            </a:r>
            <a:r>
              <a:rPr lang="zh-CN" altLang="en-US" sz="2200" dirty="0" smtClean="0">
                <a:latin typeface="黑体" pitchFamily="2" charset="-122"/>
                <a:ea typeface="黑体" pitchFamily="2" charset="-122"/>
              </a:rPr>
              <a:t>组件，某个组件升级带来的问题 </a:t>
            </a:r>
            <a:r>
              <a:rPr lang="en-US" altLang="zh-CN" sz="2200" dirty="0" smtClean="0">
                <a:latin typeface="黑体" pitchFamily="2" charset="-122"/>
                <a:ea typeface="黑体" pitchFamily="2" charset="-122"/>
              </a:rPr>
              <a:t>–DLL HELL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17</a:t>
            </a:fld>
            <a:endParaRPr lang="en-US" altLang="zh-CN"/>
          </a:p>
        </p:txBody>
      </p:sp>
      <p:sp>
        <p:nvSpPr>
          <p:cNvPr id="5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7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ESRI Object Browser</a:t>
            </a:r>
          </a:p>
          <a:p>
            <a:pPr lvl="1"/>
            <a:r>
              <a:rPr lang="zh-CN" altLang="en-US" sz="2000" dirty="0" smtClean="0"/>
              <a:t>程序</a:t>
            </a:r>
            <a:r>
              <a:rPr lang="en-US" altLang="zh-CN" sz="2000" dirty="0" smtClean="0"/>
              <a:t>-&gt;</a:t>
            </a:r>
            <a:r>
              <a:rPr lang="en-US" altLang="zh-CN" sz="2000" dirty="0" err="1" smtClean="0"/>
              <a:t>ArcGIS</a:t>
            </a:r>
            <a:r>
              <a:rPr lang="en-US" altLang="zh-CN" sz="2000" dirty="0" smtClean="0"/>
              <a:t>-&gt;Developer Tools-&gt;ESRI Object Browser</a:t>
            </a:r>
          </a:p>
          <a:p>
            <a:pPr lvl="1"/>
            <a:r>
              <a:rPr lang="en-US" altLang="zh-CN" sz="2000" dirty="0" smtClean="0"/>
              <a:t>VS.NET—</a:t>
            </a:r>
            <a:r>
              <a:rPr lang="zh-CN" altLang="en-US" sz="2000" dirty="0" smtClean="0"/>
              <a:t>对象浏览器</a:t>
            </a:r>
            <a:endParaRPr lang="en-US" altLang="zh-CN" sz="2000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18</a:t>
            </a:fld>
            <a:endParaRPr lang="en-US" altLang="zh-CN"/>
          </a:p>
        </p:txBody>
      </p:sp>
      <p:sp>
        <p:nvSpPr>
          <p:cNvPr id="5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952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95799" y="2743200"/>
            <a:ext cx="4101243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内容占位符 6" descr="师大图标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5235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33400" y="2743200"/>
            <a:ext cx="3733800" cy="2955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OMD-Object Model Diagram</a:t>
            </a:r>
          </a:p>
          <a:p>
            <a:pPr lvl="1"/>
            <a:r>
              <a:rPr lang="zh-CN" altLang="en-US" dirty="0" smtClean="0"/>
              <a:t>什么是</a:t>
            </a:r>
            <a:r>
              <a:rPr lang="en-US" altLang="zh-CN" dirty="0" smtClean="0"/>
              <a:t>OMD</a:t>
            </a:r>
            <a:r>
              <a:rPr lang="zh-CN" altLang="en-US" dirty="0" smtClean="0"/>
              <a:t>？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OMD</a:t>
            </a:r>
            <a:r>
              <a:rPr lang="zh-CN" altLang="en-US" dirty="0" smtClean="0"/>
              <a:t>是基于</a:t>
            </a:r>
            <a:r>
              <a:rPr lang="en-US" altLang="zh-CN" dirty="0" smtClean="0"/>
              <a:t>UML</a:t>
            </a:r>
            <a:r>
              <a:rPr lang="zh-CN" altLang="en-US" dirty="0" smtClean="0"/>
              <a:t>基础上表示对象的一种方法，可以补充对象浏览器（</a:t>
            </a:r>
            <a:r>
              <a:rPr lang="en-US" altLang="zh-CN" dirty="0" smtClean="0"/>
              <a:t>ESRI Object Browser</a:t>
            </a:r>
            <a:r>
              <a:rPr lang="zh-CN" altLang="en-US" dirty="0" smtClean="0"/>
              <a:t>）中看不到的信息。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OMD</a:t>
            </a:r>
            <a:r>
              <a:rPr lang="zh-CN" altLang="en-US" dirty="0" smtClean="0"/>
              <a:t>可以帮助程序员确定类之间的关系，如何从一个类到另一个类，选择正确的接口，获取需要的方法和属性等。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19</a:t>
            </a:fld>
            <a:endParaRPr lang="en-US" altLang="zh-CN"/>
          </a:p>
        </p:txBody>
      </p:sp>
      <p:sp>
        <p:nvSpPr>
          <p:cNvPr id="5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7" name="内容占位符 6" descr="OM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67000" y="3657600"/>
            <a:ext cx="4191000" cy="2583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内容占位符 6" descr="师大图标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OMD-Object Model Diagram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20</a:t>
            </a:fld>
            <a:endParaRPr lang="en-US" altLang="zh-CN"/>
          </a:p>
        </p:txBody>
      </p:sp>
      <p:sp>
        <p:nvSpPr>
          <p:cNvPr id="5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8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728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" y="1905000"/>
            <a:ext cx="8743950" cy="458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OMD</a:t>
            </a:r>
            <a:r>
              <a:rPr lang="zh-CN" altLang="en-US" dirty="0" smtClean="0"/>
              <a:t>能帮我们做什么？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查看该类支持哪些接口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完成任务需要哪些对象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如何使用该类的对象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是否可以直接实例化类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接口有哪些方法和属性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是否有其它类也支持该接口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 对象间的关系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21</a:t>
            </a:fld>
            <a:endParaRPr lang="en-US" altLang="zh-CN"/>
          </a:p>
        </p:txBody>
      </p:sp>
      <p:sp>
        <p:nvSpPr>
          <p:cNvPr id="5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8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、概述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22</a:t>
            </a:fld>
            <a:endParaRPr lang="en-US" altLang="zh-CN"/>
          </a:p>
        </p:txBody>
      </p:sp>
      <p:sp>
        <p:nvSpPr>
          <p:cNvPr id="5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三种类型的类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抽象类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可创建类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可实例化类</a:t>
            </a:r>
            <a:endParaRPr lang="zh-CN" altLang="en-US" dirty="0"/>
          </a:p>
        </p:txBody>
      </p:sp>
      <p:pic>
        <p:nvPicPr>
          <p:cNvPr id="9" name="内容占位符 6" descr="OM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343400" y="1295400"/>
            <a:ext cx="4114800" cy="25362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762000" y="4419600"/>
            <a:ext cx="7315200" cy="101566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dirty="0" smtClean="0"/>
              <a:t>抽象类不能用于产生一个新的对象，但可以用于定义一个子类。如水果对于苹果和香蕉来说是抽象类，因为自然界没有具体的水果对象。</a:t>
            </a:r>
            <a:endParaRPr lang="zh-CN" altLang="en-US" sz="2000" dirty="0"/>
          </a:p>
        </p:txBody>
      </p:sp>
      <p:cxnSp>
        <p:nvCxnSpPr>
          <p:cNvPr id="12" name="直接箭头连接符 11"/>
          <p:cNvCxnSpPr/>
          <p:nvPr/>
        </p:nvCxnSpPr>
        <p:spPr bwMode="auto">
          <a:xfrm flipV="1">
            <a:off x="3048000" y="1905000"/>
            <a:ext cx="2895600" cy="259080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4" name="直接箭头连接符 13"/>
          <p:cNvCxnSpPr/>
          <p:nvPr/>
        </p:nvCxnSpPr>
        <p:spPr bwMode="auto">
          <a:xfrm flipV="1">
            <a:off x="2971800" y="3276600"/>
            <a:ext cx="1752600" cy="13716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11" name="内容占位符 6" descr="师大图标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、概述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23</a:t>
            </a:fld>
            <a:endParaRPr lang="en-US" altLang="zh-CN"/>
          </a:p>
        </p:txBody>
      </p:sp>
      <p:sp>
        <p:nvSpPr>
          <p:cNvPr id="5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三种类型的类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抽象类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可创建类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可实例化类</a:t>
            </a:r>
            <a:endParaRPr lang="zh-CN" altLang="en-US" dirty="0"/>
          </a:p>
        </p:txBody>
      </p:sp>
      <p:pic>
        <p:nvPicPr>
          <p:cNvPr id="9" name="内容占位符 6" descr="OM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343400" y="1295400"/>
            <a:ext cx="4114800" cy="25362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762000" y="4419600"/>
            <a:ext cx="7315200" cy="70788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dirty="0" smtClean="0"/>
              <a:t>可创建类是能够直接利用语法来创建对象。如可以直接创建苹果对象。</a:t>
            </a:r>
            <a:endParaRPr lang="zh-CN" altLang="en-US" sz="2000" dirty="0"/>
          </a:p>
        </p:txBody>
      </p:sp>
      <p:cxnSp>
        <p:nvCxnSpPr>
          <p:cNvPr id="12" name="直接箭头连接符 11"/>
          <p:cNvCxnSpPr/>
          <p:nvPr/>
        </p:nvCxnSpPr>
        <p:spPr bwMode="auto">
          <a:xfrm rot="5400000" flipH="1" flipV="1">
            <a:off x="3048000" y="3124200"/>
            <a:ext cx="1371600" cy="137160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4" name="直接箭头连接符 13"/>
          <p:cNvCxnSpPr/>
          <p:nvPr/>
        </p:nvCxnSpPr>
        <p:spPr bwMode="auto">
          <a:xfrm flipV="1">
            <a:off x="2971800" y="3276600"/>
            <a:ext cx="1752600" cy="13716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11" name="内容占位符 6" descr="师大图标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、概述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24</a:t>
            </a:fld>
            <a:endParaRPr lang="en-US" altLang="zh-CN"/>
          </a:p>
        </p:txBody>
      </p:sp>
      <p:sp>
        <p:nvSpPr>
          <p:cNvPr id="5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三种类型的类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抽象类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可创建类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可实例化类</a:t>
            </a:r>
            <a:endParaRPr lang="zh-CN" altLang="en-US" dirty="0"/>
          </a:p>
        </p:txBody>
      </p:sp>
      <p:pic>
        <p:nvPicPr>
          <p:cNvPr id="9" name="内容占位符 6" descr="OM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343400" y="1295400"/>
            <a:ext cx="4114800" cy="25362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762000" y="4419600"/>
            <a:ext cx="7315200" cy="70788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dirty="0" smtClean="0"/>
              <a:t>可实例化类不能够直接创建对象，但可以作为其他对象的属性被创建或从其他类的方法中创建。</a:t>
            </a:r>
            <a:r>
              <a:rPr lang="en-US" altLang="zh-CN" sz="2000" dirty="0" smtClean="0"/>
              <a:t> </a:t>
            </a:r>
            <a:endParaRPr lang="zh-CN" altLang="en-US" sz="2000" dirty="0"/>
          </a:p>
        </p:txBody>
      </p:sp>
      <p:cxnSp>
        <p:nvCxnSpPr>
          <p:cNvPr id="12" name="直接箭头连接符 11"/>
          <p:cNvCxnSpPr/>
          <p:nvPr/>
        </p:nvCxnSpPr>
        <p:spPr bwMode="auto">
          <a:xfrm flipV="1">
            <a:off x="3048000" y="3200400"/>
            <a:ext cx="4191000" cy="129540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4" name="直接箭头连接符 13"/>
          <p:cNvCxnSpPr/>
          <p:nvPr/>
        </p:nvCxnSpPr>
        <p:spPr bwMode="auto">
          <a:xfrm flipV="1">
            <a:off x="2971800" y="3276600"/>
            <a:ext cx="1752600" cy="13716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11" name="内容占位符 6" descr="师大图标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三种类型的类举例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水果</a:t>
            </a:r>
            <a:r>
              <a:rPr lang="en-US" altLang="zh-CN" dirty="0" smtClean="0"/>
              <a:t>—</a:t>
            </a:r>
            <a:r>
              <a:rPr lang="zh-CN" altLang="en-US" dirty="0" smtClean="0"/>
              <a:t>抽象类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苹果</a:t>
            </a:r>
            <a:r>
              <a:rPr lang="en-US" altLang="zh-CN" dirty="0" smtClean="0"/>
              <a:t>—</a:t>
            </a:r>
            <a:r>
              <a:rPr lang="zh-CN" altLang="en-US" dirty="0" smtClean="0"/>
              <a:t>可创建类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苹果质量报告</a:t>
            </a:r>
            <a:r>
              <a:rPr lang="en-US" altLang="zh-CN" dirty="0" smtClean="0"/>
              <a:t>—</a:t>
            </a:r>
            <a:r>
              <a:rPr lang="zh-CN" altLang="en-US" dirty="0" smtClean="0"/>
              <a:t>可实例化类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Dim </a:t>
            </a:r>
            <a:r>
              <a:rPr lang="en-US" altLang="zh-CN" dirty="0" err="1" smtClean="0"/>
              <a:t>WantToBuy</a:t>
            </a:r>
            <a:r>
              <a:rPr lang="en-US" altLang="zh-CN" dirty="0" smtClean="0"/>
              <a:t> as </a:t>
            </a:r>
            <a:r>
              <a:rPr lang="zh-CN" altLang="en-US" dirty="0" smtClean="0"/>
              <a:t>水果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Set </a:t>
            </a:r>
            <a:r>
              <a:rPr lang="en-US" altLang="zh-CN" dirty="0" err="1" smtClean="0"/>
              <a:t>WantToBuy</a:t>
            </a:r>
            <a:r>
              <a:rPr lang="en-US" altLang="zh-CN" dirty="0" smtClean="0"/>
              <a:t>  =  new </a:t>
            </a:r>
            <a:r>
              <a:rPr lang="zh-CN" altLang="en-US" dirty="0" smtClean="0"/>
              <a:t>苹果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（</a:t>
            </a:r>
            <a:r>
              <a:rPr lang="en-US" altLang="zh-CN" dirty="0" smtClean="0"/>
              <a:t>dim </a:t>
            </a:r>
            <a:r>
              <a:rPr lang="en-US" altLang="zh-CN" dirty="0" err="1" smtClean="0"/>
              <a:t>WantToBuy</a:t>
            </a:r>
            <a:r>
              <a:rPr lang="en-US" altLang="zh-CN" dirty="0" smtClean="0"/>
              <a:t>  = new  </a:t>
            </a:r>
            <a:r>
              <a:rPr lang="zh-CN" altLang="en-US" dirty="0" smtClean="0"/>
              <a:t>苹果）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Dim </a:t>
            </a:r>
            <a:r>
              <a:rPr lang="zh-CN" altLang="en-US" dirty="0" smtClean="0"/>
              <a:t>苹果质量报告 </a:t>
            </a:r>
            <a:r>
              <a:rPr lang="en-US" altLang="zh-CN" dirty="0" smtClean="0"/>
              <a:t>= </a:t>
            </a:r>
            <a:r>
              <a:rPr lang="en-US" altLang="zh-CN" dirty="0" err="1" smtClean="0"/>
              <a:t>WantToBuy.Report</a:t>
            </a:r>
            <a:r>
              <a:rPr lang="en-US" altLang="zh-CN" dirty="0" smtClean="0"/>
              <a:t>()</a:t>
            </a:r>
          </a:p>
          <a:p>
            <a:pPr lvl="1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25</a:t>
            </a:fld>
            <a:endParaRPr lang="en-US" altLang="zh-CN"/>
          </a:p>
        </p:txBody>
      </p:sp>
      <p:sp>
        <p:nvSpPr>
          <p:cNvPr id="5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7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类与类的关系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依赖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关联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组合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继承</a:t>
            </a:r>
            <a:endParaRPr lang="en-US" altLang="zh-CN" dirty="0" smtClean="0"/>
          </a:p>
          <a:p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26</a:t>
            </a:fld>
            <a:endParaRPr lang="en-US" altLang="zh-CN"/>
          </a:p>
        </p:txBody>
      </p:sp>
      <p:sp>
        <p:nvSpPr>
          <p:cNvPr id="5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7" name="内容占位符 6" descr="OM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38400" y="1905000"/>
            <a:ext cx="5439608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内容占位符 6" descr="师大图标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依赖关系（实例化）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表明一个对象有方法产生另外一个对象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27</a:t>
            </a:fld>
            <a:endParaRPr lang="en-US" altLang="zh-CN"/>
          </a:p>
        </p:txBody>
      </p:sp>
      <p:sp>
        <p:nvSpPr>
          <p:cNvPr id="5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7" name="图片 6" descr="实例化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2362200"/>
            <a:ext cx="6296679" cy="1905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24000" y="4800600"/>
            <a:ext cx="586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当</a:t>
            </a:r>
            <a:r>
              <a:rPr lang="en-US" altLang="zh-CN" dirty="0" smtClean="0"/>
              <a:t>Pole</a:t>
            </a:r>
            <a:r>
              <a:rPr lang="zh-CN" altLang="en-US" dirty="0" smtClean="0"/>
              <a:t>状况变化，</a:t>
            </a:r>
            <a:r>
              <a:rPr lang="en-US" altLang="zh-CN" dirty="0" smtClean="0"/>
              <a:t>Transformer</a:t>
            </a:r>
            <a:r>
              <a:rPr lang="zh-CN" altLang="en-US" dirty="0" smtClean="0"/>
              <a:t>也变化；如果</a:t>
            </a:r>
            <a:r>
              <a:rPr lang="en-US" altLang="zh-CN" dirty="0" smtClean="0"/>
              <a:t>Pole</a:t>
            </a:r>
            <a:r>
              <a:rPr lang="zh-CN" altLang="en-US" dirty="0" smtClean="0"/>
              <a:t>消失，则</a:t>
            </a:r>
            <a:r>
              <a:rPr lang="en-US" altLang="zh-CN" dirty="0" smtClean="0"/>
              <a:t>Transform</a:t>
            </a:r>
            <a:r>
              <a:rPr lang="zh-CN" altLang="en-US" dirty="0" smtClean="0"/>
              <a:t>也消失，前者的生命周期决定后者</a:t>
            </a:r>
            <a:endParaRPr lang="zh-CN" altLang="en-US" dirty="0"/>
          </a:p>
        </p:txBody>
      </p:sp>
      <p:pic>
        <p:nvPicPr>
          <p:cNvPr id="9" name="内容占位符 6" descr="师大图标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关联关系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描述了类之间的关联，可以从一个类的对象访问另一个类的对象。在类的两端可以定义多重性关联。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关联是有方向的，单向关联</a:t>
            </a:r>
            <a:r>
              <a:rPr lang="en-US" altLang="zh-CN" dirty="0" smtClean="0"/>
              <a:t>/</a:t>
            </a:r>
            <a:r>
              <a:rPr lang="zh-CN" altLang="en-US" dirty="0" smtClean="0"/>
              <a:t>双向关联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28</a:t>
            </a:fld>
            <a:endParaRPr lang="en-US" altLang="zh-CN"/>
          </a:p>
        </p:txBody>
      </p:sp>
      <p:sp>
        <p:nvSpPr>
          <p:cNvPr id="5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7" name="图片 6" descr="关系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124200"/>
            <a:ext cx="4505325" cy="11334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43000" y="4419600"/>
            <a:ext cx="6477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一个地主可能拥有多块土地，一块土地也可能被多个地主拥有，当其中一个不存在时，另一个不会消失。</a:t>
            </a:r>
            <a:endParaRPr lang="en-US" altLang="zh-CN" dirty="0" smtClean="0"/>
          </a:p>
          <a:p>
            <a:r>
              <a:rPr lang="zh-CN" altLang="en-US" dirty="0" smtClean="0"/>
              <a:t>（一个老板永远多个企业，一个企业被多个老板拥有）</a:t>
            </a:r>
            <a:endParaRPr lang="zh-CN" altLang="en-US" dirty="0"/>
          </a:p>
        </p:txBody>
      </p:sp>
      <p:pic>
        <p:nvPicPr>
          <p:cNvPr id="9" name="图片 8" descr="关系1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5334000"/>
            <a:ext cx="6625328" cy="1295400"/>
          </a:xfrm>
          <a:prstGeom prst="rect">
            <a:avLst/>
          </a:prstGeom>
        </p:spPr>
      </p:pic>
      <p:pic>
        <p:nvPicPr>
          <p:cNvPr id="10" name="内容占位符 6" descr="师大图标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组合关系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聚合</a:t>
            </a:r>
            <a:r>
              <a:rPr lang="en-US" altLang="zh-CN" dirty="0" smtClean="0"/>
              <a:t>—</a:t>
            </a:r>
            <a:r>
              <a:rPr lang="zh-CN" altLang="en-US" dirty="0" smtClean="0"/>
              <a:t>一种不对称的关联方式，一个被认为是“整体”对象，另一个是“部分”对象。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r>
              <a:rPr lang="zh-CN" altLang="en-US" dirty="0" smtClean="0"/>
              <a:t>组成</a:t>
            </a:r>
            <a:r>
              <a:rPr lang="en-US" altLang="zh-CN" dirty="0" smtClean="0"/>
              <a:t>—</a:t>
            </a:r>
            <a:r>
              <a:rPr lang="zh-CN" altLang="en-US" dirty="0" smtClean="0"/>
              <a:t>更为强壮的聚合方式，“整体”对象控制“部分”对象。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29</a:t>
            </a:fld>
            <a:endParaRPr lang="en-US" altLang="zh-CN"/>
          </a:p>
        </p:txBody>
      </p:sp>
      <p:sp>
        <p:nvSpPr>
          <p:cNvPr id="5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7" name="图片 6" descr="组成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4495800"/>
            <a:ext cx="4114800" cy="1032703"/>
          </a:xfrm>
          <a:prstGeom prst="rect">
            <a:avLst/>
          </a:prstGeom>
        </p:spPr>
      </p:pic>
      <p:pic>
        <p:nvPicPr>
          <p:cNvPr id="8" name="图片 7" descr="聚合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2590800"/>
            <a:ext cx="4038600" cy="1295551"/>
          </a:xfrm>
          <a:prstGeom prst="rect">
            <a:avLst/>
          </a:prstGeom>
        </p:spPr>
      </p:pic>
      <p:pic>
        <p:nvPicPr>
          <p:cNvPr id="9" name="内容占位符 6" descr="师大图标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继承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具有超类的属性的方法，也具有自身的属性与方法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30</a:t>
            </a:fld>
            <a:endParaRPr lang="en-US" altLang="zh-CN"/>
          </a:p>
        </p:txBody>
      </p:sp>
      <p:sp>
        <p:nvSpPr>
          <p:cNvPr id="5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7" name="图片 6" descr="继承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2362200"/>
            <a:ext cx="3581400" cy="24504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24000" y="5181600"/>
            <a:ext cx="5638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Line</a:t>
            </a:r>
            <a:r>
              <a:rPr lang="zh-CN" altLang="en-US" dirty="0" smtClean="0"/>
              <a:t>是抽象类，不能直接产生对象，只能通过子类的方法来实现自己，子类将继承父类全部的非私有方法和属性，而且子类对象可以看作是父类对象的一种。</a:t>
            </a:r>
            <a:endParaRPr lang="zh-CN" altLang="en-US" dirty="0"/>
          </a:p>
        </p:txBody>
      </p:sp>
      <p:pic>
        <p:nvPicPr>
          <p:cNvPr id="9" name="内容占位符 6" descr="师大图标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开发平台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C#</a:t>
            </a:r>
            <a:r>
              <a:rPr lang="zh-CN" altLang="en-US" dirty="0" smtClean="0"/>
              <a:t>是进行</a:t>
            </a:r>
            <a:r>
              <a:rPr lang="en-US" altLang="zh-CN" dirty="0" smtClean="0"/>
              <a:t>AO</a:t>
            </a:r>
            <a:r>
              <a:rPr lang="zh-CN" altLang="en-US" dirty="0" smtClean="0"/>
              <a:t>开发最优秀的语言之一。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学习资料和网上资源丰富。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31</a:t>
            </a:fld>
            <a:endParaRPr lang="en-US" altLang="zh-CN"/>
          </a:p>
        </p:txBody>
      </p:sp>
      <p:sp>
        <p:nvSpPr>
          <p:cNvPr id="5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7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ArcMap</a:t>
            </a:r>
            <a:r>
              <a:rPr lang="zh-CN" altLang="en-US" dirty="0" smtClean="0"/>
              <a:t>界面定制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直接利用</a:t>
            </a:r>
            <a:r>
              <a:rPr lang="en-US" altLang="zh-CN" dirty="0" smtClean="0"/>
              <a:t>VBA</a:t>
            </a:r>
            <a:r>
              <a:rPr lang="zh-CN" altLang="en-US" dirty="0" smtClean="0"/>
              <a:t>定制</a:t>
            </a:r>
            <a:endParaRPr lang="en-US" altLang="zh-CN" dirty="0" smtClean="0"/>
          </a:p>
          <a:p>
            <a:pPr lvl="1"/>
            <a:r>
              <a:rPr lang="en-US" altLang="zh-CN" sz="2000" dirty="0" smtClean="0"/>
              <a:t>VBA</a:t>
            </a:r>
            <a:r>
              <a:rPr lang="zh-CN" altLang="en-US" sz="2000" dirty="0" smtClean="0"/>
              <a:t>是</a:t>
            </a:r>
            <a:r>
              <a:rPr lang="en-US" altLang="zh-CN" sz="2000" dirty="0" err="1" smtClean="0"/>
              <a:t>ArcGIS</a:t>
            </a:r>
            <a:r>
              <a:rPr lang="zh-CN" altLang="en-US" sz="2000" dirty="0" smtClean="0"/>
              <a:t>的内在结构框架，包括两个全局变量</a:t>
            </a:r>
            <a:endParaRPr lang="en-US" altLang="zh-CN" sz="2000" dirty="0" smtClean="0"/>
          </a:p>
          <a:p>
            <a:pPr lvl="2"/>
            <a:r>
              <a:rPr lang="en-US" altLang="zh-CN" dirty="0" smtClean="0"/>
              <a:t>Application—</a:t>
            </a:r>
            <a:r>
              <a:rPr lang="zh-CN" altLang="en-US" dirty="0" smtClean="0"/>
              <a:t>指向程序本身</a:t>
            </a:r>
            <a:endParaRPr lang="en-US" altLang="zh-CN" dirty="0" smtClean="0"/>
          </a:p>
          <a:p>
            <a:pPr lvl="2"/>
            <a:r>
              <a:rPr lang="en-US" altLang="zh-CN" dirty="0" err="1" smtClean="0"/>
              <a:t>ThisDocument</a:t>
            </a:r>
            <a:r>
              <a:rPr lang="en-US" altLang="zh-CN" dirty="0" smtClean="0"/>
              <a:t>—</a:t>
            </a:r>
            <a:r>
              <a:rPr lang="zh-CN" altLang="en-US" dirty="0" smtClean="0"/>
              <a:t>指向程序使用的文档对象</a:t>
            </a:r>
          </a:p>
          <a:p>
            <a:pPr lvl="1"/>
            <a:r>
              <a:rPr lang="en-US" altLang="zh-CN" sz="2000" dirty="0" smtClean="0">
                <a:solidFill>
                  <a:srgbClr val="FFFF00"/>
                </a:solidFill>
              </a:rPr>
              <a:t>Application</a:t>
            </a:r>
            <a:r>
              <a:rPr lang="zh-CN" altLang="en-US" sz="2000" dirty="0" smtClean="0">
                <a:solidFill>
                  <a:srgbClr val="FFFF00"/>
                </a:solidFill>
              </a:rPr>
              <a:t>：掌管程序本身的产生和终止</a:t>
            </a:r>
            <a:endParaRPr lang="en-US" altLang="zh-CN" sz="2000" dirty="0" smtClean="0">
              <a:solidFill>
                <a:srgbClr val="FFFF00"/>
              </a:solidFill>
            </a:endParaRPr>
          </a:p>
          <a:p>
            <a:pPr lvl="1"/>
            <a:r>
              <a:rPr lang="en-US" altLang="zh-CN" sz="2000" dirty="0" err="1" smtClean="0">
                <a:solidFill>
                  <a:srgbClr val="FFFF00"/>
                </a:solidFill>
              </a:rPr>
              <a:t>ThisDocument</a:t>
            </a:r>
            <a:r>
              <a:rPr lang="zh-CN" altLang="en-US" sz="2000" dirty="0" smtClean="0">
                <a:solidFill>
                  <a:srgbClr val="FFFF00"/>
                </a:solidFill>
              </a:rPr>
              <a:t>：控制程序运行过程中使用的地理数据</a:t>
            </a:r>
            <a:endParaRPr lang="en-US" altLang="zh-CN" sz="2000" dirty="0" smtClean="0">
              <a:solidFill>
                <a:srgbClr val="FFFF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32</a:t>
            </a:fld>
            <a:endParaRPr lang="en-US" altLang="zh-CN"/>
          </a:p>
        </p:txBody>
      </p:sp>
      <p:sp>
        <p:nvSpPr>
          <p:cNvPr id="5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7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ArcMap</a:t>
            </a:r>
            <a:r>
              <a:rPr lang="zh-CN" altLang="en-US" dirty="0" smtClean="0"/>
              <a:t>界面定制</a:t>
            </a:r>
            <a:endParaRPr lang="zh-CN" altLang="en-US" dirty="0"/>
          </a:p>
        </p:txBody>
      </p:sp>
      <p:pic>
        <p:nvPicPr>
          <p:cNvPr id="8" name="内容占位符 7" descr="ArcMap对象图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1200" y="1905000"/>
            <a:ext cx="6812697" cy="4800600"/>
          </a:xfr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33</a:t>
            </a:fld>
            <a:endParaRPr lang="en-US" altLang="zh-CN"/>
          </a:p>
        </p:txBody>
      </p:sp>
      <p:sp>
        <p:nvSpPr>
          <p:cNvPr id="5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7" name="内容占位符 6" descr="师大图标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457200" y="1295400"/>
            <a:ext cx="1676400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dirty="0" err="1" smtClean="0"/>
              <a:t>MxDocument</a:t>
            </a:r>
            <a:endParaRPr lang="zh-CN" altLang="en-US" dirty="0"/>
          </a:p>
        </p:txBody>
      </p:sp>
      <p:cxnSp>
        <p:nvCxnSpPr>
          <p:cNvPr id="11" name="直接箭头连接符 10"/>
          <p:cNvCxnSpPr/>
          <p:nvPr/>
        </p:nvCxnSpPr>
        <p:spPr bwMode="auto">
          <a:xfrm rot="10800000" flipV="1">
            <a:off x="1066800" y="2057400"/>
            <a:ext cx="1371600" cy="6858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3" name="直接箭头连接符 12"/>
          <p:cNvCxnSpPr>
            <a:stCxn id="9" idx="2"/>
          </p:cNvCxnSpPr>
          <p:nvPr/>
        </p:nvCxnSpPr>
        <p:spPr bwMode="auto">
          <a:xfrm rot="16200000" flipH="1">
            <a:off x="1556266" y="1403866"/>
            <a:ext cx="468870" cy="99060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FF66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228600" y="3581400"/>
            <a:ext cx="1447800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dirty="0" smtClean="0"/>
              <a:t>Application</a:t>
            </a:r>
            <a:endParaRPr lang="zh-CN" altLang="en-US" dirty="0"/>
          </a:p>
        </p:txBody>
      </p:sp>
      <p:cxnSp>
        <p:nvCxnSpPr>
          <p:cNvPr id="21" name="直接箭头连接符 20"/>
          <p:cNvCxnSpPr/>
          <p:nvPr/>
        </p:nvCxnSpPr>
        <p:spPr bwMode="auto">
          <a:xfrm>
            <a:off x="914400" y="4038600"/>
            <a:ext cx="762000" cy="1524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FF66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4" name="Picture 2" descr="ms-help://ESRI.EDNv9.2/esriFramework/bitmaps/Application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76400" y="4191000"/>
            <a:ext cx="7174523" cy="243840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ArcMap</a:t>
            </a:r>
            <a:r>
              <a:rPr lang="zh-CN" altLang="en-US" dirty="0" smtClean="0"/>
              <a:t>界面定制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3400" y="1295400"/>
            <a:ext cx="8305800" cy="4724400"/>
          </a:xfrm>
        </p:spPr>
        <p:txBody>
          <a:bodyPr/>
          <a:lstStyle/>
          <a:p>
            <a:r>
              <a:rPr lang="en-US" altLang="zh-CN" dirty="0" smtClean="0"/>
              <a:t>Application</a:t>
            </a:r>
            <a:r>
              <a:rPr lang="zh-CN" altLang="en-US" dirty="0" smtClean="0"/>
              <a:t>对象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每个运行的</a:t>
            </a:r>
            <a:r>
              <a:rPr lang="en-US" altLang="zh-CN" dirty="0" err="1" smtClean="0"/>
              <a:t>ArcMap</a:t>
            </a:r>
            <a:r>
              <a:rPr lang="zh-CN" altLang="en-US" dirty="0" smtClean="0"/>
              <a:t>就是一个</a:t>
            </a:r>
            <a:r>
              <a:rPr lang="en-US" altLang="zh-CN" dirty="0" smtClean="0"/>
              <a:t>Application</a:t>
            </a:r>
            <a:r>
              <a:rPr lang="zh-CN" altLang="en-US" dirty="0" smtClean="0"/>
              <a:t>的对象实例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在</a:t>
            </a:r>
            <a:r>
              <a:rPr lang="en-US" altLang="zh-CN" dirty="0" err="1" smtClean="0"/>
              <a:t>ArcMap</a:t>
            </a:r>
            <a:r>
              <a:rPr lang="zh-CN" altLang="en-US" dirty="0" smtClean="0"/>
              <a:t>中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Application—</a:t>
            </a:r>
            <a:r>
              <a:rPr lang="zh-CN" altLang="en-US" dirty="0" smtClean="0"/>
              <a:t>根本</a:t>
            </a:r>
            <a:endParaRPr lang="en-US" altLang="zh-CN" dirty="0" smtClean="0"/>
          </a:p>
          <a:p>
            <a:pPr lvl="2"/>
            <a:r>
              <a:rPr lang="en-US" altLang="zh-CN" dirty="0" err="1" smtClean="0"/>
              <a:t>DataWindow</a:t>
            </a:r>
            <a:r>
              <a:rPr lang="en-US" altLang="zh-CN" dirty="0" smtClean="0"/>
              <a:t>—</a:t>
            </a:r>
            <a:r>
              <a:rPr lang="zh-CN" altLang="en-US" dirty="0" smtClean="0"/>
              <a:t>数据管理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Extension—</a:t>
            </a:r>
            <a:r>
              <a:rPr lang="zh-CN" altLang="en-US" dirty="0" smtClean="0"/>
              <a:t>管理</a:t>
            </a:r>
            <a:r>
              <a:rPr lang="en-US" altLang="zh-CN" dirty="0" smtClean="0"/>
              <a:t>DLL</a:t>
            </a:r>
            <a:r>
              <a:rPr lang="zh-CN" altLang="en-US" dirty="0" smtClean="0"/>
              <a:t>扩展模块</a:t>
            </a:r>
            <a:endParaRPr lang="en-US" altLang="zh-CN" dirty="0" smtClean="0"/>
          </a:p>
          <a:p>
            <a:pPr lvl="2"/>
            <a:r>
              <a:rPr lang="en-US" altLang="zh-CN" dirty="0" err="1" smtClean="0"/>
              <a:t>AppDisplay</a:t>
            </a:r>
            <a:r>
              <a:rPr lang="en-US" altLang="zh-CN" dirty="0" smtClean="0"/>
              <a:t>—</a:t>
            </a:r>
            <a:r>
              <a:rPr lang="zh-CN" altLang="en-US" dirty="0" smtClean="0"/>
              <a:t>管理图形显示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lvl="2"/>
            <a:r>
              <a:rPr lang="en-US" altLang="zh-CN" dirty="0" smtClean="0">
                <a:solidFill>
                  <a:schemeClr val="bg1">
                    <a:lumMod val="60000"/>
                    <a:lumOff val="40000"/>
                  </a:schemeClr>
                </a:solidFill>
              </a:rPr>
              <a:t>StatusBar—</a:t>
            </a:r>
            <a:r>
              <a:rPr lang="zh-CN" altLang="en-US" b="1" dirty="0" smtClean="0">
                <a:solidFill>
                  <a:schemeClr val="bg1">
                    <a:lumMod val="60000"/>
                    <a:lumOff val="40000"/>
                  </a:schemeClr>
                </a:solidFill>
              </a:rPr>
              <a:t>改变状态栏</a:t>
            </a:r>
            <a:endParaRPr lang="en-US" altLang="zh-CN" b="1" dirty="0" smtClean="0">
              <a:solidFill>
                <a:schemeClr val="bg1">
                  <a:lumMod val="60000"/>
                  <a:lumOff val="40000"/>
                </a:schemeClr>
              </a:solidFill>
            </a:endParaRPr>
          </a:p>
          <a:p>
            <a:pPr lvl="2"/>
            <a:r>
              <a:rPr lang="en-US" altLang="zh-CN" b="1" dirty="0" smtClean="0">
                <a:solidFill>
                  <a:schemeClr val="bg1">
                    <a:lumMod val="60000"/>
                    <a:lumOff val="40000"/>
                  </a:schemeClr>
                </a:solidFill>
              </a:rPr>
              <a:t>Templates—</a:t>
            </a:r>
            <a:r>
              <a:rPr lang="zh-CN" altLang="en-US" b="1" dirty="0" smtClean="0">
                <a:solidFill>
                  <a:schemeClr val="bg1">
                    <a:lumMod val="60000"/>
                    <a:lumOff val="40000"/>
                  </a:schemeClr>
                </a:solidFill>
              </a:rPr>
              <a:t>启动后使用的模板</a:t>
            </a:r>
            <a:endParaRPr lang="en-US" altLang="zh-CN" b="1" dirty="0" smtClean="0">
              <a:solidFill>
                <a:schemeClr val="bg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34</a:t>
            </a:fld>
            <a:endParaRPr lang="en-US" altLang="zh-CN"/>
          </a:p>
        </p:txBody>
      </p:sp>
      <p:sp>
        <p:nvSpPr>
          <p:cNvPr id="5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8" name="内容占位符 6" descr="师大图标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矩形 8"/>
          <p:cNvSpPr/>
          <p:nvPr/>
        </p:nvSpPr>
        <p:spPr>
          <a:xfrm>
            <a:off x="4038600" y="2362200"/>
            <a:ext cx="4572000" cy="646331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r>
              <a:rPr lang="en-US" altLang="zh-CN" dirty="0" smtClean="0">
                <a:solidFill>
                  <a:srgbClr val="FFFF00"/>
                </a:solidFill>
              </a:rPr>
              <a:t>VBA</a:t>
            </a:r>
            <a:r>
              <a:rPr lang="zh-CN" altLang="en-US" dirty="0" smtClean="0">
                <a:solidFill>
                  <a:srgbClr val="FFFF00"/>
                </a:solidFill>
              </a:rPr>
              <a:t>环境中，</a:t>
            </a:r>
            <a:r>
              <a:rPr lang="en-US" altLang="zh-CN" dirty="0" smtClean="0">
                <a:solidFill>
                  <a:srgbClr val="FFFF00"/>
                </a:solidFill>
              </a:rPr>
              <a:t>Application</a:t>
            </a:r>
            <a:r>
              <a:rPr lang="zh-CN" altLang="en-US" dirty="0" smtClean="0">
                <a:solidFill>
                  <a:srgbClr val="FFFF00"/>
                </a:solidFill>
              </a:rPr>
              <a:t>始终是全局变量，可在任何地方调用</a:t>
            </a:r>
            <a:endParaRPr lang="zh-CN" alt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ArcMap</a:t>
            </a:r>
            <a:r>
              <a:rPr lang="zh-CN" altLang="en-US" dirty="0" smtClean="0"/>
              <a:t>界面定制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3400" y="1295400"/>
            <a:ext cx="8305800" cy="4724400"/>
          </a:xfrm>
        </p:spPr>
        <p:txBody>
          <a:bodyPr/>
          <a:lstStyle/>
          <a:p>
            <a:r>
              <a:rPr lang="en-US" altLang="zh-CN" dirty="0" err="1" smtClean="0"/>
              <a:t>IApplication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接口</a:t>
            </a:r>
            <a:endParaRPr lang="en-US" altLang="zh-CN" dirty="0" smtClean="0">
              <a:latin typeface="黑体" pitchFamily="2" charset="-122"/>
              <a:ea typeface="黑体" pitchFamily="2" charset="-122"/>
            </a:endParaRPr>
          </a:p>
          <a:p>
            <a:pPr lvl="1"/>
            <a:r>
              <a:rPr lang="en-US" altLang="zh-CN" dirty="0" err="1" smtClean="0"/>
              <a:t>IApplication</a:t>
            </a:r>
            <a:r>
              <a:rPr lang="en-US" altLang="zh-CN" dirty="0" smtClean="0"/>
              <a:t> </a:t>
            </a:r>
            <a:r>
              <a:rPr lang="zh-CN" altLang="en-US" dirty="0" smtClean="0"/>
              <a:t>定义了</a:t>
            </a:r>
            <a:r>
              <a:rPr lang="en-US" altLang="zh-CN" dirty="0" err="1" smtClean="0"/>
              <a:t>ArcGIS</a:t>
            </a:r>
            <a:r>
              <a:rPr lang="zh-CN" altLang="en-US" dirty="0" smtClean="0"/>
              <a:t>中所有应用程序的一般功能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35</a:t>
            </a:fld>
            <a:endParaRPr lang="en-US" altLang="zh-CN"/>
          </a:p>
        </p:txBody>
      </p:sp>
      <p:sp>
        <p:nvSpPr>
          <p:cNvPr id="5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8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图片 8" descr="IApplication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286000"/>
            <a:ext cx="8255000" cy="3505200"/>
          </a:xfrm>
          <a:prstGeom prst="rect">
            <a:avLst/>
          </a:prstGeom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ArcMap</a:t>
            </a:r>
            <a:r>
              <a:rPr lang="zh-CN" altLang="en-US" dirty="0" smtClean="0"/>
              <a:t>界面定制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3400" y="1295400"/>
            <a:ext cx="8305800" cy="4724400"/>
          </a:xfrm>
        </p:spPr>
        <p:txBody>
          <a:bodyPr/>
          <a:lstStyle/>
          <a:p>
            <a:r>
              <a:rPr lang="en-US" altLang="zh-CN" dirty="0" err="1" smtClean="0"/>
              <a:t>IApplication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接口</a:t>
            </a:r>
            <a:endParaRPr lang="en-US" altLang="zh-CN" dirty="0" smtClean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36</a:t>
            </a:fld>
            <a:endParaRPr lang="en-US" altLang="zh-CN"/>
          </a:p>
        </p:txBody>
      </p:sp>
      <p:sp>
        <p:nvSpPr>
          <p:cNvPr id="5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8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图片 9" descr="IApplicationMetho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828800"/>
            <a:ext cx="7543800" cy="4856177"/>
          </a:xfrm>
          <a:prstGeom prst="rect">
            <a:avLst/>
          </a:prstGeom>
        </p:spPr>
      </p:pic>
      <p:sp>
        <p:nvSpPr>
          <p:cNvPr id="11" name="太阳形 10"/>
          <p:cNvSpPr/>
          <p:nvPr/>
        </p:nvSpPr>
        <p:spPr bwMode="auto">
          <a:xfrm>
            <a:off x="8229600" y="1219200"/>
            <a:ext cx="533400" cy="533400"/>
          </a:xfrm>
          <a:prstGeom prst="sun">
            <a:avLst/>
          </a:prstGeom>
          <a:solidFill>
            <a:srgbClr val="FFFF00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ArcMap</a:t>
            </a:r>
            <a:r>
              <a:rPr lang="zh-CN" altLang="en-US" dirty="0" smtClean="0"/>
              <a:t>界面定制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>
                <a:solidFill>
                  <a:schemeClr val="bg1">
                    <a:lumMod val="20000"/>
                    <a:lumOff val="80000"/>
                  </a:schemeClr>
                </a:solidFill>
              </a:rPr>
              <a:t>IMxApplication</a:t>
            </a:r>
            <a:r>
              <a:rPr lang="zh-CN" altLang="en-US" dirty="0" smtClean="0">
                <a:solidFill>
                  <a:schemeClr val="bg1">
                    <a:lumMod val="20000"/>
                    <a:lumOff val="80000"/>
                  </a:schemeClr>
                </a:solidFill>
              </a:rPr>
              <a:t>接口</a:t>
            </a:r>
            <a:endParaRPr lang="en-US" altLang="zh-CN" dirty="0" smtClean="0">
              <a:solidFill>
                <a:schemeClr val="bg1">
                  <a:lumMod val="20000"/>
                  <a:lumOff val="80000"/>
                </a:schemeClr>
              </a:solidFill>
            </a:endParaRPr>
          </a:p>
          <a:p>
            <a:pPr lvl="1"/>
            <a:r>
              <a:rPr lang="zh-CN" altLang="en-US" dirty="0" smtClean="0">
                <a:solidFill>
                  <a:schemeClr val="bg1">
                    <a:lumMod val="20000"/>
                    <a:lumOff val="80000"/>
                  </a:schemeClr>
                </a:solidFill>
              </a:rPr>
              <a:t>管理</a:t>
            </a:r>
            <a:r>
              <a:rPr lang="en-US" altLang="zh-CN" dirty="0" err="1" smtClean="0">
                <a:solidFill>
                  <a:schemeClr val="bg1">
                    <a:lumMod val="20000"/>
                    <a:lumOff val="80000"/>
                  </a:schemeClr>
                </a:solidFill>
              </a:rPr>
              <a:t>SelectionEnvironment</a:t>
            </a:r>
            <a:r>
              <a:rPr lang="zh-CN" altLang="en-US" dirty="0" smtClean="0">
                <a:solidFill>
                  <a:schemeClr val="bg1">
                    <a:lumMod val="20000"/>
                    <a:lumOff val="80000"/>
                  </a:schemeClr>
                </a:solidFill>
              </a:rPr>
              <a:t>，</a:t>
            </a:r>
            <a:r>
              <a:rPr lang="en-US" altLang="zh-CN" dirty="0" smtClean="0">
                <a:solidFill>
                  <a:schemeClr val="bg1">
                    <a:lumMod val="20000"/>
                    <a:lumOff val="80000"/>
                  </a:schemeClr>
                </a:solidFill>
              </a:rPr>
              <a:t>Display</a:t>
            </a:r>
            <a:r>
              <a:rPr lang="zh-CN" altLang="en-US" dirty="0" smtClean="0">
                <a:solidFill>
                  <a:schemeClr val="bg1">
                    <a:lumMod val="20000"/>
                    <a:lumOff val="80000"/>
                  </a:schemeClr>
                </a:solidFill>
              </a:rPr>
              <a:t>，</a:t>
            </a:r>
            <a:r>
              <a:rPr lang="en-US" altLang="zh-CN" dirty="0" smtClean="0">
                <a:solidFill>
                  <a:schemeClr val="bg1">
                    <a:lumMod val="20000"/>
                    <a:lumOff val="80000"/>
                  </a:schemeClr>
                </a:solidFill>
              </a:rPr>
              <a:t>Paper</a:t>
            </a:r>
            <a:r>
              <a:rPr lang="zh-CN" altLang="en-US" dirty="0" smtClean="0">
                <a:solidFill>
                  <a:schemeClr val="bg1">
                    <a:lumMod val="20000"/>
                    <a:lumOff val="80000"/>
                  </a:schemeClr>
                </a:solidFill>
              </a:rPr>
              <a:t>，</a:t>
            </a:r>
            <a:r>
              <a:rPr lang="en-US" altLang="zh-CN" dirty="0" smtClean="0">
                <a:solidFill>
                  <a:schemeClr val="bg1">
                    <a:lumMod val="20000"/>
                    <a:lumOff val="80000"/>
                  </a:schemeClr>
                </a:solidFill>
              </a:rPr>
              <a:t>Print</a:t>
            </a:r>
            <a:r>
              <a:rPr lang="zh-CN" altLang="en-US" dirty="0" smtClean="0">
                <a:solidFill>
                  <a:schemeClr val="bg1">
                    <a:lumMod val="20000"/>
                    <a:lumOff val="80000"/>
                  </a:schemeClr>
                </a:solidFill>
              </a:rPr>
              <a:t>等对象，与地图的显示，打印输出有关</a:t>
            </a:r>
            <a:endParaRPr lang="en-US" altLang="zh-CN" dirty="0" smtClean="0">
              <a:solidFill>
                <a:schemeClr val="bg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37</a:t>
            </a:fld>
            <a:endParaRPr lang="en-US" altLang="zh-CN"/>
          </a:p>
        </p:txBody>
      </p:sp>
      <p:sp>
        <p:nvSpPr>
          <p:cNvPr id="5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8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图片 8" descr="IMxApplicat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2819400"/>
            <a:ext cx="7067550" cy="2667000"/>
          </a:xfrm>
          <a:prstGeom prst="rect">
            <a:avLst/>
          </a:prstGeom>
        </p:spPr>
      </p:pic>
      <p:sp>
        <p:nvSpPr>
          <p:cNvPr id="10" name="太阳形 9"/>
          <p:cNvSpPr/>
          <p:nvPr/>
        </p:nvSpPr>
        <p:spPr bwMode="auto">
          <a:xfrm>
            <a:off x="8229600" y="1219200"/>
            <a:ext cx="533400" cy="533400"/>
          </a:xfrm>
          <a:prstGeom prst="sun">
            <a:avLst/>
          </a:prstGeom>
          <a:solidFill>
            <a:srgbClr val="FFFF00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ArcMap</a:t>
            </a:r>
            <a:r>
              <a:rPr lang="zh-CN" altLang="en-US" dirty="0" smtClean="0"/>
              <a:t>界面定制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>
                <a:solidFill>
                  <a:schemeClr val="bg1">
                    <a:lumMod val="20000"/>
                    <a:lumOff val="80000"/>
                  </a:schemeClr>
                </a:solidFill>
              </a:rPr>
              <a:t>IWindowPosition</a:t>
            </a:r>
            <a:endParaRPr lang="en-US" altLang="zh-CN" dirty="0" smtClean="0">
              <a:solidFill>
                <a:schemeClr val="bg1">
                  <a:lumMod val="20000"/>
                  <a:lumOff val="80000"/>
                </a:schemeClr>
              </a:solidFill>
            </a:endParaRPr>
          </a:p>
          <a:p>
            <a:pPr lvl="1"/>
            <a:r>
              <a:rPr lang="zh-CN" altLang="en-US" dirty="0" smtClean="0">
                <a:solidFill>
                  <a:schemeClr val="bg1">
                    <a:lumMod val="20000"/>
                    <a:lumOff val="80000"/>
                  </a:schemeClr>
                </a:solidFill>
              </a:rPr>
              <a:t>任何可视化窗体的类都实现了</a:t>
            </a:r>
            <a:r>
              <a:rPr lang="en-US" altLang="zh-CN" dirty="0" err="1" smtClean="0">
                <a:solidFill>
                  <a:schemeClr val="bg1">
                    <a:lumMod val="20000"/>
                    <a:lumOff val="80000"/>
                  </a:schemeClr>
                </a:solidFill>
              </a:rPr>
              <a:t>IWindowPostion</a:t>
            </a:r>
            <a:r>
              <a:rPr lang="zh-CN" altLang="en-US" dirty="0" smtClean="0">
                <a:solidFill>
                  <a:schemeClr val="bg1">
                    <a:lumMod val="20000"/>
                    <a:lumOff val="80000"/>
                  </a:schemeClr>
                </a:solidFill>
              </a:rPr>
              <a:t>接口，如</a:t>
            </a:r>
            <a:r>
              <a:rPr lang="en-US" altLang="zh-CN" dirty="0" err="1" smtClean="0">
                <a:solidFill>
                  <a:schemeClr val="bg1">
                    <a:lumMod val="20000"/>
                    <a:lumOff val="80000"/>
                  </a:schemeClr>
                </a:solidFill>
              </a:rPr>
              <a:t>DockableWindow</a:t>
            </a:r>
            <a:r>
              <a:rPr lang="zh-CN" altLang="en-US" dirty="0" smtClean="0">
                <a:solidFill>
                  <a:schemeClr val="bg1">
                    <a:lumMod val="20000"/>
                    <a:lumOff val="80000"/>
                  </a:schemeClr>
                </a:solidFill>
              </a:rPr>
              <a:t>，</a:t>
            </a:r>
            <a:r>
              <a:rPr lang="en-US" altLang="zh-CN" dirty="0" err="1" smtClean="0">
                <a:solidFill>
                  <a:schemeClr val="bg1">
                    <a:lumMod val="20000"/>
                    <a:lumOff val="80000"/>
                  </a:schemeClr>
                </a:solidFill>
              </a:rPr>
              <a:t>CommandBar</a:t>
            </a:r>
            <a:r>
              <a:rPr lang="zh-CN" altLang="en-US" dirty="0" smtClean="0">
                <a:solidFill>
                  <a:schemeClr val="bg1">
                    <a:lumMod val="20000"/>
                    <a:lumOff val="80000"/>
                  </a:schemeClr>
                </a:solidFill>
              </a:rPr>
              <a:t>。</a:t>
            </a:r>
            <a:endParaRPr lang="en-US" altLang="zh-CN" dirty="0" smtClean="0">
              <a:solidFill>
                <a:schemeClr val="bg1">
                  <a:lumMod val="20000"/>
                  <a:lumOff val="80000"/>
                </a:schemeClr>
              </a:solidFill>
            </a:endParaRPr>
          </a:p>
          <a:p>
            <a:pPr lvl="1"/>
            <a:r>
              <a:rPr lang="zh-CN" altLang="en-US" dirty="0" smtClean="0">
                <a:solidFill>
                  <a:schemeClr val="bg1">
                    <a:lumMod val="20000"/>
                    <a:lumOff val="80000"/>
                  </a:schemeClr>
                </a:solidFill>
              </a:rPr>
              <a:t>定义了</a:t>
            </a:r>
            <a:r>
              <a:rPr lang="en-US" altLang="zh-CN" dirty="0" smtClean="0">
                <a:solidFill>
                  <a:schemeClr val="bg1">
                    <a:lumMod val="20000"/>
                    <a:lumOff val="80000"/>
                  </a:schemeClr>
                </a:solidFill>
              </a:rPr>
              <a:t>Application</a:t>
            </a:r>
            <a:r>
              <a:rPr lang="zh-CN" altLang="en-US" dirty="0" smtClean="0">
                <a:solidFill>
                  <a:schemeClr val="bg1">
                    <a:lumMod val="20000"/>
                    <a:lumOff val="80000"/>
                  </a:schemeClr>
                </a:solidFill>
              </a:rPr>
              <a:t>的尺寸和位置</a:t>
            </a:r>
            <a:endParaRPr lang="en-US" altLang="zh-CN" dirty="0" smtClean="0">
              <a:solidFill>
                <a:schemeClr val="bg1">
                  <a:lumMod val="20000"/>
                  <a:lumOff val="80000"/>
                </a:schemeClr>
              </a:solidFill>
            </a:endParaRPr>
          </a:p>
          <a:p>
            <a:pPr lvl="1">
              <a:buNone/>
            </a:pPr>
            <a:r>
              <a:rPr lang="en-US" altLang="zh-CN" dirty="0" smtClean="0">
                <a:solidFill>
                  <a:schemeClr val="bg1">
                    <a:lumMod val="20000"/>
                    <a:lumOff val="80000"/>
                  </a:schemeClr>
                </a:solidFill>
              </a:rPr>
              <a:t>    </a:t>
            </a:r>
          </a:p>
          <a:p>
            <a:pPr lvl="1">
              <a:buNone/>
            </a:pPr>
            <a:endParaRPr lang="en-US" altLang="zh-CN" dirty="0" smtClean="0">
              <a:solidFill>
                <a:schemeClr val="bg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38</a:t>
            </a:fld>
            <a:endParaRPr lang="en-US" altLang="zh-CN"/>
          </a:p>
        </p:txBody>
      </p:sp>
      <p:sp>
        <p:nvSpPr>
          <p:cNvPr id="5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7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425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4699" y="3352800"/>
            <a:ext cx="8739301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太阳形 7"/>
          <p:cNvSpPr/>
          <p:nvPr/>
        </p:nvSpPr>
        <p:spPr bwMode="auto">
          <a:xfrm>
            <a:off x="8229600" y="1219200"/>
            <a:ext cx="533400" cy="533400"/>
          </a:xfrm>
          <a:prstGeom prst="sun">
            <a:avLst/>
          </a:prstGeom>
          <a:solidFill>
            <a:srgbClr val="FFFF00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ArcMap</a:t>
            </a:r>
            <a:r>
              <a:rPr lang="zh-CN" altLang="en-US" dirty="0" smtClean="0"/>
              <a:t>界面定制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3400" y="1295400"/>
            <a:ext cx="8305800" cy="4724400"/>
          </a:xfrm>
        </p:spPr>
        <p:txBody>
          <a:bodyPr/>
          <a:lstStyle/>
          <a:p>
            <a:r>
              <a:rPr lang="en-US" altLang="zh-CN" dirty="0" smtClean="0"/>
              <a:t>Document</a:t>
            </a:r>
            <a:r>
              <a:rPr lang="zh-CN" altLang="en-US" dirty="0" smtClean="0"/>
              <a:t>对象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文档文件</a:t>
            </a:r>
            <a:endParaRPr lang="en-US" altLang="zh-CN" dirty="0" smtClean="0"/>
          </a:p>
          <a:p>
            <a:pPr lvl="2"/>
            <a:r>
              <a:rPr lang="en-US" altLang="zh-CN" dirty="0" err="1" smtClean="0"/>
              <a:t>MxDocument</a:t>
            </a:r>
            <a:r>
              <a:rPr lang="en-US" altLang="zh-CN" dirty="0" smtClean="0"/>
              <a:t>: </a:t>
            </a:r>
            <a:r>
              <a:rPr lang="en-US" altLang="zh-CN" dirty="0" err="1" smtClean="0"/>
              <a:t>ArcMap</a:t>
            </a:r>
            <a:r>
              <a:rPr lang="en-US" altLang="zh-CN" dirty="0" smtClean="0"/>
              <a:t>: *.mxd</a:t>
            </a:r>
          </a:p>
          <a:p>
            <a:pPr lvl="2"/>
            <a:r>
              <a:rPr lang="en-US" altLang="zh-CN" dirty="0" err="1" smtClean="0"/>
              <a:t>GxDocument</a:t>
            </a:r>
            <a:r>
              <a:rPr lang="en-US" altLang="zh-CN" dirty="0" smtClean="0"/>
              <a:t>: </a:t>
            </a:r>
            <a:r>
              <a:rPr lang="en-US" altLang="zh-CN" dirty="0" err="1" smtClean="0"/>
              <a:t>ArcCatalog</a:t>
            </a:r>
            <a:endParaRPr lang="en-US" altLang="zh-CN" dirty="0" smtClean="0"/>
          </a:p>
          <a:p>
            <a:pPr lvl="2"/>
            <a:r>
              <a:rPr lang="en-US" altLang="zh-CN" dirty="0" err="1" smtClean="0"/>
              <a:t>SxDocument</a:t>
            </a:r>
            <a:r>
              <a:rPr lang="en-US" altLang="zh-CN" dirty="0" smtClean="0"/>
              <a:t>: </a:t>
            </a:r>
            <a:r>
              <a:rPr lang="en-US" altLang="zh-CN" dirty="0" err="1" smtClean="0"/>
              <a:t>ArcScene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一次只能有一个文档文件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保存了一些重要对象：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Map</a:t>
            </a:r>
            <a:r>
              <a:rPr lang="zh-CN" altLang="en-US" dirty="0" smtClean="0"/>
              <a:t>，</a:t>
            </a:r>
            <a:r>
              <a:rPr lang="en-US" altLang="zh-CN" dirty="0" err="1" smtClean="0"/>
              <a:t>PageLayout</a:t>
            </a:r>
            <a:r>
              <a:rPr lang="zh-CN" altLang="en-US" dirty="0" smtClean="0"/>
              <a:t>，</a:t>
            </a:r>
            <a:r>
              <a:rPr lang="en-US" altLang="zh-CN" dirty="0" err="1" smtClean="0"/>
              <a:t>TOCView</a:t>
            </a:r>
            <a:r>
              <a:rPr lang="zh-CN" altLang="en-US" dirty="0" smtClean="0"/>
              <a:t>，</a:t>
            </a:r>
            <a:r>
              <a:rPr lang="en-US" altLang="zh-CN" dirty="0" err="1" smtClean="0"/>
              <a:t>StyleGallery</a:t>
            </a:r>
            <a:r>
              <a:rPr lang="zh-CN" altLang="en-US" dirty="0" smtClean="0"/>
              <a:t>，</a:t>
            </a:r>
            <a:r>
              <a:rPr lang="en-US" altLang="zh-CN" dirty="0" err="1" smtClean="0"/>
              <a:t>DataGraphis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通过</a:t>
            </a:r>
            <a:r>
              <a:rPr lang="en-US" altLang="zh-CN" dirty="0" err="1" smtClean="0"/>
              <a:t>IApplication</a:t>
            </a:r>
            <a:r>
              <a:rPr lang="en-US" altLang="zh-CN" dirty="0" smtClean="0"/>
              <a:t>::Document</a:t>
            </a:r>
            <a:r>
              <a:rPr lang="zh-CN" altLang="en-US" dirty="0" smtClean="0"/>
              <a:t>获取，在</a:t>
            </a:r>
            <a:r>
              <a:rPr lang="en-US" altLang="zh-CN" dirty="0" smtClean="0"/>
              <a:t>VBA</a:t>
            </a:r>
            <a:r>
              <a:rPr lang="zh-CN" altLang="en-US" dirty="0" smtClean="0"/>
              <a:t>中可直接用</a:t>
            </a:r>
            <a:r>
              <a:rPr lang="en-US" altLang="zh-CN" dirty="0" err="1" smtClean="0"/>
              <a:t>ThisDocument</a:t>
            </a:r>
            <a:r>
              <a:rPr lang="en-US" altLang="zh-CN" dirty="0" smtClean="0"/>
              <a:t>(</a:t>
            </a:r>
            <a:r>
              <a:rPr lang="zh-CN" altLang="en-US" dirty="0" smtClean="0"/>
              <a:t>全局变量</a:t>
            </a:r>
            <a:r>
              <a:rPr lang="en-US" altLang="zh-CN" dirty="0" smtClean="0"/>
              <a:t>)</a:t>
            </a:r>
          </a:p>
          <a:p>
            <a:pPr lvl="1"/>
            <a:r>
              <a:rPr lang="zh-CN" altLang="en-US" dirty="0" smtClean="0"/>
              <a:t>文档对象保存了</a:t>
            </a:r>
            <a:r>
              <a:rPr lang="en-US" altLang="zh-CN" dirty="0" err="1" smtClean="0"/>
              <a:t>ArcGIS</a:t>
            </a:r>
            <a:r>
              <a:rPr lang="zh-CN" altLang="en-US" dirty="0" smtClean="0"/>
              <a:t>某次操作的状态</a:t>
            </a:r>
            <a:endParaRPr lang="en-US" altLang="zh-CN" dirty="0" smtClean="0"/>
          </a:p>
          <a:p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39</a:t>
            </a:fld>
            <a:endParaRPr lang="en-US" altLang="zh-CN"/>
          </a:p>
        </p:txBody>
      </p:sp>
      <p:sp>
        <p:nvSpPr>
          <p:cNvPr id="5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8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太阳形 9"/>
          <p:cNvSpPr/>
          <p:nvPr/>
        </p:nvSpPr>
        <p:spPr bwMode="auto">
          <a:xfrm>
            <a:off x="8229600" y="5410200"/>
            <a:ext cx="533400" cy="533400"/>
          </a:xfrm>
          <a:prstGeom prst="sun">
            <a:avLst/>
          </a:prstGeom>
          <a:solidFill>
            <a:srgbClr val="FFFF00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ArcMap</a:t>
            </a:r>
            <a:r>
              <a:rPr lang="zh-CN" altLang="en-US" dirty="0" smtClean="0"/>
              <a:t>界面定制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3400" y="1295400"/>
            <a:ext cx="8305800" cy="4724400"/>
          </a:xfrm>
        </p:spPr>
        <p:txBody>
          <a:bodyPr/>
          <a:lstStyle/>
          <a:p>
            <a:r>
              <a:rPr lang="en-US" altLang="zh-CN" dirty="0" smtClean="0"/>
              <a:t>Normal.mxt</a:t>
            </a:r>
          </a:p>
          <a:p>
            <a:pPr lvl="1"/>
            <a:r>
              <a:rPr lang="en-US" altLang="zh-CN" dirty="0" smtClean="0"/>
              <a:t>Normal.mxt</a:t>
            </a:r>
            <a:r>
              <a:rPr lang="zh-CN" altLang="en-US" dirty="0" smtClean="0"/>
              <a:t>是生成其他模板文件和文档文件的基础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影响其他模板和文档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删除后</a:t>
            </a:r>
            <a:r>
              <a:rPr lang="en-US" altLang="zh-CN" dirty="0" err="1" smtClean="0"/>
              <a:t>ArcMap</a:t>
            </a:r>
            <a:r>
              <a:rPr lang="zh-CN" altLang="en-US" dirty="0" smtClean="0"/>
              <a:t>会自动重建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保存默认的命令</a:t>
            </a:r>
            <a:r>
              <a:rPr lang="en-US" altLang="zh-CN" dirty="0" smtClean="0"/>
              <a:t>,</a:t>
            </a:r>
            <a:r>
              <a:rPr lang="zh-CN" altLang="en-US" dirty="0" smtClean="0"/>
              <a:t>工具条</a:t>
            </a:r>
            <a:r>
              <a:rPr lang="en-US" altLang="zh-CN" dirty="0" smtClean="0"/>
              <a:t>,</a:t>
            </a:r>
            <a:r>
              <a:rPr lang="zh-CN" altLang="en-US" dirty="0" smtClean="0"/>
              <a:t>菜单栏和</a:t>
            </a:r>
            <a:r>
              <a:rPr lang="en-US" altLang="zh-CN" dirty="0" smtClean="0"/>
              <a:t>TOC</a:t>
            </a:r>
            <a:r>
              <a:rPr lang="zh-CN" altLang="en-US" dirty="0" smtClean="0"/>
              <a:t>等位置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工程模板是</a:t>
            </a:r>
            <a:r>
              <a:rPr lang="en-US" altLang="zh-CN" dirty="0" smtClean="0"/>
              <a:t>Normal.mxt</a:t>
            </a:r>
            <a:r>
              <a:rPr lang="zh-CN" altLang="en-US" dirty="0" smtClean="0"/>
              <a:t>派生出来的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预定义模板（</a:t>
            </a:r>
            <a:r>
              <a:rPr lang="en-US" altLang="zh-CN" dirty="0" smtClean="0"/>
              <a:t>bin\templates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工程模板便于传播定制代码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40</a:t>
            </a:fld>
            <a:endParaRPr lang="en-US" altLang="zh-CN"/>
          </a:p>
        </p:txBody>
      </p:sp>
      <p:sp>
        <p:nvSpPr>
          <p:cNvPr id="5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8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太阳形 9"/>
          <p:cNvSpPr/>
          <p:nvPr/>
        </p:nvSpPr>
        <p:spPr bwMode="auto">
          <a:xfrm>
            <a:off x="8077200" y="2743200"/>
            <a:ext cx="533400" cy="533400"/>
          </a:xfrm>
          <a:prstGeom prst="sun">
            <a:avLst/>
          </a:prstGeom>
          <a:solidFill>
            <a:srgbClr val="FFFF00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135170" name="Picture 2"/>
          <p:cNvPicPr>
            <a:picLocks noChangeAspect="1" noChangeArrowheads="1"/>
          </p:cNvPicPr>
          <p:nvPr/>
        </p:nvPicPr>
        <p:blipFill>
          <a:blip r:embed="rId3"/>
          <a:srcRect r="64561" b="54515"/>
          <a:stretch>
            <a:fillRect/>
          </a:stretch>
        </p:blipFill>
        <p:spPr bwMode="auto">
          <a:xfrm>
            <a:off x="6019800" y="3742509"/>
            <a:ext cx="2971800" cy="28868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ArcMap</a:t>
            </a:r>
            <a:r>
              <a:rPr lang="zh-CN" altLang="en-US" dirty="0" smtClean="0"/>
              <a:t>界面定制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>
                <a:solidFill>
                  <a:schemeClr val="bg1">
                    <a:lumMod val="20000"/>
                    <a:lumOff val="80000"/>
                  </a:schemeClr>
                </a:solidFill>
              </a:rPr>
              <a:t>IMxDocument</a:t>
            </a:r>
            <a:endParaRPr lang="en-US" altLang="zh-CN" dirty="0" smtClean="0">
              <a:solidFill>
                <a:schemeClr val="bg1">
                  <a:lumMod val="20000"/>
                  <a:lumOff val="80000"/>
                </a:schemeClr>
              </a:solidFill>
            </a:endParaRPr>
          </a:p>
          <a:p>
            <a:pPr lvl="1"/>
            <a:r>
              <a:rPr lang="zh-CN" altLang="en-US" dirty="0" smtClean="0">
                <a:solidFill>
                  <a:schemeClr val="bg1">
                    <a:lumMod val="20000"/>
                    <a:lumOff val="80000"/>
                  </a:schemeClr>
                </a:solidFill>
              </a:rPr>
              <a:t>文档对象的默认接口</a:t>
            </a:r>
            <a:endParaRPr lang="en-US" altLang="zh-CN" dirty="0" smtClean="0">
              <a:solidFill>
                <a:schemeClr val="bg1">
                  <a:lumMod val="20000"/>
                  <a:lumOff val="80000"/>
                </a:schemeClr>
              </a:solidFill>
            </a:endParaRPr>
          </a:p>
          <a:p>
            <a:pPr lvl="1"/>
            <a:r>
              <a:rPr lang="zh-CN" altLang="en-US" dirty="0" smtClean="0">
                <a:solidFill>
                  <a:schemeClr val="bg1">
                    <a:lumMod val="20000"/>
                    <a:lumOff val="80000"/>
                  </a:schemeClr>
                </a:solidFill>
              </a:rPr>
              <a:t>设置文档缺省属性，如颜色，字体</a:t>
            </a:r>
            <a:endParaRPr lang="en-US" altLang="zh-CN" dirty="0" smtClean="0">
              <a:solidFill>
                <a:schemeClr val="bg1">
                  <a:lumMod val="20000"/>
                  <a:lumOff val="80000"/>
                </a:schemeClr>
              </a:solidFill>
            </a:endParaRPr>
          </a:p>
          <a:p>
            <a:pPr lvl="1"/>
            <a:r>
              <a:rPr lang="zh-CN" altLang="en-US" dirty="0" smtClean="0">
                <a:solidFill>
                  <a:schemeClr val="bg1">
                    <a:lumMod val="20000"/>
                    <a:lumOff val="80000"/>
                  </a:schemeClr>
                </a:solidFill>
              </a:rPr>
              <a:t>具有地理数据显示和地理数据容器两个身份</a:t>
            </a:r>
            <a:endParaRPr lang="en-US" altLang="zh-CN" dirty="0" smtClean="0">
              <a:solidFill>
                <a:schemeClr val="bg1">
                  <a:lumMod val="20000"/>
                  <a:lumOff val="80000"/>
                </a:schemeClr>
              </a:solidFill>
            </a:endParaRPr>
          </a:p>
          <a:p>
            <a:pPr lvl="2"/>
            <a:r>
              <a:rPr lang="en-US" altLang="zh-CN" dirty="0" smtClean="0">
                <a:solidFill>
                  <a:schemeClr val="bg1">
                    <a:lumMod val="20000"/>
                    <a:lumOff val="80000"/>
                  </a:schemeClr>
                </a:solidFill>
              </a:rPr>
              <a:t>::</a:t>
            </a:r>
            <a:r>
              <a:rPr lang="en-US" altLang="zh-CN" dirty="0" err="1" smtClean="0">
                <a:solidFill>
                  <a:schemeClr val="bg1">
                    <a:lumMod val="20000"/>
                    <a:lumOff val="80000"/>
                  </a:schemeClr>
                </a:solidFill>
              </a:rPr>
              <a:t>ActiveView</a:t>
            </a:r>
            <a:r>
              <a:rPr lang="zh-CN" altLang="en-US" dirty="0" smtClean="0">
                <a:solidFill>
                  <a:schemeClr val="bg1">
                    <a:lumMod val="20000"/>
                    <a:lumOff val="80000"/>
                  </a:schemeClr>
                </a:solidFill>
              </a:rPr>
              <a:t>获得</a:t>
            </a:r>
            <a:r>
              <a:rPr lang="en-US" altLang="zh-CN" dirty="0" smtClean="0">
                <a:solidFill>
                  <a:schemeClr val="bg1">
                    <a:lumMod val="20000"/>
                    <a:lumOff val="80000"/>
                  </a:schemeClr>
                </a:solidFill>
              </a:rPr>
              <a:t>Map</a:t>
            </a:r>
            <a:r>
              <a:rPr lang="zh-CN" altLang="en-US" dirty="0" smtClean="0">
                <a:solidFill>
                  <a:schemeClr val="bg1">
                    <a:lumMod val="20000"/>
                    <a:lumOff val="80000"/>
                  </a:schemeClr>
                </a:solidFill>
              </a:rPr>
              <a:t>的数据显示</a:t>
            </a:r>
            <a:endParaRPr lang="en-US" altLang="zh-CN" dirty="0" smtClean="0">
              <a:solidFill>
                <a:schemeClr val="bg1">
                  <a:lumMod val="20000"/>
                  <a:lumOff val="80000"/>
                </a:schemeClr>
              </a:solidFill>
            </a:endParaRPr>
          </a:p>
          <a:p>
            <a:pPr lvl="2"/>
            <a:r>
              <a:rPr lang="en-US" altLang="zh-CN" dirty="0" smtClean="0">
                <a:solidFill>
                  <a:schemeClr val="bg1">
                    <a:lumMod val="20000"/>
                    <a:lumOff val="80000"/>
                  </a:schemeClr>
                </a:solidFill>
              </a:rPr>
              <a:t>::</a:t>
            </a:r>
            <a:r>
              <a:rPr lang="en-US" altLang="zh-CN" dirty="0" err="1" smtClean="0">
                <a:solidFill>
                  <a:schemeClr val="bg1">
                    <a:lumMod val="20000"/>
                    <a:lumOff val="80000"/>
                  </a:schemeClr>
                </a:solidFill>
              </a:rPr>
              <a:t>FocusMap</a:t>
            </a:r>
            <a:r>
              <a:rPr lang="zh-CN" altLang="en-US" dirty="0" smtClean="0">
                <a:solidFill>
                  <a:schemeClr val="bg1">
                    <a:lumMod val="20000"/>
                    <a:lumOff val="80000"/>
                  </a:schemeClr>
                </a:solidFill>
              </a:rPr>
              <a:t>属性获得正在使用的</a:t>
            </a:r>
            <a:r>
              <a:rPr lang="en-US" altLang="zh-CN" dirty="0" smtClean="0">
                <a:solidFill>
                  <a:schemeClr val="bg1">
                    <a:lumMod val="20000"/>
                    <a:lumOff val="80000"/>
                  </a:schemeClr>
                </a:solidFill>
              </a:rPr>
              <a:t>Map</a:t>
            </a:r>
            <a:r>
              <a:rPr lang="zh-CN" altLang="en-US" dirty="0" smtClean="0">
                <a:solidFill>
                  <a:schemeClr val="bg1">
                    <a:lumMod val="20000"/>
                    <a:lumOff val="80000"/>
                  </a:schemeClr>
                </a:solidFill>
              </a:rPr>
              <a:t>对象的数据容器</a:t>
            </a:r>
            <a:endParaRPr lang="en-US" altLang="zh-CN" dirty="0" smtClean="0">
              <a:solidFill>
                <a:schemeClr val="bg1">
                  <a:lumMod val="20000"/>
                  <a:lumOff val="80000"/>
                </a:schemeClr>
              </a:solidFill>
            </a:endParaRPr>
          </a:p>
          <a:p>
            <a:pPr lvl="1"/>
            <a:r>
              <a:rPr lang="zh-CN" altLang="en-US" dirty="0" smtClean="0">
                <a:solidFill>
                  <a:schemeClr val="bg1">
                    <a:lumMod val="20000"/>
                    <a:lumOff val="80000"/>
                  </a:schemeClr>
                </a:solidFill>
              </a:rPr>
              <a:t>一个文档拥有多个</a:t>
            </a:r>
            <a:r>
              <a:rPr lang="en-US" altLang="zh-CN" dirty="0" smtClean="0">
                <a:solidFill>
                  <a:schemeClr val="bg1">
                    <a:lumMod val="20000"/>
                    <a:lumOff val="80000"/>
                  </a:schemeClr>
                </a:solidFill>
              </a:rPr>
              <a:t>Map</a:t>
            </a:r>
            <a:r>
              <a:rPr lang="zh-CN" altLang="en-US" dirty="0" smtClean="0">
                <a:solidFill>
                  <a:schemeClr val="bg1">
                    <a:lumMod val="20000"/>
                    <a:lumOff val="80000"/>
                  </a:schemeClr>
                </a:solidFill>
              </a:rPr>
              <a:t>对象，但只有一种使用状态</a:t>
            </a:r>
            <a:endParaRPr lang="en-US" altLang="zh-CN" dirty="0" smtClean="0">
              <a:solidFill>
                <a:schemeClr val="bg1">
                  <a:lumMod val="20000"/>
                  <a:lumOff val="80000"/>
                </a:schemeClr>
              </a:solidFill>
            </a:endParaRPr>
          </a:p>
          <a:p>
            <a:endParaRPr lang="en-US" altLang="zh-CN" dirty="0" smtClean="0">
              <a:solidFill>
                <a:schemeClr val="bg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41</a:t>
            </a:fld>
            <a:endParaRPr lang="en-US" altLang="zh-CN"/>
          </a:p>
        </p:txBody>
      </p:sp>
      <p:sp>
        <p:nvSpPr>
          <p:cNvPr id="5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7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矩形 7"/>
          <p:cNvSpPr/>
          <p:nvPr/>
        </p:nvSpPr>
        <p:spPr>
          <a:xfrm>
            <a:off x="762000" y="4495800"/>
            <a:ext cx="73152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err="1" smtClean="0"/>
              <a:t>IMxDocument</a:t>
            </a:r>
            <a:r>
              <a:rPr lang="en-US" altLang="zh-CN" sz="2400" dirty="0" smtClean="0"/>
              <a:t> </a:t>
            </a:r>
            <a:r>
              <a:rPr lang="en-US" altLang="zh-CN" sz="2400" i="1" dirty="0" smtClean="0"/>
              <a:t>is a starting point for accessing</a:t>
            </a:r>
          </a:p>
          <a:p>
            <a:r>
              <a:rPr lang="en-US" altLang="zh-CN" sz="2400" i="1" dirty="0" smtClean="0"/>
              <a:t>most of the other </a:t>
            </a:r>
            <a:r>
              <a:rPr lang="en-US" altLang="zh-CN" sz="2400" i="1" dirty="0" err="1" smtClean="0"/>
              <a:t>ArcMap</a:t>
            </a:r>
            <a:r>
              <a:rPr lang="en-US" altLang="zh-CN" sz="2400" i="1" dirty="0" smtClean="0"/>
              <a:t> objects including the views, the collection of maps, the page layout, the style gallery, and the table properties.</a:t>
            </a:r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ArcMap</a:t>
            </a:r>
            <a:r>
              <a:rPr lang="zh-CN" altLang="en-US" dirty="0" smtClean="0"/>
              <a:t>界面定制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>
                <a:solidFill>
                  <a:schemeClr val="bg1">
                    <a:lumMod val="20000"/>
                    <a:lumOff val="80000"/>
                  </a:schemeClr>
                </a:solidFill>
              </a:rPr>
              <a:t>IMxDocument</a:t>
            </a:r>
            <a:endParaRPr lang="en-US" altLang="zh-CN" dirty="0" smtClean="0">
              <a:solidFill>
                <a:schemeClr val="bg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42</a:t>
            </a:fld>
            <a:endParaRPr lang="en-US" altLang="zh-CN"/>
          </a:p>
        </p:txBody>
      </p:sp>
      <p:sp>
        <p:nvSpPr>
          <p:cNvPr id="5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7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1377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9600" y="2209800"/>
            <a:ext cx="4905375" cy="3648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1378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943600" y="2209800"/>
            <a:ext cx="2266950" cy="157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太阳形 8"/>
          <p:cNvSpPr/>
          <p:nvPr/>
        </p:nvSpPr>
        <p:spPr bwMode="auto">
          <a:xfrm>
            <a:off x="8229600" y="1219200"/>
            <a:ext cx="533400" cy="533400"/>
          </a:xfrm>
          <a:prstGeom prst="sun">
            <a:avLst/>
          </a:prstGeom>
          <a:solidFill>
            <a:srgbClr val="FFFF00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ArcMap</a:t>
            </a:r>
            <a:r>
              <a:rPr lang="zh-CN" altLang="en-US" dirty="0" smtClean="0"/>
              <a:t>界面定制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>
                <a:solidFill>
                  <a:schemeClr val="bg1">
                    <a:lumMod val="20000"/>
                    <a:lumOff val="80000"/>
                  </a:schemeClr>
                </a:solidFill>
              </a:rPr>
              <a:t>IDocumentDefaultSymbols</a:t>
            </a:r>
            <a:endParaRPr lang="en-US" altLang="zh-CN" dirty="0" smtClean="0">
              <a:solidFill>
                <a:schemeClr val="bg1">
                  <a:lumMod val="20000"/>
                  <a:lumOff val="80000"/>
                </a:schemeClr>
              </a:solidFill>
            </a:endParaRPr>
          </a:p>
          <a:p>
            <a:pPr lvl="1"/>
            <a:r>
              <a:rPr lang="zh-CN" altLang="en-US" dirty="0" smtClean="0">
                <a:solidFill>
                  <a:schemeClr val="bg1">
                    <a:lumMod val="20000"/>
                    <a:lumOff val="80000"/>
                  </a:schemeClr>
                </a:solidFill>
              </a:rPr>
              <a:t>文档缺省符号设置接口，设置缺省颜色符号</a:t>
            </a:r>
            <a:endParaRPr lang="en-US" altLang="zh-CN" dirty="0" smtClean="0">
              <a:solidFill>
                <a:schemeClr val="bg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43</a:t>
            </a:fld>
            <a:endParaRPr lang="en-US" altLang="zh-CN"/>
          </a:p>
        </p:txBody>
      </p:sp>
      <p:sp>
        <p:nvSpPr>
          <p:cNvPr id="5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7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035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95600" y="2438400"/>
            <a:ext cx="2324100" cy="332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太阳形 8"/>
          <p:cNvSpPr/>
          <p:nvPr/>
        </p:nvSpPr>
        <p:spPr bwMode="auto">
          <a:xfrm>
            <a:off x="8229600" y="1219200"/>
            <a:ext cx="533400" cy="533400"/>
          </a:xfrm>
          <a:prstGeom prst="sun">
            <a:avLst/>
          </a:prstGeom>
          <a:solidFill>
            <a:srgbClr val="FFFF00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ArcMap</a:t>
            </a:r>
            <a:r>
              <a:rPr lang="zh-CN" altLang="en-US" dirty="0" smtClean="0"/>
              <a:t>界面定制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chemeClr val="bg1">
                    <a:lumMod val="20000"/>
                    <a:lumOff val="80000"/>
                  </a:schemeClr>
                </a:solidFill>
                <a:latin typeface="黑体" pitchFamily="2" charset="-122"/>
                <a:ea typeface="黑体" pitchFamily="2" charset="-122"/>
              </a:rPr>
              <a:t>定制</a:t>
            </a:r>
            <a:r>
              <a:rPr lang="en-US" altLang="zh-CN" dirty="0" err="1" smtClean="0">
                <a:solidFill>
                  <a:schemeClr val="bg1">
                    <a:lumMod val="20000"/>
                    <a:lumOff val="80000"/>
                  </a:schemeClr>
                </a:solidFill>
                <a:latin typeface="黑体" pitchFamily="2" charset="-122"/>
                <a:ea typeface="黑体" pitchFamily="2" charset="-122"/>
              </a:rPr>
              <a:t>ArcMap</a:t>
            </a:r>
            <a:r>
              <a:rPr lang="zh-CN" altLang="en-US" dirty="0" smtClean="0">
                <a:solidFill>
                  <a:schemeClr val="bg1">
                    <a:lumMod val="20000"/>
                    <a:lumOff val="80000"/>
                  </a:schemeClr>
                </a:solidFill>
                <a:latin typeface="黑体" pitchFamily="2" charset="-122"/>
                <a:ea typeface="黑体" pitchFamily="2" charset="-122"/>
              </a:rPr>
              <a:t>界面</a:t>
            </a:r>
            <a:endParaRPr lang="en-US" altLang="zh-CN" dirty="0" smtClean="0">
              <a:solidFill>
                <a:schemeClr val="bg1">
                  <a:lumMod val="20000"/>
                  <a:lumOff val="80000"/>
                </a:schemeClr>
              </a:solidFill>
              <a:latin typeface="黑体" pitchFamily="2" charset="-122"/>
              <a:ea typeface="黑体" pitchFamily="2" charset="-122"/>
            </a:endParaRPr>
          </a:p>
          <a:p>
            <a:pPr lvl="1"/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状态栏</a:t>
            </a:r>
            <a:endParaRPr lang="en-US" altLang="zh-CN" dirty="0" smtClean="0">
              <a:latin typeface="黑体" pitchFamily="2" charset="-122"/>
              <a:ea typeface="黑体" pitchFamily="2" charset="-122"/>
            </a:endParaRPr>
          </a:p>
          <a:p>
            <a:pPr lvl="1"/>
            <a:r>
              <a:rPr lang="en-US" altLang="zh-CN" dirty="0" err="1" smtClean="0">
                <a:ea typeface="黑体" pitchFamily="2" charset="-122"/>
              </a:rPr>
              <a:t>DockableWindow</a:t>
            </a:r>
            <a:endParaRPr lang="en-US" altLang="zh-CN" dirty="0" smtClean="0">
              <a:ea typeface="黑体" pitchFamily="2" charset="-122"/>
            </a:endParaRPr>
          </a:p>
          <a:p>
            <a:pPr lvl="1"/>
            <a:r>
              <a:rPr lang="en-US" altLang="zh-CN" dirty="0" err="1" smtClean="0">
                <a:ea typeface="黑体" pitchFamily="2" charset="-122"/>
              </a:rPr>
              <a:t>AcceleratorTable</a:t>
            </a:r>
            <a:endParaRPr lang="en-US" altLang="zh-CN" dirty="0" smtClean="0">
              <a:ea typeface="黑体" pitchFamily="2" charset="-122"/>
            </a:endParaRPr>
          </a:p>
          <a:p>
            <a:pPr lvl="1"/>
            <a:r>
              <a:rPr lang="en-US" altLang="zh-CN" dirty="0" err="1" smtClean="0">
                <a:ea typeface="黑体" pitchFamily="2" charset="-122"/>
              </a:rPr>
              <a:t>CommandBars</a:t>
            </a:r>
            <a:endParaRPr lang="en-US" altLang="zh-CN" dirty="0" smtClean="0">
              <a:ea typeface="黑体" pitchFamily="2" charset="-122"/>
            </a:endParaRPr>
          </a:p>
          <a:p>
            <a:pPr lvl="1"/>
            <a:r>
              <a:rPr lang="en-US" altLang="zh-CN" dirty="0" err="1" smtClean="0">
                <a:ea typeface="黑体" pitchFamily="2" charset="-122"/>
              </a:rPr>
              <a:t>CommandBar</a:t>
            </a:r>
            <a:endParaRPr lang="en-US" altLang="zh-CN" dirty="0" smtClean="0">
              <a:ea typeface="黑体" pitchFamily="2" charset="-122"/>
            </a:endParaRPr>
          </a:p>
          <a:p>
            <a:r>
              <a:rPr lang="zh-CN" altLang="en-US" dirty="0" smtClean="0">
                <a:solidFill>
                  <a:schemeClr val="bg1">
                    <a:lumMod val="20000"/>
                    <a:lumOff val="80000"/>
                  </a:schemeClr>
                </a:solidFill>
                <a:latin typeface="黑体" pitchFamily="2" charset="-122"/>
                <a:ea typeface="黑体" pitchFamily="2" charset="-122"/>
              </a:rPr>
              <a:t>只能通过</a:t>
            </a:r>
            <a:r>
              <a:rPr lang="en-US" altLang="zh-CN" dirty="0" smtClean="0">
                <a:solidFill>
                  <a:schemeClr val="bg1">
                    <a:lumMod val="20000"/>
                    <a:lumOff val="80000"/>
                  </a:schemeClr>
                </a:solidFill>
                <a:latin typeface="黑体" pitchFamily="2" charset="-122"/>
                <a:ea typeface="黑体" pitchFamily="2" charset="-122"/>
              </a:rPr>
              <a:t>VBA</a:t>
            </a:r>
            <a:r>
              <a:rPr lang="zh-CN" altLang="en-US" dirty="0" smtClean="0">
                <a:solidFill>
                  <a:schemeClr val="bg1">
                    <a:lumMod val="20000"/>
                    <a:lumOff val="80000"/>
                  </a:schemeClr>
                </a:solidFill>
                <a:latin typeface="黑体" pitchFamily="2" charset="-122"/>
                <a:ea typeface="黑体" pitchFamily="2" charset="-122"/>
              </a:rPr>
              <a:t>定制或</a:t>
            </a:r>
            <a:r>
              <a:rPr lang="en-US" altLang="zh-CN" dirty="0" smtClean="0">
                <a:solidFill>
                  <a:schemeClr val="bg1">
                    <a:lumMod val="20000"/>
                    <a:lumOff val="80000"/>
                  </a:schemeClr>
                </a:solidFill>
                <a:latin typeface="黑体" pitchFamily="2" charset="-122"/>
                <a:ea typeface="黑体" pitchFamily="2" charset="-122"/>
              </a:rPr>
              <a:t>DLL</a:t>
            </a:r>
            <a:r>
              <a:rPr lang="zh-CN" altLang="en-US" dirty="0" smtClean="0">
                <a:solidFill>
                  <a:schemeClr val="bg1">
                    <a:lumMod val="20000"/>
                    <a:lumOff val="80000"/>
                  </a:schemeClr>
                </a:solidFill>
                <a:latin typeface="黑体" pitchFamily="2" charset="-122"/>
                <a:ea typeface="黑体" pitchFamily="2" charset="-122"/>
              </a:rPr>
              <a:t>组件开发</a:t>
            </a:r>
            <a:endParaRPr lang="en-US" altLang="zh-CN" dirty="0" smtClean="0">
              <a:solidFill>
                <a:schemeClr val="bg1">
                  <a:lumMod val="20000"/>
                  <a:lumOff val="80000"/>
                </a:schemeClr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44</a:t>
            </a:fld>
            <a:endParaRPr lang="en-US" altLang="zh-CN"/>
          </a:p>
        </p:txBody>
      </p:sp>
      <p:sp>
        <p:nvSpPr>
          <p:cNvPr id="5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7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ArcMap</a:t>
            </a:r>
            <a:r>
              <a:rPr lang="zh-CN" altLang="en-US" dirty="0" smtClean="0"/>
              <a:t>界面定制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chemeClr val="bg1">
                    <a:lumMod val="20000"/>
                    <a:lumOff val="80000"/>
                  </a:schemeClr>
                </a:solidFill>
                <a:latin typeface="黑体" pitchFamily="2" charset="-122"/>
                <a:ea typeface="黑体" pitchFamily="2" charset="-122"/>
              </a:rPr>
              <a:t>定制状态栏</a:t>
            </a:r>
            <a:r>
              <a:rPr lang="en-US" altLang="zh-CN" dirty="0" smtClean="0">
                <a:solidFill>
                  <a:schemeClr val="bg1">
                    <a:lumMod val="20000"/>
                    <a:lumOff val="80000"/>
                  </a:schemeClr>
                </a:solidFill>
                <a:latin typeface="黑体" pitchFamily="2" charset="-122"/>
                <a:ea typeface="黑体" pitchFamily="2" charset="-122"/>
              </a:rPr>
              <a:t>(</a:t>
            </a:r>
            <a:r>
              <a:rPr lang="en-US" altLang="zh-CN" dirty="0" err="1" smtClean="0">
                <a:solidFill>
                  <a:schemeClr val="bg1">
                    <a:lumMod val="20000"/>
                    <a:lumOff val="80000"/>
                  </a:schemeClr>
                </a:solidFill>
                <a:latin typeface="黑体" pitchFamily="2" charset="-122"/>
                <a:ea typeface="黑体" pitchFamily="2" charset="-122"/>
              </a:rPr>
              <a:t>StatusBar</a:t>
            </a:r>
            <a:r>
              <a:rPr lang="en-US" altLang="zh-CN" dirty="0" smtClean="0">
                <a:solidFill>
                  <a:schemeClr val="bg1">
                    <a:lumMod val="20000"/>
                    <a:lumOff val="80000"/>
                  </a:schemeClr>
                </a:solidFill>
                <a:latin typeface="黑体" pitchFamily="2" charset="-122"/>
                <a:ea typeface="黑体" pitchFamily="2" charset="-122"/>
              </a:rPr>
              <a:t>)</a:t>
            </a:r>
          </a:p>
          <a:p>
            <a:pPr lvl="1"/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显示操作状态，由</a:t>
            </a:r>
            <a:r>
              <a:rPr lang="en-US" altLang="zh-CN" dirty="0" smtClean="0">
                <a:ea typeface="黑体" pitchFamily="2" charset="-122"/>
              </a:rPr>
              <a:t>Application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直接管理</a:t>
            </a:r>
            <a:endParaRPr lang="en-US" altLang="zh-CN" dirty="0" smtClean="0">
              <a:latin typeface="黑体" pitchFamily="2" charset="-122"/>
              <a:ea typeface="黑体" pitchFamily="2" charset="-122"/>
            </a:endParaRPr>
          </a:p>
          <a:p>
            <a:pPr lvl="1"/>
            <a:r>
              <a:rPr lang="en-US" altLang="zh-CN" dirty="0" err="1" smtClean="0">
                <a:latin typeface="黑体" pitchFamily="2" charset="-122"/>
                <a:ea typeface="黑体" pitchFamily="2" charset="-122"/>
              </a:rPr>
              <a:t>StatusBar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实现</a:t>
            </a:r>
            <a:r>
              <a:rPr lang="en-US" altLang="zh-CN" dirty="0" err="1" smtClean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IStatusBar</a:t>
            </a:r>
            <a:r>
              <a:rPr lang="zh-CN" altLang="en-US" dirty="0" smtClean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接口</a:t>
            </a:r>
            <a:endParaRPr lang="en-US" altLang="zh-CN" dirty="0" smtClean="0">
              <a:solidFill>
                <a:srgbClr val="FFFF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45</a:t>
            </a:fld>
            <a:endParaRPr lang="en-US" altLang="zh-CN"/>
          </a:p>
        </p:txBody>
      </p:sp>
      <p:sp>
        <p:nvSpPr>
          <p:cNvPr id="5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7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430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619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600825" y="3190875"/>
            <a:ext cx="2543175" cy="3667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619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4267200"/>
            <a:ext cx="6553200" cy="24714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6198" name="Picture 6" descr="ms-help://ESRI.EDNv9.2/esriSystem/bitmaps/statusBarAll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2743200"/>
            <a:ext cx="6553200" cy="1482152"/>
          </a:xfrm>
          <a:prstGeom prst="rect">
            <a:avLst/>
          </a:prstGeom>
          <a:noFill/>
        </p:spPr>
      </p:pic>
      <p:sp>
        <p:nvSpPr>
          <p:cNvPr id="11" name="太阳形 10"/>
          <p:cNvSpPr/>
          <p:nvPr/>
        </p:nvSpPr>
        <p:spPr bwMode="auto">
          <a:xfrm>
            <a:off x="8229600" y="1219200"/>
            <a:ext cx="533400" cy="533400"/>
          </a:xfrm>
          <a:prstGeom prst="sun">
            <a:avLst/>
          </a:prstGeom>
          <a:solidFill>
            <a:srgbClr val="FFFF00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ArcMap</a:t>
            </a:r>
            <a:r>
              <a:rPr lang="zh-CN" altLang="en-US" dirty="0" smtClean="0"/>
              <a:t>界面定制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chemeClr val="bg1">
                    <a:lumMod val="20000"/>
                    <a:lumOff val="80000"/>
                  </a:schemeClr>
                </a:solidFill>
                <a:latin typeface="黑体" pitchFamily="2" charset="-122"/>
                <a:ea typeface="黑体" pitchFamily="2" charset="-122"/>
              </a:rPr>
              <a:t>定制浮动窗口</a:t>
            </a:r>
            <a:endParaRPr lang="en-US" altLang="zh-CN" dirty="0" smtClean="0">
              <a:solidFill>
                <a:schemeClr val="bg1">
                  <a:lumMod val="20000"/>
                  <a:lumOff val="80000"/>
                </a:schemeClr>
              </a:solidFill>
              <a:latin typeface="黑体" pitchFamily="2" charset="-122"/>
              <a:ea typeface="黑体" pitchFamily="2" charset="-122"/>
            </a:endParaRPr>
          </a:p>
          <a:p>
            <a:pPr lvl="1"/>
            <a:r>
              <a:rPr lang="en-US" altLang="zh-CN" dirty="0" err="1" smtClean="0">
                <a:latin typeface="黑体" pitchFamily="2" charset="-122"/>
                <a:ea typeface="黑体" pitchFamily="2" charset="-122"/>
              </a:rPr>
              <a:t>IDockableWindow</a:t>
            </a:r>
            <a:endParaRPr lang="en-US" altLang="zh-CN" dirty="0" smtClean="0">
              <a:latin typeface="黑体" pitchFamily="2" charset="-122"/>
              <a:ea typeface="黑体" pitchFamily="2" charset="-122"/>
            </a:endParaRPr>
          </a:p>
          <a:p>
            <a:pPr lvl="1"/>
            <a:r>
              <a:rPr lang="en-US" altLang="zh-CN" dirty="0" err="1" smtClean="0">
                <a:latin typeface="黑体" pitchFamily="2" charset="-122"/>
                <a:ea typeface="黑体" pitchFamily="2" charset="-122"/>
              </a:rPr>
              <a:t>IDockableWindowManager</a:t>
            </a:r>
            <a:endParaRPr lang="en-US" altLang="zh-CN" dirty="0" smtClean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46</a:t>
            </a:fld>
            <a:endParaRPr lang="en-US" altLang="zh-CN"/>
          </a:p>
        </p:txBody>
      </p:sp>
      <p:sp>
        <p:nvSpPr>
          <p:cNvPr id="5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7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62000" y="3048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太阳形 7"/>
          <p:cNvSpPr/>
          <p:nvPr/>
        </p:nvSpPr>
        <p:spPr bwMode="auto">
          <a:xfrm>
            <a:off x="8229600" y="1219200"/>
            <a:ext cx="533400" cy="533400"/>
          </a:xfrm>
          <a:prstGeom prst="sun">
            <a:avLst/>
          </a:prstGeom>
          <a:solidFill>
            <a:srgbClr val="FFFF00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9830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0" y="2819400"/>
            <a:ext cx="45720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29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86388" y="3991368"/>
            <a:ext cx="3757612" cy="2866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ArcMap</a:t>
            </a:r>
            <a:r>
              <a:rPr lang="zh-CN" altLang="en-US" dirty="0" smtClean="0"/>
              <a:t>界面定制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>
                <a:solidFill>
                  <a:schemeClr val="bg1">
                    <a:lumMod val="20000"/>
                    <a:lumOff val="80000"/>
                  </a:schemeClr>
                </a:solidFill>
                <a:latin typeface="+mj-lt"/>
                <a:ea typeface="黑体" pitchFamily="2" charset="-122"/>
              </a:rPr>
              <a:t>CommandBars</a:t>
            </a:r>
            <a:r>
              <a:rPr lang="zh-CN" altLang="en-US" dirty="0" smtClean="0">
                <a:solidFill>
                  <a:schemeClr val="bg1">
                    <a:lumMod val="20000"/>
                    <a:lumOff val="80000"/>
                  </a:schemeClr>
                </a:solidFill>
                <a:latin typeface="+mj-lt"/>
                <a:ea typeface="黑体" pitchFamily="2" charset="-122"/>
              </a:rPr>
              <a:t>和</a:t>
            </a:r>
            <a:r>
              <a:rPr lang="en-US" altLang="zh-CN" dirty="0" err="1" smtClean="0">
                <a:solidFill>
                  <a:schemeClr val="bg1">
                    <a:lumMod val="20000"/>
                    <a:lumOff val="80000"/>
                  </a:schemeClr>
                </a:solidFill>
                <a:latin typeface="+mj-lt"/>
                <a:ea typeface="黑体" pitchFamily="2" charset="-122"/>
              </a:rPr>
              <a:t>CommandBar</a:t>
            </a:r>
            <a:r>
              <a:rPr lang="zh-CN" altLang="en-US" dirty="0" smtClean="0">
                <a:solidFill>
                  <a:schemeClr val="bg1">
                    <a:lumMod val="20000"/>
                    <a:lumOff val="80000"/>
                  </a:schemeClr>
                </a:solidFill>
                <a:latin typeface="+mj-lt"/>
                <a:ea typeface="黑体" pitchFamily="2" charset="-122"/>
              </a:rPr>
              <a:t>对象</a:t>
            </a:r>
            <a:endParaRPr lang="en-US" altLang="zh-CN" dirty="0" smtClean="0">
              <a:solidFill>
                <a:schemeClr val="bg1">
                  <a:lumMod val="20000"/>
                  <a:lumOff val="80000"/>
                </a:schemeClr>
              </a:solidFill>
              <a:latin typeface="+mj-lt"/>
              <a:ea typeface="黑体" pitchFamily="2" charset="-122"/>
            </a:endParaRPr>
          </a:p>
          <a:p>
            <a:pPr lvl="1"/>
            <a:r>
              <a:rPr lang="en-US" altLang="zh-CN" sz="2200" dirty="0" err="1" smtClean="0">
                <a:latin typeface="+mj-lt"/>
                <a:ea typeface="黑体" pitchFamily="2" charset="-122"/>
              </a:rPr>
              <a:t>CommandBars</a:t>
            </a:r>
            <a:r>
              <a:rPr lang="zh-CN" altLang="en-US" sz="2200" dirty="0" smtClean="0">
                <a:latin typeface="+mj-lt"/>
                <a:ea typeface="黑体" pitchFamily="2" charset="-122"/>
              </a:rPr>
              <a:t>是与文档相关的命令栏（</a:t>
            </a:r>
            <a:r>
              <a:rPr lang="en-US" altLang="zh-CN" sz="2200" dirty="0" err="1" smtClean="0">
                <a:latin typeface="+mj-lt"/>
                <a:ea typeface="黑体" pitchFamily="2" charset="-122"/>
              </a:rPr>
              <a:t>CommandBar</a:t>
            </a:r>
            <a:r>
              <a:rPr lang="zh-CN" altLang="en-US" sz="2200" dirty="0" smtClean="0">
                <a:latin typeface="+mj-lt"/>
                <a:ea typeface="黑体" pitchFamily="2" charset="-122"/>
              </a:rPr>
              <a:t>）的集合</a:t>
            </a:r>
            <a:endParaRPr lang="en-US" altLang="zh-CN" sz="2200" dirty="0" smtClean="0">
              <a:latin typeface="+mj-lt"/>
              <a:ea typeface="黑体" pitchFamily="2" charset="-122"/>
            </a:endParaRPr>
          </a:p>
          <a:p>
            <a:pPr lvl="1"/>
            <a:r>
              <a:rPr lang="en-US" altLang="zh-CN" sz="2200" dirty="0" err="1" smtClean="0">
                <a:latin typeface="+mj-lt"/>
                <a:ea typeface="黑体" pitchFamily="2" charset="-122"/>
              </a:rPr>
              <a:t>CommandBar</a:t>
            </a:r>
            <a:r>
              <a:rPr lang="zh-CN" altLang="en-US" sz="2200" dirty="0" smtClean="0">
                <a:latin typeface="+mj-lt"/>
                <a:ea typeface="黑体" pitchFamily="2" charset="-122"/>
              </a:rPr>
              <a:t>是一个抽象类，子类可以是工具条</a:t>
            </a:r>
            <a:r>
              <a:rPr lang="en-US" altLang="zh-CN" sz="2200" dirty="0" smtClean="0">
                <a:latin typeface="+mj-lt"/>
                <a:ea typeface="黑体" pitchFamily="2" charset="-122"/>
              </a:rPr>
              <a:t>-</a:t>
            </a:r>
            <a:r>
              <a:rPr lang="en-US" altLang="zh-CN" sz="2200" dirty="0" err="1" smtClean="0">
                <a:latin typeface="+mj-lt"/>
                <a:ea typeface="黑体" pitchFamily="2" charset="-122"/>
              </a:rPr>
              <a:t>ToolBar</a:t>
            </a:r>
            <a:r>
              <a:rPr lang="zh-CN" altLang="en-US" sz="2200" dirty="0" smtClean="0">
                <a:latin typeface="+mj-lt"/>
                <a:ea typeface="黑体" pitchFamily="2" charset="-122"/>
              </a:rPr>
              <a:t>，菜单栏</a:t>
            </a:r>
            <a:r>
              <a:rPr lang="en-US" altLang="zh-CN" sz="2200" dirty="0" err="1" smtClean="0">
                <a:latin typeface="+mj-lt"/>
                <a:ea typeface="黑体" pitchFamily="2" charset="-122"/>
              </a:rPr>
              <a:t>MenuBar</a:t>
            </a:r>
            <a:r>
              <a:rPr lang="zh-CN" altLang="en-US" sz="2200" dirty="0" smtClean="0">
                <a:latin typeface="+mj-lt"/>
                <a:ea typeface="黑体" pitchFamily="2" charset="-122"/>
              </a:rPr>
              <a:t>，菜单</a:t>
            </a:r>
            <a:r>
              <a:rPr lang="en-US" altLang="zh-CN" sz="2200" dirty="0" smtClean="0">
                <a:latin typeface="+mj-lt"/>
                <a:ea typeface="黑体" pitchFamily="2" charset="-122"/>
              </a:rPr>
              <a:t>Menu</a:t>
            </a:r>
            <a:r>
              <a:rPr lang="zh-CN" altLang="en-US" sz="2200" dirty="0" smtClean="0">
                <a:latin typeface="+mj-lt"/>
                <a:ea typeface="黑体" pitchFamily="2" charset="-122"/>
              </a:rPr>
              <a:t>，弹出菜单</a:t>
            </a:r>
            <a:r>
              <a:rPr lang="en-US" altLang="zh-CN" sz="2200" dirty="0" err="1" smtClean="0">
                <a:latin typeface="+mj-lt"/>
                <a:ea typeface="黑体" pitchFamily="2" charset="-122"/>
              </a:rPr>
              <a:t>ContextMenu</a:t>
            </a:r>
            <a:endParaRPr lang="en-US" altLang="zh-CN" sz="2200" dirty="0" smtClean="0">
              <a:latin typeface="+mj-lt"/>
              <a:ea typeface="黑体" pitchFamily="2" charset="-122"/>
            </a:endParaRPr>
          </a:p>
          <a:p>
            <a:pPr lvl="1"/>
            <a:r>
              <a:rPr lang="zh-CN" altLang="en-US" sz="2200" dirty="0" smtClean="0">
                <a:latin typeface="+mj-lt"/>
                <a:ea typeface="黑体" pitchFamily="2" charset="-122"/>
              </a:rPr>
              <a:t>一个工具条由多个命令对象（</a:t>
            </a:r>
            <a:r>
              <a:rPr lang="en-US" altLang="zh-CN" sz="2200" dirty="0" smtClean="0">
                <a:latin typeface="+mj-lt"/>
                <a:ea typeface="黑体" pitchFamily="2" charset="-122"/>
              </a:rPr>
              <a:t>Commands</a:t>
            </a:r>
            <a:r>
              <a:rPr lang="zh-CN" altLang="en-US" sz="2200" dirty="0" smtClean="0">
                <a:latin typeface="+mj-lt"/>
                <a:ea typeface="黑体" pitchFamily="2" charset="-122"/>
              </a:rPr>
              <a:t>）组成</a:t>
            </a:r>
            <a:endParaRPr lang="en-US" altLang="zh-CN" sz="2200" dirty="0" smtClean="0">
              <a:latin typeface="+mj-lt"/>
              <a:ea typeface="黑体" pitchFamily="2" charset="-122"/>
            </a:endParaRPr>
          </a:p>
          <a:p>
            <a:pPr lvl="1"/>
            <a:r>
              <a:rPr lang="en-US" altLang="zh-CN" sz="2200" dirty="0" smtClean="0">
                <a:latin typeface="+mj-lt"/>
                <a:ea typeface="黑体" pitchFamily="2" charset="-122"/>
              </a:rPr>
              <a:t>Commands</a:t>
            </a:r>
            <a:r>
              <a:rPr lang="zh-CN" altLang="en-US" sz="2200" dirty="0" smtClean="0">
                <a:latin typeface="+mj-lt"/>
                <a:ea typeface="黑体" pitchFamily="2" charset="-122"/>
              </a:rPr>
              <a:t>可分为</a:t>
            </a:r>
            <a:r>
              <a:rPr lang="en-US" altLang="zh-CN" sz="2200" dirty="0" err="1" smtClean="0">
                <a:latin typeface="+mj-lt"/>
                <a:ea typeface="黑体" pitchFamily="2" charset="-122"/>
              </a:rPr>
              <a:t>UIControl</a:t>
            </a:r>
            <a:r>
              <a:rPr lang="zh-CN" altLang="en-US" sz="2200" dirty="0" smtClean="0">
                <a:latin typeface="+mj-lt"/>
                <a:ea typeface="黑体" pitchFamily="2" charset="-122"/>
              </a:rPr>
              <a:t>，</a:t>
            </a:r>
            <a:r>
              <a:rPr lang="en-US" altLang="zh-CN" sz="2200" dirty="0" smtClean="0">
                <a:latin typeface="+mj-lt"/>
                <a:ea typeface="黑体" pitchFamily="2" charset="-122"/>
              </a:rPr>
              <a:t>Button</a:t>
            </a:r>
            <a:r>
              <a:rPr lang="zh-CN" altLang="en-US" sz="2200" dirty="0" smtClean="0">
                <a:latin typeface="+mj-lt"/>
                <a:ea typeface="黑体" pitchFamily="2" charset="-122"/>
              </a:rPr>
              <a:t>，</a:t>
            </a:r>
            <a:r>
              <a:rPr lang="en-US" altLang="zh-CN" sz="2200" dirty="0" smtClean="0">
                <a:latin typeface="+mj-lt"/>
                <a:ea typeface="黑体" pitchFamily="2" charset="-122"/>
              </a:rPr>
              <a:t>Macro</a:t>
            </a:r>
            <a:r>
              <a:rPr lang="zh-CN" altLang="en-US" sz="2200" dirty="0" smtClean="0">
                <a:latin typeface="+mj-lt"/>
                <a:ea typeface="黑体" pitchFamily="2" charset="-122"/>
              </a:rPr>
              <a:t>和</a:t>
            </a:r>
            <a:r>
              <a:rPr lang="en-US" altLang="zh-CN" sz="2200" dirty="0" smtClean="0">
                <a:latin typeface="+mj-lt"/>
                <a:ea typeface="黑体" pitchFamily="2" charset="-122"/>
              </a:rPr>
              <a:t>Menu</a:t>
            </a:r>
            <a:r>
              <a:rPr lang="zh-CN" altLang="en-US" sz="2200" dirty="0" smtClean="0">
                <a:latin typeface="+mj-lt"/>
                <a:ea typeface="黑体" pitchFamily="2" charset="-122"/>
              </a:rPr>
              <a:t>四种</a:t>
            </a:r>
            <a:endParaRPr lang="en-US" altLang="zh-CN" sz="2200" dirty="0" smtClean="0">
              <a:latin typeface="+mj-lt"/>
              <a:ea typeface="黑体" pitchFamily="2" charset="-122"/>
            </a:endParaRPr>
          </a:p>
          <a:p>
            <a:pPr lvl="1"/>
            <a:r>
              <a:rPr lang="en-US" altLang="zh-CN" sz="2200" dirty="0" err="1" smtClean="0">
                <a:solidFill>
                  <a:schemeClr val="bg1">
                    <a:lumMod val="60000"/>
                    <a:lumOff val="40000"/>
                  </a:schemeClr>
                </a:solidFill>
                <a:latin typeface="+mj-lt"/>
                <a:ea typeface="黑体" pitchFamily="2" charset="-122"/>
              </a:rPr>
              <a:t>UIControl</a:t>
            </a:r>
            <a:r>
              <a:rPr lang="zh-CN" altLang="en-US" sz="2200" dirty="0" smtClean="0">
                <a:solidFill>
                  <a:schemeClr val="bg1">
                    <a:lumMod val="60000"/>
                    <a:lumOff val="40000"/>
                  </a:schemeClr>
                </a:solidFill>
                <a:latin typeface="+mj-lt"/>
                <a:ea typeface="黑体" pitchFamily="2" charset="-122"/>
              </a:rPr>
              <a:t>：</a:t>
            </a:r>
            <a:r>
              <a:rPr lang="en-US" altLang="zh-CN" sz="2200" dirty="0" smtClean="0">
                <a:solidFill>
                  <a:schemeClr val="bg1">
                    <a:lumMod val="60000"/>
                    <a:lumOff val="40000"/>
                  </a:schemeClr>
                </a:solidFill>
                <a:latin typeface="+mj-lt"/>
                <a:ea typeface="黑体" pitchFamily="2" charset="-122"/>
              </a:rPr>
              <a:t>Button</a:t>
            </a:r>
            <a:r>
              <a:rPr lang="zh-CN" altLang="en-US" sz="2200" dirty="0" smtClean="0">
                <a:solidFill>
                  <a:schemeClr val="bg1">
                    <a:lumMod val="60000"/>
                    <a:lumOff val="40000"/>
                  </a:schemeClr>
                </a:solidFill>
                <a:latin typeface="+mj-lt"/>
                <a:ea typeface="黑体" pitchFamily="2" charset="-122"/>
              </a:rPr>
              <a:t>，</a:t>
            </a:r>
            <a:r>
              <a:rPr lang="en-US" altLang="zh-CN" sz="2200" dirty="0" smtClean="0">
                <a:solidFill>
                  <a:schemeClr val="bg1">
                    <a:lumMod val="60000"/>
                    <a:lumOff val="40000"/>
                  </a:schemeClr>
                </a:solidFill>
                <a:latin typeface="+mj-lt"/>
                <a:ea typeface="黑体" pitchFamily="2" charset="-122"/>
              </a:rPr>
              <a:t>Tool</a:t>
            </a:r>
            <a:r>
              <a:rPr lang="zh-CN" altLang="en-US" sz="2200" dirty="0" smtClean="0">
                <a:solidFill>
                  <a:schemeClr val="bg1">
                    <a:lumMod val="60000"/>
                    <a:lumOff val="40000"/>
                  </a:schemeClr>
                </a:solidFill>
                <a:latin typeface="+mj-lt"/>
                <a:ea typeface="黑体" pitchFamily="2" charset="-122"/>
              </a:rPr>
              <a:t>，</a:t>
            </a:r>
            <a:r>
              <a:rPr lang="en-US" altLang="zh-CN" sz="2200" dirty="0" err="1" smtClean="0">
                <a:solidFill>
                  <a:schemeClr val="bg1">
                    <a:lumMod val="60000"/>
                    <a:lumOff val="40000"/>
                  </a:schemeClr>
                </a:solidFill>
                <a:latin typeface="+mj-lt"/>
                <a:ea typeface="黑体" pitchFamily="2" charset="-122"/>
              </a:rPr>
              <a:t>ComboBox</a:t>
            </a:r>
            <a:r>
              <a:rPr lang="zh-CN" altLang="en-US" sz="2200" dirty="0" smtClean="0">
                <a:solidFill>
                  <a:schemeClr val="bg1">
                    <a:lumMod val="60000"/>
                    <a:lumOff val="40000"/>
                  </a:schemeClr>
                </a:solidFill>
                <a:latin typeface="+mj-lt"/>
                <a:ea typeface="黑体" pitchFamily="2" charset="-122"/>
              </a:rPr>
              <a:t>，</a:t>
            </a:r>
            <a:r>
              <a:rPr lang="en-US" altLang="zh-CN" sz="2200" dirty="0" err="1" smtClean="0">
                <a:solidFill>
                  <a:schemeClr val="bg1">
                    <a:lumMod val="60000"/>
                    <a:lumOff val="40000"/>
                  </a:schemeClr>
                </a:solidFill>
                <a:latin typeface="+mj-lt"/>
                <a:ea typeface="黑体" pitchFamily="2" charset="-122"/>
              </a:rPr>
              <a:t>EditBox</a:t>
            </a:r>
            <a:endParaRPr lang="en-US" altLang="zh-CN" sz="2200" dirty="0" smtClean="0">
              <a:solidFill>
                <a:schemeClr val="bg1">
                  <a:lumMod val="60000"/>
                  <a:lumOff val="40000"/>
                </a:schemeClr>
              </a:solidFill>
              <a:latin typeface="+mj-lt"/>
              <a:ea typeface="黑体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47</a:t>
            </a:fld>
            <a:endParaRPr lang="en-US" altLang="zh-CN"/>
          </a:p>
        </p:txBody>
      </p:sp>
      <p:sp>
        <p:nvSpPr>
          <p:cNvPr id="5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7" name="内容占位符 6" descr="师大图标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762000" y="3048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029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33400" y="4572000"/>
            <a:ext cx="4591050" cy="191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TextBox 10"/>
          <p:cNvSpPr txBox="1"/>
          <p:nvPr/>
        </p:nvSpPr>
        <p:spPr>
          <a:xfrm>
            <a:off x="5334000" y="4876800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>
                <a:solidFill>
                  <a:schemeClr val="bg1">
                    <a:lumMod val="60000"/>
                    <a:lumOff val="40000"/>
                  </a:schemeClr>
                </a:solidFill>
              </a:rPr>
              <a:t>ICommandBars</a:t>
            </a:r>
            <a:endParaRPr lang="zh-CN" altLang="en-US" dirty="0">
              <a:solidFill>
                <a:schemeClr val="bg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39000" y="5791200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>
                <a:solidFill>
                  <a:schemeClr val="bg1">
                    <a:lumMod val="60000"/>
                    <a:lumOff val="40000"/>
                  </a:schemeClr>
                </a:solidFill>
              </a:rPr>
              <a:t>ICommandBar</a:t>
            </a:r>
            <a:endParaRPr lang="zh-CN" altLang="en-US" dirty="0">
              <a:solidFill>
                <a:schemeClr val="bg1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ArcMap</a:t>
            </a:r>
            <a:r>
              <a:rPr lang="zh-CN" altLang="en-US" dirty="0" smtClean="0"/>
              <a:t>界面定制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>
                <a:solidFill>
                  <a:schemeClr val="bg1">
                    <a:lumMod val="20000"/>
                    <a:lumOff val="80000"/>
                  </a:schemeClr>
                </a:solidFill>
                <a:latin typeface="+mj-lt"/>
                <a:ea typeface="黑体" pitchFamily="2" charset="-122"/>
              </a:rPr>
              <a:t>UIControl</a:t>
            </a:r>
            <a:endParaRPr lang="en-US" altLang="zh-CN" dirty="0" smtClean="0">
              <a:solidFill>
                <a:schemeClr val="bg1">
                  <a:lumMod val="20000"/>
                  <a:lumOff val="80000"/>
                </a:schemeClr>
              </a:solidFill>
              <a:latin typeface="+mj-lt"/>
              <a:ea typeface="黑体" pitchFamily="2" charset="-122"/>
            </a:endParaRPr>
          </a:p>
          <a:p>
            <a:pPr lvl="1"/>
            <a:r>
              <a:rPr lang="en-US" altLang="zh-CN" sz="2200" dirty="0" err="1" smtClean="0">
                <a:solidFill>
                  <a:schemeClr val="tx1"/>
                </a:solidFill>
              </a:rPr>
              <a:t>UIControl</a:t>
            </a:r>
            <a:r>
              <a:rPr lang="zh-CN" altLang="en-US" sz="2200" dirty="0" smtClean="0">
                <a:solidFill>
                  <a:schemeClr val="tx1"/>
                </a:solidFill>
              </a:rPr>
              <a:t>是基于</a:t>
            </a:r>
            <a:r>
              <a:rPr lang="en-US" altLang="zh-CN" sz="2200" dirty="0" smtClean="0">
                <a:solidFill>
                  <a:schemeClr val="tx1"/>
                </a:solidFill>
              </a:rPr>
              <a:t>VBA</a:t>
            </a:r>
            <a:r>
              <a:rPr lang="zh-CN" altLang="en-US" sz="2200" dirty="0" smtClean="0">
                <a:solidFill>
                  <a:schemeClr val="tx1"/>
                </a:solidFill>
              </a:rPr>
              <a:t>的命令，只能保存在文档文件或模板文件中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pPr lvl="1"/>
            <a:r>
              <a:rPr lang="zh-CN" altLang="en-US" sz="2200" dirty="0" smtClean="0"/>
              <a:t>如果在文档中创建，则只能在该文档中使用；</a:t>
            </a:r>
            <a:endParaRPr lang="en-US" altLang="zh-CN" sz="2200" dirty="0" smtClean="0"/>
          </a:p>
          <a:p>
            <a:pPr lvl="1"/>
            <a:r>
              <a:rPr lang="zh-CN" altLang="en-US" sz="2200" dirty="0" smtClean="0"/>
              <a:t>如果在模板中创建，则该模板创建的每个文档都可以使用</a:t>
            </a:r>
            <a:endParaRPr lang="en-US" altLang="zh-CN" sz="2200" dirty="0" smtClean="0"/>
          </a:p>
          <a:p>
            <a:pPr lvl="1"/>
            <a:r>
              <a:rPr lang="zh-CN" altLang="en-US" sz="2200" dirty="0" smtClean="0">
                <a:solidFill>
                  <a:schemeClr val="tx1"/>
                </a:solidFill>
              </a:rPr>
              <a:t>如果在</a:t>
            </a:r>
            <a:r>
              <a:rPr lang="en-US" altLang="zh-CN" sz="2200" dirty="0" smtClean="0">
                <a:solidFill>
                  <a:schemeClr val="tx1"/>
                </a:solidFill>
              </a:rPr>
              <a:t>Normal</a:t>
            </a:r>
            <a:r>
              <a:rPr lang="zh-CN" altLang="en-US" sz="2200" dirty="0" smtClean="0">
                <a:solidFill>
                  <a:schemeClr val="tx1"/>
                </a:solidFill>
              </a:rPr>
              <a:t>模板创建，则每个文档都可以使用</a:t>
            </a:r>
          </a:p>
          <a:p>
            <a:pPr lvl="1"/>
            <a:endParaRPr lang="en-US" altLang="zh-CN" dirty="0" smtClean="0">
              <a:solidFill>
                <a:schemeClr val="bg1">
                  <a:lumMod val="20000"/>
                  <a:lumOff val="80000"/>
                </a:schemeClr>
              </a:solidFill>
              <a:latin typeface="+mj-lt"/>
              <a:ea typeface="黑体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0A1FF-8927-450B-A360-23049E3230E2}" type="slidenum">
              <a:rPr lang="zh-CN" altLang="en-US" smtClean="0"/>
              <a:pPr/>
              <a:t>48</a:t>
            </a:fld>
            <a:endParaRPr lang="en-US" altLang="zh-CN"/>
          </a:p>
        </p:txBody>
      </p:sp>
      <p:sp>
        <p:nvSpPr>
          <p:cNvPr id="5" name="Line 95"/>
          <p:cNvSpPr>
            <a:spLocks noChangeShapeType="1"/>
          </p:cNvSpPr>
          <p:nvPr/>
        </p:nvSpPr>
        <p:spPr bwMode="auto">
          <a:xfrm>
            <a:off x="457200" y="1219200"/>
            <a:ext cx="7524000" cy="0"/>
          </a:xfrm>
          <a:prstGeom prst="line">
            <a:avLst/>
          </a:prstGeom>
          <a:noFill/>
          <a:ln w="88900" cmpd="thinThick">
            <a:solidFill>
              <a:srgbClr val="9294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7" name="内容占位符 6" descr="师大图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62000" y="304800"/>
            <a:ext cx="800000" cy="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131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57400" y="3886200"/>
            <a:ext cx="4389427" cy="2395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91tgp_global_light">
  <a:themeElements>
    <a:clrScheme name="191tgp_global_light 1">
      <a:dk1>
        <a:srgbClr val="808080"/>
      </a:dk1>
      <a:lt1>
        <a:srgbClr val="FFFFFF"/>
      </a:lt1>
      <a:dk2>
        <a:srgbClr val="0E237E"/>
      </a:dk2>
      <a:lt2>
        <a:srgbClr val="CCECFF"/>
      </a:lt2>
      <a:accent1>
        <a:srgbClr val="709EE2"/>
      </a:accent1>
      <a:accent2>
        <a:srgbClr val="9874F2"/>
      </a:accent2>
      <a:accent3>
        <a:srgbClr val="AAACC0"/>
      </a:accent3>
      <a:accent4>
        <a:srgbClr val="DADADA"/>
      </a:accent4>
      <a:accent5>
        <a:srgbClr val="BBCCEE"/>
      </a:accent5>
      <a:accent6>
        <a:srgbClr val="8968DB"/>
      </a:accent6>
      <a:hlink>
        <a:srgbClr val="3B9D81"/>
      </a:hlink>
      <a:folHlink>
        <a:srgbClr val="80C040"/>
      </a:folHlink>
    </a:clrScheme>
    <a:fontScheme name="191tgp_global_ligh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191tgp_global_light 1">
        <a:dk1>
          <a:srgbClr val="808080"/>
        </a:dk1>
        <a:lt1>
          <a:srgbClr val="FFFFFF"/>
        </a:lt1>
        <a:dk2>
          <a:srgbClr val="0E237E"/>
        </a:dk2>
        <a:lt2>
          <a:srgbClr val="CCECFF"/>
        </a:lt2>
        <a:accent1>
          <a:srgbClr val="709EE2"/>
        </a:accent1>
        <a:accent2>
          <a:srgbClr val="9874F2"/>
        </a:accent2>
        <a:accent3>
          <a:srgbClr val="AAACC0"/>
        </a:accent3>
        <a:accent4>
          <a:srgbClr val="DADADA"/>
        </a:accent4>
        <a:accent5>
          <a:srgbClr val="BBCCEE"/>
        </a:accent5>
        <a:accent6>
          <a:srgbClr val="8968DB"/>
        </a:accent6>
        <a:hlink>
          <a:srgbClr val="3B9D81"/>
        </a:hlink>
        <a:folHlink>
          <a:srgbClr val="80C0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91tgp_global_light 2">
        <a:dk1>
          <a:srgbClr val="808080"/>
        </a:dk1>
        <a:lt1>
          <a:srgbClr val="FFFFFF"/>
        </a:lt1>
        <a:dk2>
          <a:srgbClr val="6C2042"/>
        </a:dk2>
        <a:lt2>
          <a:srgbClr val="CCECFF"/>
        </a:lt2>
        <a:accent1>
          <a:srgbClr val="ED9C65"/>
        </a:accent1>
        <a:accent2>
          <a:srgbClr val="5D7CDF"/>
        </a:accent2>
        <a:accent3>
          <a:srgbClr val="BAABB0"/>
        </a:accent3>
        <a:accent4>
          <a:srgbClr val="DADADA"/>
        </a:accent4>
        <a:accent5>
          <a:srgbClr val="F4CBB8"/>
        </a:accent5>
        <a:accent6>
          <a:srgbClr val="5370CA"/>
        </a:accent6>
        <a:hlink>
          <a:srgbClr val="93AB2D"/>
        </a:hlink>
        <a:folHlink>
          <a:srgbClr val="5097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91tgp_global_light 3">
        <a:dk1>
          <a:srgbClr val="808080"/>
        </a:dk1>
        <a:lt1>
          <a:srgbClr val="FFFFFF"/>
        </a:lt1>
        <a:dk2>
          <a:srgbClr val="004E4C"/>
        </a:dk2>
        <a:lt2>
          <a:srgbClr val="FFFFCC"/>
        </a:lt2>
        <a:accent1>
          <a:srgbClr val="6FB4E3"/>
        </a:accent1>
        <a:accent2>
          <a:srgbClr val="2B976E"/>
        </a:accent2>
        <a:accent3>
          <a:srgbClr val="AAB2B2"/>
        </a:accent3>
        <a:accent4>
          <a:srgbClr val="DADADA"/>
        </a:accent4>
        <a:accent5>
          <a:srgbClr val="BBD6EF"/>
        </a:accent5>
        <a:accent6>
          <a:srgbClr val="268863"/>
        </a:accent6>
        <a:hlink>
          <a:srgbClr val="879543"/>
        </a:hlink>
        <a:folHlink>
          <a:srgbClr val="E3981D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4236188</TotalTime>
  <Words>2696</Words>
  <Application>Microsoft Office PowerPoint</Application>
  <PresentationFormat>全屏显示(4:3)</PresentationFormat>
  <Paragraphs>378</Paragraphs>
  <Slides>48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55" baseType="lpstr">
      <vt:lpstr>黑体</vt:lpstr>
      <vt:lpstr>华文仿宋</vt:lpstr>
      <vt:lpstr>楷体_GB2312</vt:lpstr>
      <vt:lpstr>宋体</vt:lpstr>
      <vt:lpstr>Arial</vt:lpstr>
      <vt:lpstr>Wingdings</vt:lpstr>
      <vt:lpstr>191tgp_global_light</vt:lpstr>
      <vt:lpstr>GIS软件设计与开发</vt:lpstr>
      <vt:lpstr>课程安排</vt:lpstr>
      <vt:lpstr>授课内容</vt:lpstr>
      <vt:lpstr>授课安排</vt:lpstr>
      <vt:lpstr>1、概述</vt:lpstr>
      <vt:lpstr>1、概述</vt:lpstr>
      <vt:lpstr>1、概述</vt:lpstr>
      <vt:lpstr>1、概述</vt:lpstr>
      <vt:lpstr>1、概述</vt:lpstr>
      <vt:lpstr>1、概述</vt:lpstr>
      <vt:lpstr>1、概述</vt:lpstr>
      <vt:lpstr>1、概述</vt:lpstr>
      <vt:lpstr>1、概述</vt:lpstr>
      <vt:lpstr>1、概述</vt:lpstr>
      <vt:lpstr>1、概述</vt:lpstr>
      <vt:lpstr>1、概述</vt:lpstr>
      <vt:lpstr>1、概述</vt:lpstr>
      <vt:lpstr>1、概述</vt:lpstr>
      <vt:lpstr>1、概述</vt:lpstr>
      <vt:lpstr>1、概述</vt:lpstr>
      <vt:lpstr>1、概述</vt:lpstr>
      <vt:lpstr>1、概述</vt:lpstr>
      <vt:lpstr>1、概述</vt:lpstr>
      <vt:lpstr>1、概述</vt:lpstr>
      <vt:lpstr>1、概述</vt:lpstr>
      <vt:lpstr>1、概述</vt:lpstr>
      <vt:lpstr>1、概述</vt:lpstr>
      <vt:lpstr>1、概述</vt:lpstr>
      <vt:lpstr>1、概述</vt:lpstr>
      <vt:lpstr>1、概述</vt:lpstr>
      <vt:lpstr>1、概述</vt:lpstr>
      <vt:lpstr>2、ArcMap界面定制</vt:lpstr>
      <vt:lpstr>2、ArcMap界面定制</vt:lpstr>
      <vt:lpstr>2、ArcMap界面定制</vt:lpstr>
      <vt:lpstr>2、ArcMap界面定制</vt:lpstr>
      <vt:lpstr>2、ArcMap界面定制</vt:lpstr>
      <vt:lpstr>2、ArcMap界面定制</vt:lpstr>
      <vt:lpstr>2、ArcMap界面定制</vt:lpstr>
      <vt:lpstr>2、ArcMap界面定制</vt:lpstr>
      <vt:lpstr>2、ArcMap界面定制</vt:lpstr>
      <vt:lpstr>2、ArcMap界面定制</vt:lpstr>
      <vt:lpstr>2、ArcMap界面定制</vt:lpstr>
      <vt:lpstr>2、ArcMap界面定制</vt:lpstr>
      <vt:lpstr>2、ArcMap界面定制</vt:lpstr>
      <vt:lpstr>2、ArcMap界面定制</vt:lpstr>
      <vt:lpstr>2、ArcMap界面定制</vt:lpstr>
      <vt:lpstr>2、ArcMap界面定制</vt:lpstr>
      <vt:lpstr>2、ArcMap界面定制</vt:lpstr>
    </vt:vector>
  </TitlesOfParts>
  <Company>Guilddesign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Sung Ha, Park</dc:creator>
  <cp:lastModifiedBy>goose</cp:lastModifiedBy>
  <cp:revision>742</cp:revision>
  <dcterms:created xsi:type="dcterms:W3CDTF">2004-08-02T10:25:19Z</dcterms:created>
  <dcterms:modified xsi:type="dcterms:W3CDTF">2017-12-12T05:31:00Z</dcterms:modified>
</cp:coreProperties>
</file>